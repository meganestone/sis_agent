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638" r:id="rId2"/>
    <p:sldId id="2147481334" r:id="rId3"/>
    <p:sldId id="1236" r:id="rId4"/>
    <p:sldId id="1250" r:id="rId5"/>
    <p:sldId id="2147481337" r:id="rId6"/>
    <p:sldId id="1247" r:id="rId7"/>
    <p:sldId id="2147481333" r:id="rId8"/>
    <p:sldId id="16774886" r:id="rId9"/>
    <p:sldId id="16775502" r:id="rId10"/>
    <p:sldId id="1248" r:id="rId11"/>
    <p:sldId id="1249" r:id="rId12"/>
    <p:sldId id="1190" r:id="rId13"/>
    <p:sldId id="1239" r:id="rId14"/>
    <p:sldId id="1241" r:id="rId15"/>
    <p:sldId id="1234" r:id="rId16"/>
    <p:sldId id="1240" r:id="rId17"/>
    <p:sldId id="2147481335" r:id="rId18"/>
    <p:sldId id="2147481336" r:id="rId19"/>
    <p:sldId id="1238" r:id="rId20"/>
  </p:sldIdLst>
  <p:sldSz cx="12192000" cy="6858000"/>
  <p:notesSz cx="6797675" cy="9926638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orient="horz" pos="617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4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白慧峰" initials="白慧峰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0376C6"/>
    <a:srgbClr val="FF0000"/>
    <a:srgbClr val="FFFFFF"/>
    <a:srgbClr val="0000FF"/>
    <a:srgbClr val="0000CC"/>
    <a:srgbClr val="E2F0D9"/>
    <a:srgbClr val="666666"/>
    <a:srgbClr val="B7ECFF"/>
    <a:srgbClr val="FF6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36" autoAdjust="0"/>
    <p:restoredTop sz="96366" autoAdjust="0"/>
  </p:normalViewPr>
  <p:slideViewPr>
    <p:cSldViewPr showGuides="1">
      <p:cViewPr>
        <p:scale>
          <a:sx n="66" d="100"/>
          <a:sy n="66" d="100"/>
        </p:scale>
        <p:origin x="972" y="32"/>
      </p:cViewPr>
      <p:guideLst>
        <p:guide orient="horz" pos="4110"/>
        <p:guide orient="horz" pos="617"/>
        <p:guide pos="211"/>
        <p:guide pos="3840"/>
        <p:guide pos="74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4CC13-B7C3-403B-BC79-FB8833B44288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64C29-044B-4BAC-BC15-FE0AC97D6C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64C29-044B-4BAC-BC15-FE0AC97D6CC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https://orca.rd.honda-gamma.com/jira/browse/GALETTE-1111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https://jira.changxing.sh.cn/browse/JPCRVB-1148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https://orca.rd.honda-gamma.com/jira/browse/GALETTE-1111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https://jira.changxing.sh.cn/browse/JPCRVB-1148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ReleasePage</a:t>
            </a:r>
          </a:p>
          <a:p>
            <a:r>
              <a:rPr lang="en-US" altLang="zh-CN"/>
              <a:t>https://orca.rd.honda-gamma.com/confluence/display/GALETTE/20260403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gray">
          <a:xfrm>
            <a:off x="0" y="0"/>
            <a:ext cx="12217400" cy="6858000"/>
          </a:xfrm>
          <a:prstGeom prst="rect">
            <a:avLst/>
          </a:prstGeom>
        </p:spPr>
      </p:pic>
      <p:pic>
        <p:nvPicPr>
          <p:cNvPr id="14" name="图片 7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 bwMode="gray">
          <a:xfrm>
            <a:off x="443706" y="179637"/>
            <a:ext cx="2673352" cy="453526"/>
          </a:xfrm>
          <a:prstGeom prst="rect">
            <a:avLst/>
          </a:prstGeom>
        </p:spPr>
      </p:pic>
      <p:grpSp>
        <p:nvGrpSpPr>
          <p:cNvPr id="15" name="グループ化 14"/>
          <p:cNvGrpSpPr/>
          <p:nvPr userDrawn="1"/>
        </p:nvGrpSpPr>
        <p:grpSpPr bwMode="gray">
          <a:xfrm>
            <a:off x="8688288" y="6403172"/>
            <a:ext cx="3421550" cy="315128"/>
            <a:chOff x="9840416" y="6403172"/>
            <a:chExt cx="2262309" cy="315128"/>
          </a:xfrm>
        </p:grpSpPr>
        <p:sp>
          <p:nvSpPr>
            <p:cNvPr id="16" name="AutoShape 5"/>
            <p:cNvSpPr>
              <a:spLocks noChangeArrowheads="1"/>
            </p:cNvSpPr>
            <p:nvPr userDrawn="1"/>
          </p:nvSpPr>
          <p:spPr bwMode="gray">
            <a:xfrm>
              <a:off x="9840416" y="6403172"/>
              <a:ext cx="2262309" cy="315128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/>
            <a:p>
              <a:endParaRPr lang="zh-CN" altLang="en-US" sz="1400" b="1" dirty="0">
                <a:ln w="3175">
                  <a:solidFill>
                    <a:schemeClr val="bg1"/>
                  </a:solidFill>
                </a:ln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AutoShape 5"/>
            <p:cNvSpPr>
              <a:spLocks noChangeArrowheads="1"/>
            </p:cNvSpPr>
            <p:nvPr userDrawn="1"/>
          </p:nvSpPr>
          <p:spPr bwMode="gray">
            <a:xfrm>
              <a:off x="9840416" y="6403172"/>
              <a:ext cx="2260469" cy="315128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/>
            <a:p>
              <a:r>
                <a:rPr lang="en-US" altLang="ja-JP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Shanghai</a:t>
              </a:r>
              <a:r>
                <a:rPr lang="ja-JP" altLang="en-US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ja-JP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ChangXing</a:t>
              </a:r>
              <a:r>
                <a:rPr lang="ja-JP" altLang="en-US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ja-JP" sz="1400" b="1" dirty="0">
                  <a:ln w="3175">
                    <a:solidFill>
                      <a:schemeClr val="bg1"/>
                    </a:solidFill>
                  </a:ln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Confidential</a:t>
              </a:r>
              <a:endParaRPr lang="zh-CN" altLang="en-US" sz="1400" b="1" dirty="0">
                <a:ln w="3175">
                  <a:solidFill>
                    <a:schemeClr val="bg1"/>
                  </a:solidFill>
                </a:ln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 bwMode="gray">
          <a:xfrm>
            <a:off x="1390650" y="1122363"/>
            <a:ext cx="942975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gray">
          <a:xfrm>
            <a:off x="1390650" y="3999162"/>
            <a:ext cx="9429750" cy="1468188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 bwMode="gray">
          <a:xfrm>
            <a:off x="443706" y="179637"/>
            <a:ext cx="2673352" cy="453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 bwMode="gray">
          <a:xfrm>
            <a:off x="0" y="627797"/>
            <a:ext cx="12192000" cy="6230203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76C6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 bwMode="gray">
          <a:xfrm>
            <a:off x="0" y="6464300"/>
            <a:ext cx="12192000" cy="3937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 bwMode="gray">
          <a:xfrm>
            <a:off x="0" y="6393597"/>
            <a:ext cx="12192000" cy="81887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utoShape 5"/>
          <p:cNvSpPr>
            <a:spLocks noChangeArrowheads="1"/>
          </p:cNvSpPr>
          <p:nvPr userDrawn="1"/>
        </p:nvSpPr>
        <p:spPr bwMode="gray">
          <a:xfrm>
            <a:off x="9264351" y="6597351"/>
            <a:ext cx="2808313" cy="210651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/>
          <a:p>
            <a:pPr algn="ctr"/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Shanghai</a:t>
            </a:r>
            <a:r>
              <a:rPr lang="ja-JP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ChangXing</a:t>
            </a:r>
            <a:r>
              <a:rPr lang="ja-JP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Confidential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gray">
          <a:xfrm>
            <a:off x="5925279" y="6618165"/>
            <a:ext cx="341440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gray">
          <a:xfrm>
            <a:off x="0" y="627797"/>
            <a:ext cx="12192000" cy="81887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gray">
          <a:xfrm>
            <a:off x="335360" y="145098"/>
            <a:ext cx="11521280" cy="344559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gray">
          <a:xfrm>
            <a:off x="0" y="627797"/>
            <a:ext cx="12192000" cy="81887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 bwMode="gray">
          <a:xfrm>
            <a:off x="5925279" y="6618165"/>
            <a:ext cx="341440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gray"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gray"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63D25BA7-6EF9-4956-BCBB-CB5725C8BAF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D02CC-F487-4792-8D1D-6172DF3888B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3" b="17161"/>
          <a:stretch>
            <a:fillRect/>
          </a:stretch>
        </p:blipFill>
        <p:spPr>
          <a:xfrm>
            <a:off x="0" y="-315415"/>
            <a:ext cx="12192000" cy="7173416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gray">
          <a:xfrm>
            <a:off x="0" y="0"/>
            <a:ext cx="12192000" cy="622300"/>
          </a:xfrm>
          <a:prstGeom prst="rect">
            <a:avLst/>
          </a:prstGeom>
          <a:solidFill>
            <a:srgbClr val="0376C6"/>
          </a:solidFill>
          <a:ln>
            <a:solidFill>
              <a:srgbClr val="0281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矩形 5"/>
          <p:cNvSpPr/>
          <p:nvPr userDrawn="1"/>
        </p:nvSpPr>
        <p:spPr bwMode="gray">
          <a:xfrm>
            <a:off x="0" y="627797"/>
            <a:ext cx="12192000" cy="81887"/>
          </a:xfrm>
          <a:prstGeom prst="rect">
            <a:avLst/>
          </a:prstGeom>
          <a:solidFill>
            <a:srgbClr val="0376C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 bwMode="gray">
          <a:xfrm>
            <a:off x="5925279" y="6618165"/>
            <a:ext cx="341440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四角形: 角を丸くする 3"/>
          <p:cNvSpPr/>
          <p:nvPr userDrawn="1"/>
        </p:nvSpPr>
        <p:spPr bwMode="gray">
          <a:xfrm>
            <a:off x="344069" y="90505"/>
            <a:ext cx="2439563" cy="432048"/>
          </a:xfrm>
          <a:prstGeom prst="roundRect">
            <a:avLst/>
          </a:prstGeom>
          <a:solidFill>
            <a:schemeClr val="bg1"/>
          </a:solidFill>
          <a:ln w="19050">
            <a:noFill/>
            <a:miter lim="800000"/>
          </a:ln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376C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27M</a:t>
            </a:r>
            <a:r>
              <a:rPr kumimoji="1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76C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レトロフィット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F2F55-4FD1-BF9C-8004-4682AFB31A5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55640" y="145098"/>
            <a:ext cx="9001000" cy="344559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4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gray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gray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gray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gray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gray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EB569A6D-6D07-4FCA-AFC8-949B574529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AutoShape 5"/>
          <p:cNvSpPr>
            <a:spLocks noChangeArrowheads="1"/>
          </p:cNvSpPr>
          <p:nvPr userDrawn="1"/>
        </p:nvSpPr>
        <p:spPr bwMode="gray">
          <a:xfrm>
            <a:off x="9264351" y="6596549"/>
            <a:ext cx="2808313" cy="210651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/>
          <a:p>
            <a:pPr algn="ctr"/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Shanghai</a:t>
            </a:r>
            <a:r>
              <a:rPr lang="ja-JP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ChangXing</a:t>
            </a:r>
            <a:r>
              <a:rPr lang="ja-JP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ja-JP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Confidential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51384" y="1340768"/>
            <a:ext cx="11089232" cy="2721645"/>
          </a:xfrm>
        </p:spPr>
        <p:txBody>
          <a:bodyPr anchor="ctr" anchorCtr="0">
            <a:normAutofit/>
          </a:bodyPr>
          <a:lstStyle/>
          <a:p>
            <a:r>
              <a:rPr lang="en-US" altLang="zh-CN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GALETTE-1111</a:t>
            </a:r>
            <a:br>
              <a:rPr lang="en-US" altLang="zh-CN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</a:b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調査報告書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33525" y="4509120"/>
            <a:ext cx="9144000" cy="1301130"/>
          </a:xfrm>
        </p:spPr>
        <p:txBody>
          <a:bodyPr>
            <a:normAutofit/>
          </a:bodyPr>
          <a:lstStyle/>
          <a:p>
            <a:r>
              <a:rPr kumimoji="1" lang="en-US" altLang="ja-JP" sz="3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2026.4.14.</a:t>
            </a:r>
          </a:p>
          <a:p>
            <a:r>
              <a:rPr kumimoji="1" lang="zh-CN" altLang="en-US" sz="3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上海</a:t>
            </a:r>
            <a:r>
              <a:rPr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暢</a:t>
            </a:r>
            <a:r>
              <a:rPr lang="zh-CN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星</a:t>
            </a:r>
            <a:r>
              <a:rPr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軟</a:t>
            </a:r>
            <a:r>
              <a:rPr lang="zh-CN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件</a:t>
            </a:r>
            <a:r>
              <a:rPr lang="ja-JP" altLang="en-US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有限公司</a:t>
            </a:r>
            <a:endParaRPr kumimoji="1" lang="ja-JP" altLang="en-US" sz="3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9A6D-6D07-4FCA-AFC8-949B574529C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E1E1AC9E-2E4B-EEF3-19F1-97A6A329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TSU</a:t>
            </a:r>
            <a:r>
              <a:rPr lang="ja-JP" altLang="en-US" dirty="0"/>
              <a:t> </a:t>
            </a:r>
            <a:r>
              <a:rPr lang="en-US" altLang="ja-JP" dirty="0"/>
              <a:t>IG On</a:t>
            </a:r>
            <a:r>
              <a:rPr lang="ja-JP" altLang="en-US" dirty="0"/>
              <a:t>直後の自己診断時の</a:t>
            </a:r>
            <a:r>
              <a:rPr lang="en-US" altLang="ja-JP" dirty="0"/>
              <a:t>LED</a:t>
            </a:r>
            <a:r>
              <a:rPr lang="ja-JP" altLang="en-US" dirty="0"/>
              <a:t>点灯仕様が正しくない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007768" y="923410"/>
            <a:ext cx="3816424" cy="250560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</a:t>
            </a:r>
            <a: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対象機種：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zh-CN" sz="7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■出荷数：</a:t>
            </a:r>
            <a:b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 ・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27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欧州レトロフィット：段確納入サンプル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台</a:t>
            </a:r>
            <a:b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 ・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3DPA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の日本仕向け段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0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納入サンプル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9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台</a:t>
            </a:r>
          </a:p>
          <a:p>
            <a:endParaRPr lang="en-US" altLang="zh-CN" sz="12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zh-CN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94738" y="927898"/>
            <a:ext cx="3678968" cy="250351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982663" eaLnBrk="1" hangingPunct="1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■車種：</a:t>
            </a:r>
            <a: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27 CRV</a:t>
            </a:r>
          </a:p>
          <a:p>
            <a:pPr defTabSz="982663" eaLnBrk="1" hangingPunct="1"/>
            <a:endParaRPr lang="en-US" altLang="ja-JP" sz="7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defTabSz="982663" eaLnBrk="1" hangingPunct="1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</a:t>
            </a:r>
            <a:r>
              <a:rPr lang="ja-JP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発生場所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：</a:t>
            </a:r>
            <a: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寄居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製作所</a:t>
            </a:r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82663" eaLnBrk="1" hangingPunct="1"/>
            <a:endParaRPr lang="en-US" altLang="ja-JP" sz="7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defTabSz="982663" eaLnBrk="1" hangingPunct="1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</a:t>
            </a:r>
            <a:r>
              <a:rPr lang="ja-JP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発生日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：</a:t>
            </a:r>
            <a: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2026/3/23</a:t>
            </a:r>
          </a:p>
          <a:p>
            <a:pPr defTabSz="982663" eaLnBrk="1" hangingPunct="1"/>
            <a:endParaRPr lang="en-US" altLang="ja-JP" sz="7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defTabSz="982663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■事象：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IG 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</a:t>
            </a:r>
            <a:r>
              <a:rPr kumimoji="1"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On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時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にルーフスイッチの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82663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緑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LED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インジケータが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点灯したままになる</a:t>
            </a:r>
            <a:endParaRPr kumimoji="1" lang="en-US" altLang="ja-JP" sz="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82663" fontAlgn="ctr"/>
            <a:endParaRPr lang="en-US" altLang="ja-JP" sz="7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defTabSz="982663" fontAlgn="ctr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■発生率：</a:t>
            </a:r>
            <a: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100%</a:t>
            </a:r>
          </a:p>
          <a:p>
            <a:pPr defTabSz="982663" fontAlgn="ctr"/>
            <a:endParaRPr lang="en-US" altLang="zh-CN" sz="7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defTabSz="982663" fontAlgn="ctr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■復帰手段：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バッテリーキャンセルで復帰</a:t>
            </a:r>
            <a:b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2.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ACC/IG Off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時間後、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SSR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起動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defTabSz="982663" fontAlgn="ctr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により復帰</a:t>
            </a:r>
            <a:endParaRPr lang="en-US" altLang="zh-CN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94738" y="733580"/>
            <a:ext cx="335188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fontAlgn="b" hangingPunct="1"/>
            <a:r>
              <a:rPr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発生状況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現象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・クレーム内容・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発生件数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処置内容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)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4007768" y="733580"/>
            <a:ext cx="38231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fontAlgn="b" hangingPunct="1"/>
            <a:r>
              <a:rPr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事実把握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部品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確認結果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・要因分析・生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産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品の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品質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状況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)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Text Box 24"/>
          <p:cNvSpPr txBox="1">
            <a:spLocks noChangeAspect="1" noChangeArrowheads="1"/>
          </p:cNvSpPr>
          <p:nvPr/>
        </p:nvSpPr>
        <p:spPr bwMode="auto">
          <a:xfrm>
            <a:off x="7957147" y="733580"/>
            <a:ext cx="33294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6115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6115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6115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6115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6115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6115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6115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6115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6115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fontAlgn="b" hangingPunct="1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原因究明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発生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メカニズム・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再現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テスト・なぜなぜ分析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)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Text Box 136"/>
          <p:cNvSpPr txBox="1">
            <a:spLocks noChangeArrowheads="1"/>
          </p:cNvSpPr>
          <p:nvPr/>
        </p:nvSpPr>
        <p:spPr bwMode="auto">
          <a:xfrm>
            <a:off x="194738" y="3448260"/>
            <a:ext cx="260763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fontAlgn="b" hangingPunct="1"/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適切な対応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対策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内容・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効果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予測・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PPA)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Rectangle 132"/>
          <p:cNvSpPr>
            <a:spLocks noChangeArrowheads="1"/>
          </p:cNvSpPr>
          <p:nvPr/>
        </p:nvSpPr>
        <p:spPr bwMode="auto">
          <a:xfrm>
            <a:off x="7958254" y="924669"/>
            <a:ext cx="3990739" cy="2504343"/>
          </a:xfrm>
          <a:prstGeom prst="rect">
            <a:avLst/>
          </a:prstGeom>
          <a:noFill/>
          <a:ln w="19050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発生原因：</a:t>
            </a:r>
          </a:p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TSU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内の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5G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モジュール ソフトウェアの不具合。</a:t>
            </a:r>
            <a:endParaRPr lang="en-US" altLang="ja-JP" sz="11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ACC/IG Off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のエッヂで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VBUS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の状態を検出しており、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VBUS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のタイミングが遅れると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実際動作では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100%)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、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eCall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STA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が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Idle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のままで保持される。そのため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1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時間以内で起動された場合には、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boot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処理が走らず、緑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が点灯し続ける</a:t>
            </a:r>
            <a:br>
              <a:rPr kumimoji="1"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</a:br>
            <a:endParaRPr lang="en-US" altLang="ja-JP" sz="7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流出原因：</a:t>
            </a:r>
            <a:endParaRPr lang="en-US" altLang="zh-CN" sz="1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・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発生時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：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USB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ケールを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PC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と繋いで、手動でケーブルを抜き差しによって、関連試験を実施しました</a:t>
            </a:r>
            <a:b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</a:b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・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あるべき対応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：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と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USB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を接続したうえで、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On</a:t>
            </a:r>
            <a:r>
              <a:rPr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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を実施することで、今回の問題が発見できる</a:t>
            </a:r>
            <a:b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</a:b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9" name="Text Box 134"/>
          <p:cNvSpPr txBox="1">
            <a:spLocks noChangeArrowheads="1"/>
          </p:cNvSpPr>
          <p:nvPr/>
        </p:nvSpPr>
        <p:spPr bwMode="auto">
          <a:xfrm>
            <a:off x="4038527" y="3448260"/>
            <a:ext cx="172643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fontAlgn="b" hangingPunct="1"/>
            <a:r>
              <a:rPr lang="zh-CN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対策効果確認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効果実績</a:t>
            </a:r>
            <a:r>
              <a:rPr lang="en-US" altLang="zh-CN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)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0286593"/>
              </p:ext>
            </p:extLst>
          </p:nvPr>
        </p:nvGraphicFramePr>
        <p:xfrm>
          <a:off x="4223790" y="1152948"/>
          <a:ext cx="3240359" cy="509760"/>
        </p:xfrm>
        <a:graphic>
          <a:graphicData uri="http://schemas.openxmlformats.org/drawingml/2006/table">
            <a:tbl>
              <a:tblPr/>
              <a:tblGrid>
                <a:gridCol w="864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zh-C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機種名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3BWT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3DPA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27</a:t>
                      </a:r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欧州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問題有無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なし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200" b="1" i="0" u="none" strike="noStrike" dirty="0">
                          <a:solidFill>
                            <a:srgbClr val="CC006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あり</a:t>
                      </a:r>
                      <a:endParaRPr lang="zh-CN" altLang="en-US" sz="1200" b="1" i="0" u="none" strike="noStrike" dirty="0">
                        <a:solidFill>
                          <a:srgbClr val="CC006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200" b="1" i="0" u="none" strike="noStrike" dirty="0">
                          <a:solidFill>
                            <a:srgbClr val="CC0066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あり</a:t>
                      </a:r>
                      <a:endParaRPr lang="zh-CN" altLang="en-US" sz="1200" b="1" i="0" u="none" strike="noStrike" dirty="0">
                        <a:solidFill>
                          <a:srgbClr val="CC0066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194739" y="3639507"/>
            <a:ext cx="3678968" cy="2921846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defTabSz="717550"/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■恒久対策：</a:t>
            </a:r>
            <a:br>
              <a:rPr lang="en-US" altLang="ja-JP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</a:b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・修正前：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	ACC/IG Off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のエッヂで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VBUS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の状態を監視し、</a:t>
            </a:r>
            <a:endParaRPr lang="en-US" altLang="ja-JP" sz="12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pPr defTabSz="717550"/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	eCall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STA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を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</a:p>
          <a:p>
            <a:pPr defTabSz="717550"/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・修正後：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	VBUS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のエッヂで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eCall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STA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を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</a:p>
        </p:txBody>
      </p:sp>
      <p:sp>
        <p:nvSpPr>
          <p:cNvPr id="22" name="Rectangle 135"/>
          <p:cNvSpPr>
            <a:spLocks noChangeArrowheads="1"/>
          </p:cNvSpPr>
          <p:nvPr/>
        </p:nvSpPr>
        <p:spPr bwMode="auto">
          <a:xfrm>
            <a:off x="4007769" y="3639507"/>
            <a:ext cx="3816424" cy="2921845"/>
          </a:xfrm>
          <a:prstGeom prst="rect">
            <a:avLst/>
          </a:prstGeom>
          <a:noFill/>
          <a:ln w="19050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■効果確認結果：</a:t>
            </a:r>
            <a:br>
              <a:rPr lang="en-US" altLang="ja-JP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</a:b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・机上にて、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DA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と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TSU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を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USB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接続し、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IG On/Off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を一時間</a:t>
            </a:r>
            <a:endParaRPr lang="en-US" altLang="ja-JP" sz="12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以内に実施し、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点灯を仕様通りに動作しました。</a:t>
            </a:r>
            <a:b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</a:b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・実車にても試験を実施し、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点灯を仕様通りに動作しました。</a:t>
            </a:r>
            <a:b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</a:br>
            <a:endParaRPr lang="en-US" altLang="ja-JP" sz="12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</p:txBody>
      </p:sp>
      <p:sp>
        <p:nvSpPr>
          <p:cNvPr id="2" name="Text Box 134">
            <a:extLst>
              <a:ext uri="{FF2B5EF4-FFF2-40B4-BE49-F238E27FC236}">
                <a16:creationId xmlns:a16="http://schemas.microsoft.com/office/drawing/2014/main" id="{D9F35F9A-C0DC-C713-8A1C-32E713113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7905" y="3448260"/>
            <a:ext cx="377244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9090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890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fontAlgn="b" hangingPunct="1"/>
            <a:r>
              <a:rPr lang="ja-JP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問題事象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再現手順 </a:t>
            </a:r>
            <a:r>
              <a:rPr lang="en-US" altLang="zh-CN" sz="12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GALETTE-1111(JPCRVB-1148)</a:t>
            </a:r>
            <a:endParaRPr lang="ja-JP" altLang="en-US" sz="12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B3DD2F19-6551-7787-3955-BF09EB334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7147" y="3639507"/>
            <a:ext cx="3990738" cy="2921845"/>
          </a:xfrm>
          <a:prstGeom prst="rect">
            <a:avLst/>
          </a:prstGeom>
          <a:noFill/>
          <a:ln w="19050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68453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6845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■前提条件：</a:t>
            </a:r>
            <a:endParaRPr lang="en-US" altLang="ja-JP" sz="1200" b="1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TSU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が</a:t>
            </a:r>
            <a:r>
              <a:rPr lang="en-US" altLang="ja-JP" sz="1200" kern="100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pref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モード</a:t>
            </a: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TSU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と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HAC DA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が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YOP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ケーブルで接続</a:t>
            </a: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+B/ACC/IG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On</a:t>
            </a:r>
          </a:p>
          <a:p>
            <a:endParaRPr lang="en-US" altLang="ja-JP" sz="7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■操作手順</a:t>
            </a:r>
            <a:r>
              <a:rPr lang="en-US" altLang="ja-JP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(</a:t>
            </a:r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再現手順</a:t>
            </a:r>
            <a:r>
              <a:rPr lang="en-US" altLang="ja-JP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)</a:t>
            </a:r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：</a:t>
            </a:r>
          </a:p>
          <a:p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1.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ACC/IG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</a:p>
          <a:p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2.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手順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1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から約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20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秒後に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ACC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On</a:t>
            </a:r>
          </a:p>
          <a:p>
            <a:endParaRPr lang="en-US" altLang="ja-JP" sz="7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■期待動作：</a:t>
            </a:r>
            <a:endParaRPr lang="en-US" altLang="ja-JP" sz="1200" b="1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TSU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は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On mode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以外から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On mode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へ遷移すると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Boot up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endParaRPr lang="en-US" altLang="ja-JP" sz="12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動作を実行</a:t>
            </a:r>
            <a:endParaRPr lang="en-US" altLang="ja-JP" sz="12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endParaRPr lang="ja-JP" altLang="en-US" sz="7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b="1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■不具合動作：</a:t>
            </a:r>
            <a:endParaRPr lang="en-US" altLang="ja-JP" sz="1200" b="1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・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+B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On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、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ACC/IG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の状態から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On mode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遷移しても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Boot </a:t>
            </a: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up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動作を実行せず、緑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LED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が点灯し続ける</a:t>
            </a:r>
            <a:endParaRPr lang="en-US" altLang="ja-JP" sz="1200" kern="1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+mn-ea"/>
            </a:endParaRPr>
          </a:p>
          <a:p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　</a:t>
            </a:r>
            <a:r>
              <a:rPr lang="en-US" altLang="ja-JP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※</a:t>
            </a:r>
            <a:r>
              <a:rPr lang="ja-JP" altLang="en-US" sz="12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机上環境、実車環境ともに同様の動作を確認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+mn-ea"/>
              </a:rPr>
              <a:t>ホンダ様 ご</a:t>
            </a:r>
            <a:r>
              <a:rPr lang="ja-JP" altLang="zh-CN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+mn-ea"/>
              </a:rPr>
              <a:t>要求仕様</a:t>
            </a:r>
          </a:p>
        </p:txBody>
      </p:sp>
      <p:graphicFrame>
        <p:nvGraphicFramePr>
          <p:cNvPr id="8" name="对象 7"/>
          <p:cNvGraphicFramePr/>
          <p:nvPr>
            <p:extLst>
              <p:ext uri="{D42A27DB-BD31-4B8C-83A1-F6EECF244321}">
                <p14:modId xmlns:p14="http://schemas.microsoft.com/office/powerpoint/2010/main" val="1488224923"/>
              </p:ext>
            </p:extLst>
          </p:nvPr>
        </p:nvGraphicFramePr>
        <p:xfrm>
          <a:off x="338455" y="1700426"/>
          <a:ext cx="6043295" cy="381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3" imgW="7078980" imgH="4091940" progId="Paint.Picture">
                  <p:embed/>
                </p:oleObj>
              </mc:Choice>
              <mc:Fallback>
                <p:oleObj r:id="rId3" imgW="7078980" imgH="409194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455" y="1700426"/>
                        <a:ext cx="6043295" cy="381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290" y="1772816"/>
            <a:ext cx="5615305" cy="239839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99456" y="5344792"/>
            <a:ext cx="683513" cy="184666"/>
          </a:xfrm>
          <a:prstGeom prst="rect">
            <a:avLst/>
          </a:prstGeom>
          <a:noFill/>
          <a:ln w="28575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95085" y="2251604"/>
            <a:ext cx="5482590" cy="792000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接箭头连接符 5"/>
          <p:cNvCxnSpPr>
            <a:cxnSpLocks/>
            <a:stCxn id="4" idx="3"/>
            <a:endCxn id="5" idx="1"/>
          </p:cNvCxnSpPr>
          <p:nvPr/>
        </p:nvCxnSpPr>
        <p:spPr>
          <a:xfrm flipV="1">
            <a:off x="1882969" y="2647604"/>
            <a:ext cx="4512116" cy="2789521"/>
          </a:xfrm>
          <a:prstGeom prst="straightConnector1">
            <a:avLst/>
          </a:prstGeom>
          <a:ln w="28575">
            <a:solidFill>
              <a:srgbClr val="0376C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9B6EACD-3D84-73A5-D823-41A8FC9CB283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7F374A-4807-14BB-CC2D-A195611DEBEE}"/>
              </a:ext>
            </a:extLst>
          </p:cNvPr>
          <p:cNvSpPr/>
          <p:nvPr/>
        </p:nvSpPr>
        <p:spPr bwMode="gray">
          <a:xfrm>
            <a:off x="1127448" y="836712"/>
            <a:ext cx="10729192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en-US" altLang="zh-CN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TSU</a:t>
            </a:r>
            <a:r>
              <a:rPr kumimoji="1" lang="ja-JP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は</a:t>
            </a:r>
            <a:r>
              <a:rPr kumimoji="1" lang="en-US" altLang="zh-CN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On mode</a:t>
            </a:r>
            <a:r>
              <a:rPr kumimoji="1" lang="zh-CN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以外</a:t>
            </a:r>
            <a:r>
              <a:rPr kumimoji="1" lang="ja-JP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から</a:t>
            </a:r>
            <a:r>
              <a:rPr kumimoji="1" lang="en-US" altLang="zh-CN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On mode</a:t>
            </a:r>
            <a:r>
              <a:rPr kumimoji="1" lang="ja-JP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へ</a:t>
            </a:r>
            <a:r>
              <a:rPr kumimoji="1" lang="zh-CN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遷移</a:t>
            </a:r>
            <a:r>
              <a:rPr kumimoji="1" lang="ja-JP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する時に、</a:t>
            </a:r>
            <a:r>
              <a:rPr kumimoji="1" lang="en-US" altLang="zh-CN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Boot up</a:t>
            </a:r>
            <a:r>
              <a:rPr kumimoji="1" lang="ja-JP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altLang="zh-CN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LED</a:t>
            </a:r>
            <a:r>
              <a:rPr kumimoji="1" lang="zh-CN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動作</a:t>
            </a:r>
            <a:r>
              <a:rPr kumimoji="1" lang="ja-JP" altLang="en-US" sz="1600" b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を実行する</a:t>
            </a:r>
            <a:endParaRPr kumimoji="1" lang="ja-JP" altLang="en-US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3950444-F8A1-8256-5AF8-1B8E873F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9A6D-6D07-4FCA-AFC8-949B574529CD}" type="slidenum">
              <a:rPr lang="zh-CN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zh-CN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タイトル 14">
            <a:extLst>
              <a:ext uri="{FF2B5EF4-FFF2-40B4-BE49-F238E27FC236}">
                <a16:creationId xmlns:a16="http://schemas.microsoft.com/office/drawing/2014/main" id="{E1A57AF1-1414-D77A-A986-C6FD7F2E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不具合事象発生の原因 と 対策</a:t>
            </a: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04713B91-0698-EF9E-C92B-F497D4D3A2B4}"/>
              </a:ext>
            </a:extLst>
          </p:cNvPr>
          <p:cNvCxnSpPr>
            <a:cxnSpLocks/>
          </p:cNvCxnSpPr>
          <p:nvPr/>
        </p:nvCxnSpPr>
        <p:spPr>
          <a:xfrm>
            <a:off x="3226615" y="1607987"/>
            <a:ext cx="13149" cy="513338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EB10B22-C6AF-F30D-F0A0-BBB511536DC0}"/>
              </a:ext>
            </a:extLst>
          </p:cNvPr>
          <p:cNvGrpSpPr/>
          <p:nvPr/>
        </p:nvGrpSpPr>
        <p:grpSpPr>
          <a:xfrm>
            <a:off x="335360" y="1740004"/>
            <a:ext cx="11521279" cy="2049036"/>
            <a:chOff x="335360" y="1607987"/>
            <a:chExt cx="11521279" cy="2049036"/>
          </a:xfrm>
        </p:grpSpPr>
        <p:sp>
          <p:nvSpPr>
            <p:cNvPr id="33" name="円弧 32">
              <a:extLst>
                <a:ext uri="{FF2B5EF4-FFF2-40B4-BE49-F238E27FC236}">
                  <a16:creationId xmlns:a16="http://schemas.microsoft.com/office/drawing/2014/main" id="{503695D5-6C8A-498E-8056-13FEE7FFF3FE}"/>
                </a:ext>
              </a:extLst>
            </p:cNvPr>
            <p:cNvSpPr/>
            <p:nvPr/>
          </p:nvSpPr>
          <p:spPr>
            <a:xfrm>
              <a:off x="2495600" y="2330862"/>
              <a:ext cx="1764048" cy="1326161"/>
            </a:xfrm>
            <a:prstGeom prst="arc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5F32AECA-C131-FDD8-F5A7-1515AA073824}"/>
                </a:ext>
              </a:extLst>
            </p:cNvPr>
            <p:cNvSpPr/>
            <p:nvPr/>
          </p:nvSpPr>
          <p:spPr bwMode="gray">
            <a:xfrm>
              <a:off x="3071664" y="1874048"/>
              <a:ext cx="302008" cy="906880"/>
            </a:xfrm>
            <a:prstGeom prst="ellipse">
              <a:avLst/>
            </a:prstGeom>
            <a:noFill/>
            <a:ln w="57150">
              <a:solidFill>
                <a:srgbClr val="7F7F7F">
                  <a:alpha val="50196"/>
                </a:srgbClr>
              </a:solidFill>
              <a:miter lim="800000"/>
            </a:ln>
          </p:spPr>
          <p:txBody>
            <a:bodyPr wrap="none" rtlCol="0" anchor="ctr"/>
            <a:lstStyle/>
            <a:p>
              <a:pPr algn="ctr"/>
              <a:endPara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05B0A8E2-D7B9-3A06-FE82-68A2AA729C5E}"/>
                </a:ext>
              </a:extLst>
            </p:cNvPr>
            <p:cNvSpPr/>
            <p:nvPr/>
          </p:nvSpPr>
          <p:spPr bwMode="gray">
            <a:xfrm>
              <a:off x="3215680" y="1931700"/>
              <a:ext cx="5040560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DC3C4320-EF09-4FD9-EC21-59C478C0F2D3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1931700"/>
              <a:ext cx="144016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DC3B188E-BC97-A9CC-A5D0-64E9A724F20A}"/>
                </a:ext>
              </a:extLst>
            </p:cNvPr>
            <p:cNvSpPr/>
            <p:nvPr/>
          </p:nvSpPr>
          <p:spPr bwMode="gray">
            <a:xfrm>
              <a:off x="8256240" y="1931700"/>
              <a:ext cx="3600399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6CEEE09-A674-8B82-4D0E-D1A22C07B9D6}"/>
                </a:ext>
              </a:extLst>
            </p:cNvPr>
            <p:cNvSpPr txBox="1"/>
            <p:nvPr/>
          </p:nvSpPr>
          <p:spPr>
            <a:xfrm>
              <a:off x="335360" y="1607987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■想定動作：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0E3933E-0F6F-E724-B8E9-69247519872C}"/>
                </a:ext>
              </a:extLst>
            </p:cNvPr>
            <p:cNvSpPr txBox="1"/>
            <p:nvPr/>
          </p:nvSpPr>
          <p:spPr>
            <a:xfrm>
              <a:off x="482278" y="1989744"/>
              <a:ext cx="735073" cy="1937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ACC/IG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FA243C3-D5AA-D271-0F21-8D252BBDDA29}"/>
                </a:ext>
              </a:extLst>
            </p:cNvPr>
            <p:cNvSpPr txBox="1"/>
            <p:nvPr/>
          </p:nvSpPr>
          <p:spPr>
            <a:xfrm>
              <a:off x="1686578" y="1752003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4B3430B-8006-D3E0-B1E6-43114513ABCC}"/>
                </a:ext>
              </a:extLst>
            </p:cNvPr>
            <p:cNvSpPr txBox="1"/>
            <p:nvPr/>
          </p:nvSpPr>
          <p:spPr>
            <a:xfrm>
              <a:off x="2999656" y="2103216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144288A2-35AE-C480-68DB-93D3E5FA40D1}"/>
                </a:ext>
              </a:extLst>
            </p:cNvPr>
            <p:cNvSpPr/>
            <p:nvPr/>
          </p:nvSpPr>
          <p:spPr bwMode="gray">
            <a:xfrm>
              <a:off x="3215680" y="2407611"/>
              <a:ext cx="5185312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1B92B29B-BF9C-0435-610C-0B73B7400FDA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2407611"/>
              <a:ext cx="144016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59D3BA66-CF14-654E-54C1-C498C449294A}"/>
                </a:ext>
              </a:extLst>
            </p:cNvPr>
            <p:cNvSpPr/>
            <p:nvPr/>
          </p:nvSpPr>
          <p:spPr bwMode="gray">
            <a:xfrm>
              <a:off x="8400992" y="2407611"/>
              <a:ext cx="3455647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62F372A-50DF-5A59-7BD3-DCE9203ECE56}"/>
                </a:ext>
              </a:extLst>
            </p:cNvPr>
            <p:cNvSpPr txBox="1"/>
            <p:nvPr/>
          </p:nvSpPr>
          <p:spPr>
            <a:xfrm>
              <a:off x="482278" y="2465654"/>
              <a:ext cx="89377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DA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VBUS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C59A6C5-9E1A-E1F4-1031-5443464795CF}"/>
                </a:ext>
              </a:extLst>
            </p:cNvPr>
            <p:cNvSpPr txBox="1"/>
            <p:nvPr/>
          </p:nvSpPr>
          <p:spPr>
            <a:xfrm>
              <a:off x="1686578" y="2227913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9D8CD9A-4B68-C821-9102-7498B471F9A6}"/>
                </a:ext>
              </a:extLst>
            </p:cNvPr>
            <p:cNvSpPr txBox="1"/>
            <p:nvPr/>
          </p:nvSpPr>
          <p:spPr>
            <a:xfrm>
              <a:off x="2999656" y="2579127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551FE087-865C-9AB8-8733-77D0A779FE88}"/>
                </a:ext>
              </a:extLst>
            </p:cNvPr>
            <p:cNvSpPr txBox="1"/>
            <p:nvPr/>
          </p:nvSpPr>
          <p:spPr>
            <a:xfrm>
              <a:off x="3373672" y="1794316"/>
              <a:ext cx="1619033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タイミングが一致</a:t>
              </a:r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(</a:t>
              </a:r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同時に</a:t>
              </a:r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Off)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3F5DF88C-7990-63DA-3A07-7452FECEB8CB}"/>
                </a:ext>
              </a:extLst>
            </p:cNvPr>
            <p:cNvSpPr/>
            <p:nvPr/>
          </p:nvSpPr>
          <p:spPr bwMode="gray">
            <a:xfrm>
              <a:off x="3305503" y="2838097"/>
              <a:ext cx="5218651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00C0D479-4D90-C925-413D-6D4BD72BC29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1775519" y="2838097"/>
              <a:ext cx="152998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587C0B91-E6C0-D60E-A5BF-D5BF88E3CA05}"/>
                </a:ext>
              </a:extLst>
            </p:cNvPr>
            <p:cNvSpPr/>
            <p:nvPr/>
          </p:nvSpPr>
          <p:spPr bwMode="gray">
            <a:xfrm>
              <a:off x="8524155" y="2838097"/>
              <a:ext cx="3332484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2BA60E4E-F087-7EF9-3632-A7E5D4538CE9}"/>
                </a:ext>
              </a:extLst>
            </p:cNvPr>
            <p:cNvSpPr txBox="1"/>
            <p:nvPr/>
          </p:nvSpPr>
          <p:spPr>
            <a:xfrm>
              <a:off x="482278" y="2896141"/>
              <a:ext cx="90806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eCall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STA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B79A406-BC00-3323-1873-FFFBB09AA6FF}"/>
                </a:ext>
              </a:extLst>
            </p:cNvPr>
            <p:cNvSpPr txBox="1"/>
            <p:nvPr/>
          </p:nvSpPr>
          <p:spPr>
            <a:xfrm>
              <a:off x="3935760" y="2967583"/>
              <a:ext cx="596317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に遷移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C38398F0-1786-D225-4F2B-B99F3D1B1A82}"/>
                </a:ext>
              </a:extLst>
            </p:cNvPr>
            <p:cNvSpPr txBox="1"/>
            <p:nvPr/>
          </p:nvSpPr>
          <p:spPr>
            <a:xfrm>
              <a:off x="1686578" y="2662578"/>
              <a:ext cx="261290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Idol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021845E3-03AE-CD62-09CE-A27B260A87C2}"/>
                </a:ext>
              </a:extLst>
            </p:cNvPr>
            <p:cNvSpPr txBox="1"/>
            <p:nvPr/>
          </p:nvSpPr>
          <p:spPr>
            <a:xfrm>
              <a:off x="3071664" y="3014285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C23A3BF0-4659-1D95-A055-B0798DDEE438}"/>
                </a:ext>
              </a:extLst>
            </p:cNvPr>
            <p:cNvSpPr txBox="1"/>
            <p:nvPr/>
          </p:nvSpPr>
          <p:spPr>
            <a:xfrm>
              <a:off x="8619431" y="2826914"/>
              <a:ext cx="846386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1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●</a:t>
              </a:r>
              <a:r>
                <a:rPr kumimoji="1" lang="ja-JP" altLang="en-US" sz="11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●</a:t>
              </a:r>
              <a:endParaRPr kumimoji="1" lang="en-US" altLang="ja-JP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boot up LED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D3620381-A148-CC16-C9A1-8EADD539576F}"/>
                </a:ext>
              </a:extLst>
            </p:cNvPr>
            <p:cNvSpPr txBox="1"/>
            <p:nvPr/>
          </p:nvSpPr>
          <p:spPr>
            <a:xfrm>
              <a:off x="8252941" y="1752003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48" name="テキスト ボックス 147">
              <a:extLst>
                <a:ext uri="{FF2B5EF4-FFF2-40B4-BE49-F238E27FC236}">
                  <a16:creationId xmlns:a16="http://schemas.microsoft.com/office/drawing/2014/main" id="{EE62F6B2-56E3-DAD9-A58F-E3DA86F3FED7}"/>
                </a:ext>
              </a:extLst>
            </p:cNvPr>
            <p:cNvSpPr txBox="1"/>
            <p:nvPr/>
          </p:nvSpPr>
          <p:spPr>
            <a:xfrm>
              <a:off x="8386874" y="2227913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49" name="テキスト ボックス 148">
              <a:extLst>
                <a:ext uri="{FF2B5EF4-FFF2-40B4-BE49-F238E27FC236}">
                  <a16:creationId xmlns:a16="http://schemas.microsoft.com/office/drawing/2014/main" id="{42657037-720A-BED1-B9A5-8EA4AC312280}"/>
                </a:ext>
              </a:extLst>
            </p:cNvPr>
            <p:cNvSpPr txBox="1"/>
            <p:nvPr/>
          </p:nvSpPr>
          <p:spPr>
            <a:xfrm>
              <a:off x="8524155" y="2651441"/>
              <a:ext cx="259686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Idle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3E86BAC8-73C4-FE18-9802-6B683AFF84CC}"/>
              </a:ext>
            </a:extLst>
          </p:cNvPr>
          <p:cNvGrpSpPr/>
          <p:nvPr/>
        </p:nvGrpSpPr>
        <p:grpSpPr>
          <a:xfrm>
            <a:off x="335360" y="4987078"/>
            <a:ext cx="11521279" cy="1725825"/>
            <a:chOff x="335360" y="4987078"/>
            <a:chExt cx="11521279" cy="1725825"/>
          </a:xfrm>
        </p:grpSpPr>
        <p:sp>
          <p:nvSpPr>
            <p:cNvPr id="135" name="円弧 134">
              <a:extLst>
                <a:ext uri="{FF2B5EF4-FFF2-40B4-BE49-F238E27FC236}">
                  <a16:creationId xmlns:a16="http://schemas.microsoft.com/office/drawing/2014/main" id="{968B5BC7-1978-4F73-8F03-0C9ACA841FD1}"/>
                </a:ext>
              </a:extLst>
            </p:cNvPr>
            <p:cNvSpPr/>
            <p:nvPr/>
          </p:nvSpPr>
          <p:spPr>
            <a:xfrm>
              <a:off x="3468768" y="5944519"/>
              <a:ext cx="802586" cy="768384"/>
            </a:xfrm>
            <a:prstGeom prst="arc">
              <a:avLst/>
            </a:prstGeom>
            <a:ln>
              <a:solidFill>
                <a:srgbClr val="0376C6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8DAD12AD-8455-CBA9-F31E-613B89F8474B}"/>
                </a:ext>
              </a:extLst>
            </p:cNvPr>
            <p:cNvSpPr txBox="1"/>
            <p:nvPr/>
          </p:nvSpPr>
          <p:spPr>
            <a:xfrm>
              <a:off x="8619431" y="6204997"/>
              <a:ext cx="846386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1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●</a:t>
              </a:r>
              <a:r>
                <a:rPr kumimoji="1" lang="ja-JP" altLang="en-US" sz="11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●</a:t>
              </a:r>
              <a:endParaRPr kumimoji="1" lang="en-US" altLang="ja-JP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boot up LED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B2F38515-553D-4D5A-BA16-96DB6988899D}"/>
                </a:ext>
              </a:extLst>
            </p:cNvPr>
            <p:cNvSpPr/>
            <p:nvPr/>
          </p:nvSpPr>
          <p:spPr bwMode="gray">
            <a:xfrm>
              <a:off x="8524155" y="6217188"/>
              <a:ext cx="3332484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1" name="フリーフォーム: 図形 70">
              <a:extLst>
                <a:ext uri="{FF2B5EF4-FFF2-40B4-BE49-F238E27FC236}">
                  <a16:creationId xmlns:a16="http://schemas.microsoft.com/office/drawing/2014/main" id="{F9D082C0-9A3F-C730-A56C-E317347972C8}"/>
                </a:ext>
              </a:extLst>
            </p:cNvPr>
            <p:cNvSpPr/>
            <p:nvPr/>
          </p:nvSpPr>
          <p:spPr bwMode="gray">
            <a:xfrm>
              <a:off x="3215680" y="5310791"/>
              <a:ext cx="5040560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DE2A15C4-31A0-8AF7-BDAD-719610230190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5310791"/>
              <a:ext cx="144016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73" name="フリーフォーム: 図形 72">
              <a:extLst>
                <a:ext uri="{FF2B5EF4-FFF2-40B4-BE49-F238E27FC236}">
                  <a16:creationId xmlns:a16="http://schemas.microsoft.com/office/drawing/2014/main" id="{E1FFD921-924D-13FB-BD3C-DE7C203A5F1B}"/>
                </a:ext>
              </a:extLst>
            </p:cNvPr>
            <p:cNvSpPr/>
            <p:nvPr/>
          </p:nvSpPr>
          <p:spPr bwMode="gray">
            <a:xfrm>
              <a:off x="8256240" y="5310791"/>
              <a:ext cx="3600399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15CFDFD1-972B-7EDF-DD83-D0BD0561FB61}"/>
                </a:ext>
              </a:extLst>
            </p:cNvPr>
            <p:cNvSpPr txBox="1"/>
            <p:nvPr/>
          </p:nvSpPr>
          <p:spPr>
            <a:xfrm>
              <a:off x="335360" y="4987078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■修正後：</a:t>
              </a:r>
            </a:p>
          </p:txBody>
        </p: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182B38E7-9E5E-ABCA-4C46-6E1B6FA7B672}"/>
                </a:ext>
              </a:extLst>
            </p:cNvPr>
            <p:cNvSpPr txBox="1"/>
            <p:nvPr/>
          </p:nvSpPr>
          <p:spPr>
            <a:xfrm>
              <a:off x="482278" y="5368835"/>
              <a:ext cx="735073" cy="1937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ACC/IG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42FE3FC5-57DF-153C-21D6-DB2EF40870DA}"/>
                </a:ext>
              </a:extLst>
            </p:cNvPr>
            <p:cNvSpPr txBox="1"/>
            <p:nvPr/>
          </p:nvSpPr>
          <p:spPr>
            <a:xfrm>
              <a:off x="1686578" y="5136379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A5A2F4BA-69AF-CAED-2942-CE8A77C254EB}"/>
                </a:ext>
              </a:extLst>
            </p:cNvPr>
            <p:cNvSpPr txBox="1"/>
            <p:nvPr/>
          </p:nvSpPr>
          <p:spPr>
            <a:xfrm>
              <a:off x="2999656" y="5482307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6B570F0D-98BC-98AE-FA63-2797241BDBAA}"/>
                </a:ext>
              </a:extLst>
            </p:cNvPr>
            <p:cNvSpPr/>
            <p:nvPr/>
          </p:nvSpPr>
          <p:spPr bwMode="gray">
            <a:xfrm>
              <a:off x="3707294" y="5786702"/>
              <a:ext cx="4679580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A232D37B-80A9-CC24-A023-2F334F9DB190}"/>
                </a:ext>
              </a:extLst>
            </p:cNvPr>
            <p:cNvSpPr/>
            <p:nvPr/>
          </p:nvSpPr>
          <p:spPr bwMode="gray">
            <a:xfrm>
              <a:off x="8400992" y="5786702"/>
              <a:ext cx="3455647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06B81A4C-1CDE-9652-4BA8-949DD8FCE4AA}"/>
                </a:ext>
              </a:extLst>
            </p:cNvPr>
            <p:cNvSpPr txBox="1"/>
            <p:nvPr/>
          </p:nvSpPr>
          <p:spPr>
            <a:xfrm>
              <a:off x="482278" y="5844745"/>
              <a:ext cx="89377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DA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VBUS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A144A49C-240B-640D-A8F3-D636F5B6B1EB}"/>
                </a:ext>
              </a:extLst>
            </p:cNvPr>
            <p:cNvSpPr txBox="1"/>
            <p:nvPr/>
          </p:nvSpPr>
          <p:spPr>
            <a:xfrm>
              <a:off x="1686578" y="5612289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3BEAA738-67E1-FC83-A6D7-9EA2A9269C69}"/>
                </a:ext>
              </a:extLst>
            </p:cNvPr>
            <p:cNvSpPr txBox="1"/>
            <p:nvPr/>
          </p:nvSpPr>
          <p:spPr>
            <a:xfrm>
              <a:off x="3009275" y="5785064"/>
              <a:ext cx="193963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708225D7-C342-193B-B9EF-952EF13FCA26}"/>
                </a:ext>
              </a:extLst>
            </p:cNvPr>
            <p:cNvCxnSpPr>
              <a:cxnSpLocks/>
              <a:endCxn id="69" idx="0"/>
            </p:cNvCxnSpPr>
            <p:nvPr/>
          </p:nvCxnSpPr>
          <p:spPr>
            <a:xfrm>
              <a:off x="1775519" y="6217188"/>
              <a:ext cx="204292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85B5BE45-FE62-4AB6-9DCB-855FDC270A6E}"/>
                </a:ext>
              </a:extLst>
            </p:cNvPr>
            <p:cNvSpPr txBox="1"/>
            <p:nvPr/>
          </p:nvSpPr>
          <p:spPr>
            <a:xfrm>
              <a:off x="482278" y="6275232"/>
              <a:ext cx="90806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eCall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STA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D2057F17-6B44-DD08-1E92-6C7C95677EEC}"/>
                </a:ext>
              </a:extLst>
            </p:cNvPr>
            <p:cNvSpPr txBox="1"/>
            <p:nvPr/>
          </p:nvSpPr>
          <p:spPr>
            <a:xfrm>
              <a:off x="3935760" y="6309320"/>
              <a:ext cx="3149901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VBUS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のエッヂを検知したら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eCall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STA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を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に変更</a:t>
              </a:r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EAF08CCF-A357-EF7A-3A03-81FD66ACDC89}"/>
                </a:ext>
              </a:extLst>
            </p:cNvPr>
            <p:cNvSpPr txBox="1"/>
            <p:nvPr/>
          </p:nvSpPr>
          <p:spPr>
            <a:xfrm>
              <a:off x="1686578" y="6046954"/>
              <a:ext cx="261290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Idol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932E0609-873F-3569-21C3-E7574B08849D}"/>
                </a:ext>
              </a:extLst>
            </p:cNvPr>
            <p:cNvCxnSpPr>
              <a:cxnSpLocks/>
            </p:cNvCxnSpPr>
            <p:nvPr/>
          </p:nvCxnSpPr>
          <p:spPr>
            <a:xfrm>
              <a:off x="3203238" y="6096496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91BC2B14-5AE2-CF2B-E52D-0E1DBCF19FB2}"/>
                </a:ext>
              </a:extLst>
            </p:cNvPr>
            <p:cNvSpPr txBox="1"/>
            <p:nvPr/>
          </p:nvSpPr>
          <p:spPr>
            <a:xfrm>
              <a:off x="3298973" y="5950964"/>
              <a:ext cx="312586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6sec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98E10DFF-4AF2-9EFD-B88D-F24B1001A6BB}"/>
                </a:ext>
              </a:extLst>
            </p:cNvPr>
            <p:cNvSpPr txBox="1"/>
            <p:nvPr/>
          </p:nvSpPr>
          <p:spPr>
            <a:xfrm>
              <a:off x="3870472" y="5706343"/>
              <a:ext cx="580287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エッヂ検出</a:t>
              </a:r>
            </a:p>
          </p:txBody>
        </p:sp>
        <p:sp>
          <p:nvSpPr>
            <p:cNvPr id="134" name="楕円 133">
              <a:extLst>
                <a:ext uri="{FF2B5EF4-FFF2-40B4-BE49-F238E27FC236}">
                  <a16:creationId xmlns:a16="http://schemas.microsoft.com/office/drawing/2014/main" id="{5FB8DC2A-AE55-6013-D4BC-843EE2C13FF2}"/>
                </a:ext>
              </a:extLst>
            </p:cNvPr>
            <p:cNvSpPr/>
            <p:nvPr/>
          </p:nvSpPr>
          <p:spPr bwMode="gray">
            <a:xfrm>
              <a:off x="3560099" y="5724111"/>
              <a:ext cx="302008" cy="441112"/>
            </a:xfrm>
            <a:prstGeom prst="ellipse">
              <a:avLst/>
            </a:prstGeom>
            <a:noFill/>
            <a:ln w="57150">
              <a:solidFill>
                <a:srgbClr val="0376C6">
                  <a:alpha val="50196"/>
                </a:srgbClr>
              </a:solidFill>
              <a:miter lim="800000"/>
            </a:ln>
          </p:spPr>
          <p:txBody>
            <a:bodyPr wrap="none" rtlCol="0" anchor="ctr"/>
            <a:lstStyle/>
            <a:p>
              <a:pPr algn="ctr"/>
              <a:endPara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26E787EB-689D-8217-BFE8-4723D77C47A8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1775519" y="5786702"/>
              <a:ext cx="193177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22444FC1-1A48-A68A-4E87-8EE220864127}"/>
                </a:ext>
              </a:extLst>
            </p:cNvPr>
            <p:cNvSpPr/>
            <p:nvPr/>
          </p:nvSpPr>
          <p:spPr bwMode="gray">
            <a:xfrm>
              <a:off x="3818444" y="6217188"/>
              <a:ext cx="4679581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rgbClr val="0376C6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8E64F000-FEC8-6BD5-DEB8-C1F77773528F}"/>
                </a:ext>
              </a:extLst>
            </p:cNvPr>
            <p:cNvCxnSpPr>
              <a:cxnSpLocks/>
              <a:stCxn id="78" idx="0"/>
            </p:cNvCxnSpPr>
            <p:nvPr/>
          </p:nvCxnSpPr>
          <p:spPr>
            <a:xfrm>
              <a:off x="3707294" y="5786702"/>
              <a:ext cx="0" cy="323677"/>
            </a:xfrm>
            <a:prstGeom prst="straightConnector1">
              <a:avLst/>
            </a:prstGeom>
            <a:ln w="38100" cap="sq">
              <a:solidFill>
                <a:srgbClr val="0376C6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73EE354B-9E0D-BB8D-A6A2-7A480C235718}"/>
                </a:ext>
              </a:extLst>
            </p:cNvPr>
            <p:cNvSpPr txBox="1"/>
            <p:nvPr/>
          </p:nvSpPr>
          <p:spPr>
            <a:xfrm>
              <a:off x="8252941" y="5143338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51" name="テキスト ボックス 150">
              <a:extLst>
                <a:ext uri="{FF2B5EF4-FFF2-40B4-BE49-F238E27FC236}">
                  <a16:creationId xmlns:a16="http://schemas.microsoft.com/office/drawing/2014/main" id="{0982C4A6-F064-FCED-DCE2-147295C8D0C8}"/>
                </a:ext>
              </a:extLst>
            </p:cNvPr>
            <p:cNvSpPr txBox="1"/>
            <p:nvPr/>
          </p:nvSpPr>
          <p:spPr>
            <a:xfrm>
              <a:off x="8386874" y="5619248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52" name="テキスト ボックス 151">
              <a:extLst>
                <a:ext uri="{FF2B5EF4-FFF2-40B4-BE49-F238E27FC236}">
                  <a16:creationId xmlns:a16="http://schemas.microsoft.com/office/drawing/2014/main" id="{284F4F58-1ACE-D0C6-6CFC-122D4B87D697}"/>
                </a:ext>
              </a:extLst>
            </p:cNvPr>
            <p:cNvSpPr txBox="1"/>
            <p:nvPr/>
          </p:nvSpPr>
          <p:spPr>
            <a:xfrm>
              <a:off x="8524155" y="6042776"/>
              <a:ext cx="259686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Idle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87335DE-961C-5208-011F-E38A83334CAC}"/>
                </a:ext>
              </a:extLst>
            </p:cNvPr>
            <p:cNvSpPr txBox="1"/>
            <p:nvPr/>
          </p:nvSpPr>
          <p:spPr>
            <a:xfrm>
              <a:off x="3802834" y="5937261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63FFE8C-EDAE-2E0E-6925-B2D933CC60A6}"/>
                </a:ext>
              </a:extLst>
            </p:cNvPr>
            <p:cNvSpPr txBox="1"/>
            <p:nvPr/>
          </p:nvSpPr>
          <p:spPr>
            <a:xfrm>
              <a:off x="3566055" y="6403179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0D5A02A2-7751-AA76-B66F-69886C373B6C}"/>
              </a:ext>
            </a:extLst>
          </p:cNvPr>
          <p:cNvGrpSpPr/>
          <p:nvPr/>
        </p:nvGrpSpPr>
        <p:grpSpPr>
          <a:xfrm>
            <a:off x="335360" y="3373878"/>
            <a:ext cx="11521280" cy="1711306"/>
            <a:chOff x="335360" y="3298549"/>
            <a:chExt cx="11521280" cy="1711306"/>
          </a:xfrm>
        </p:grpSpPr>
        <p:sp>
          <p:nvSpPr>
            <p:cNvPr id="154" name="四角形: 角を丸くする 153">
              <a:extLst>
                <a:ext uri="{FF2B5EF4-FFF2-40B4-BE49-F238E27FC236}">
                  <a16:creationId xmlns:a16="http://schemas.microsoft.com/office/drawing/2014/main" id="{224E6430-4AFB-3346-7B96-D7152F103D8F}"/>
                </a:ext>
              </a:extLst>
            </p:cNvPr>
            <p:cNvSpPr/>
            <p:nvPr/>
          </p:nvSpPr>
          <p:spPr bwMode="gray">
            <a:xfrm>
              <a:off x="8551377" y="4550746"/>
              <a:ext cx="1079604" cy="318414"/>
            </a:xfrm>
            <a:prstGeom prst="roundRect">
              <a:avLst/>
            </a:prstGeom>
            <a:noFill/>
            <a:ln w="57150">
              <a:solidFill>
                <a:srgbClr val="CC0066">
                  <a:alpha val="50196"/>
                </a:srgbClr>
              </a:solidFill>
              <a:miter lim="800000"/>
            </a:ln>
          </p:spPr>
          <p:txBody>
            <a:bodyPr wrap="none" rtlCol="0" anchor="ctr"/>
            <a:lstStyle/>
            <a:p>
              <a:endParaRPr kumimoji="1" lang="en-US" altLang="ja-JP" sz="1200" b="1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  <a:p>
              <a:endParaRPr kumimoji="1" lang="en-US" altLang="ja-JP" sz="1200" b="1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  <a:p>
              <a:endParaRPr kumimoji="1" lang="en-US" altLang="ja-JP" sz="1200" b="1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  <a:p>
              <a:r>
                <a:rPr kumimoji="1" lang="ja-JP" altLang="en-US" sz="1200" b="1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問題事象発生</a:t>
              </a:r>
              <a:endParaRPr kumimoji="1" lang="en-US" altLang="ja-JP" sz="1200" b="1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25" name="楕円 124">
              <a:extLst>
                <a:ext uri="{FF2B5EF4-FFF2-40B4-BE49-F238E27FC236}">
                  <a16:creationId xmlns:a16="http://schemas.microsoft.com/office/drawing/2014/main" id="{7EB1DD11-8B12-E650-B797-E5EB038818DF}"/>
                </a:ext>
              </a:extLst>
            </p:cNvPr>
            <p:cNvSpPr/>
            <p:nvPr/>
          </p:nvSpPr>
          <p:spPr bwMode="gray">
            <a:xfrm>
              <a:off x="3071664" y="3559324"/>
              <a:ext cx="302008" cy="877788"/>
            </a:xfrm>
            <a:prstGeom prst="ellipse">
              <a:avLst/>
            </a:prstGeom>
            <a:noFill/>
            <a:ln w="57150">
              <a:solidFill>
                <a:srgbClr val="CC0066">
                  <a:alpha val="50196"/>
                </a:srgbClr>
              </a:solidFill>
              <a:miter lim="800000"/>
            </a:ln>
          </p:spPr>
          <p:txBody>
            <a:bodyPr wrap="none" rtlCol="0" anchor="ctr"/>
            <a:lstStyle/>
            <a:p>
              <a:pPr algn="ctr"/>
              <a:endPara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C5525F9F-E2E1-85BB-966E-5932B3860637}"/>
                </a:ext>
              </a:extLst>
            </p:cNvPr>
            <p:cNvSpPr/>
            <p:nvPr/>
          </p:nvSpPr>
          <p:spPr bwMode="gray">
            <a:xfrm>
              <a:off x="3215679" y="4528659"/>
              <a:ext cx="5281123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bg1">
                  <a:lumMod val="75000"/>
                </a:schemeClr>
              </a:solidFill>
              <a:prstDash val="sysDot"/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2" name="フリーフォーム: 図形 51">
              <a:extLst>
                <a:ext uri="{FF2B5EF4-FFF2-40B4-BE49-F238E27FC236}">
                  <a16:creationId xmlns:a16="http://schemas.microsoft.com/office/drawing/2014/main" id="{0397250C-5CF3-8386-CFC7-59168FC245C8}"/>
                </a:ext>
              </a:extLst>
            </p:cNvPr>
            <p:cNvSpPr/>
            <p:nvPr/>
          </p:nvSpPr>
          <p:spPr bwMode="gray">
            <a:xfrm>
              <a:off x="8524155" y="4528659"/>
              <a:ext cx="3332484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bg1">
                  <a:lumMod val="75000"/>
                </a:schemeClr>
              </a:solidFill>
              <a:prstDash val="sysDot"/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7C065FC3-C47D-0C35-5AC2-DBD323FC7B06}"/>
                </a:ext>
              </a:extLst>
            </p:cNvPr>
            <p:cNvSpPr/>
            <p:nvPr/>
          </p:nvSpPr>
          <p:spPr bwMode="gray">
            <a:xfrm>
              <a:off x="3215680" y="3622262"/>
              <a:ext cx="5040559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4C5342B7-1334-42A2-9B7F-807F19A3E073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3622262"/>
              <a:ext cx="144016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71C477F0-6A45-7FF4-3BF4-988BC5FD0D2A}"/>
                </a:ext>
              </a:extLst>
            </p:cNvPr>
            <p:cNvSpPr/>
            <p:nvPr/>
          </p:nvSpPr>
          <p:spPr bwMode="gray">
            <a:xfrm>
              <a:off x="8256240" y="3622262"/>
              <a:ext cx="3600400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E13A91D5-94C7-B1EA-F871-387C46BA59B0}"/>
                </a:ext>
              </a:extLst>
            </p:cNvPr>
            <p:cNvSpPr txBox="1"/>
            <p:nvPr/>
          </p:nvSpPr>
          <p:spPr>
            <a:xfrm>
              <a:off x="335360" y="3298549"/>
              <a:ext cx="179215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■修正前</a:t>
              </a:r>
              <a:r>
                <a:rPr kumimoji="1" lang="en-US" altLang="ja-JP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(</a:t>
              </a:r>
              <a:r>
                <a: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実際動作</a:t>
              </a:r>
              <a:r>
                <a:rPr kumimoji="1" lang="en-US" altLang="ja-JP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)</a:t>
              </a:r>
              <a:r>
                <a: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：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BF28DF12-6EA4-AB30-FEAF-58CCAAB84BF5}"/>
                </a:ext>
              </a:extLst>
            </p:cNvPr>
            <p:cNvSpPr txBox="1"/>
            <p:nvPr/>
          </p:nvSpPr>
          <p:spPr>
            <a:xfrm>
              <a:off x="482278" y="3680306"/>
              <a:ext cx="735073" cy="1937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ACC/IG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19343BD-BACC-968E-4973-7D86A0579ACC}"/>
                </a:ext>
              </a:extLst>
            </p:cNvPr>
            <p:cNvSpPr txBox="1"/>
            <p:nvPr/>
          </p:nvSpPr>
          <p:spPr>
            <a:xfrm>
              <a:off x="1686578" y="3428151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5EBF7FBA-1154-EC2B-3619-E2AEC830EDCD}"/>
                </a:ext>
              </a:extLst>
            </p:cNvPr>
            <p:cNvSpPr txBox="1"/>
            <p:nvPr/>
          </p:nvSpPr>
          <p:spPr>
            <a:xfrm>
              <a:off x="2999656" y="3793778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92619607-92F2-121D-3401-4139B2F98AAB}"/>
                </a:ext>
              </a:extLst>
            </p:cNvPr>
            <p:cNvSpPr/>
            <p:nvPr/>
          </p:nvSpPr>
          <p:spPr bwMode="gray">
            <a:xfrm>
              <a:off x="3707294" y="4081151"/>
              <a:ext cx="4693698" cy="309794"/>
            </a:xfrm>
            <a:custGeom>
              <a:avLst/>
              <a:gdLst>
                <a:gd name="csX0" fmla="*/ 0 w 7916334"/>
                <a:gd name="csY0" fmla="*/ 0 h 736600"/>
                <a:gd name="csX1" fmla="*/ 0 w 7916334"/>
                <a:gd name="csY1" fmla="*/ 736600 h 736600"/>
                <a:gd name="csX2" fmla="*/ 7916334 w 7916334"/>
                <a:gd name="csY2" fmla="*/ 736600 h 7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16334" h="736600">
                  <a:moveTo>
                    <a:pt x="0" y="0"/>
                  </a:moveTo>
                  <a:lnTo>
                    <a:pt x="0" y="736600"/>
                  </a:lnTo>
                  <a:lnTo>
                    <a:pt x="7916334" y="73660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4ECA64D5-BB19-8B1F-C183-7DDBBA63C82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1775519" y="4081151"/>
              <a:ext cx="193177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</p:spPr>
        </p:cxn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04E4FAC4-6087-4BFD-0053-3BCD7C2EFDA1}"/>
                </a:ext>
              </a:extLst>
            </p:cNvPr>
            <p:cNvSpPr/>
            <p:nvPr/>
          </p:nvSpPr>
          <p:spPr bwMode="gray">
            <a:xfrm>
              <a:off x="8400992" y="4081151"/>
              <a:ext cx="3455647" cy="309794"/>
            </a:xfrm>
            <a:custGeom>
              <a:avLst/>
              <a:gdLst>
                <a:gd name="csX0" fmla="*/ 0 w 2878667"/>
                <a:gd name="csY0" fmla="*/ 711200 h 711200"/>
                <a:gd name="csX1" fmla="*/ 0 w 2878667"/>
                <a:gd name="csY1" fmla="*/ 0 h 711200"/>
                <a:gd name="csX2" fmla="*/ 2878667 w 2878667"/>
                <a:gd name="csY2" fmla="*/ 0 h 711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78667" h="711200">
                  <a:moveTo>
                    <a:pt x="0" y="711200"/>
                  </a:moveTo>
                  <a:lnTo>
                    <a:pt x="0" y="0"/>
                  </a:lnTo>
                  <a:lnTo>
                    <a:pt x="2878667" y="0"/>
                  </a:lnTo>
                </a:path>
              </a:pathLst>
            </a:custGeom>
            <a:noFill/>
            <a:ln w="38100" cap="sq">
              <a:solidFill>
                <a:schemeClr val="tx1"/>
              </a:solidFill>
              <a:miter lim="800000"/>
            </a:ln>
          </p:spPr>
          <p:txBody>
            <a:bodyPr rtlCol="0" anchor="ctr"/>
            <a:lstStyle/>
            <a:p>
              <a:pPr algn="ctr"/>
              <a:endPara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BD5B39F7-AF12-EEF6-375E-3B70B1810670}"/>
                </a:ext>
              </a:extLst>
            </p:cNvPr>
            <p:cNvSpPr txBox="1"/>
            <p:nvPr/>
          </p:nvSpPr>
          <p:spPr>
            <a:xfrm>
              <a:off x="482278" y="4156216"/>
              <a:ext cx="89377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DA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VBUS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3421127A-9046-C98D-79A0-0D9B15148202}"/>
                </a:ext>
              </a:extLst>
            </p:cNvPr>
            <p:cNvSpPr txBox="1"/>
            <p:nvPr/>
          </p:nvSpPr>
          <p:spPr>
            <a:xfrm>
              <a:off x="1686578" y="3904061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67F9971B-2821-BC02-92C4-878A97D382D5}"/>
                </a:ext>
              </a:extLst>
            </p:cNvPr>
            <p:cNvSpPr txBox="1"/>
            <p:nvPr/>
          </p:nvSpPr>
          <p:spPr>
            <a:xfrm>
              <a:off x="3009275" y="4096535"/>
              <a:ext cx="193963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DEE400AC-30C4-0C79-B687-2781328C95C6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4528659"/>
              <a:ext cx="10081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</a:ln>
          </p:spPr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980515CE-6F58-98A2-E1AC-908FE63DE961}"/>
                </a:ext>
              </a:extLst>
            </p:cNvPr>
            <p:cNvSpPr txBox="1"/>
            <p:nvPr/>
          </p:nvSpPr>
          <p:spPr>
            <a:xfrm>
              <a:off x="482278" y="4586703"/>
              <a:ext cx="90806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・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eCall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STA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67D35777-0B89-9B4C-D6DF-258CA6B6678C}"/>
                </a:ext>
              </a:extLst>
            </p:cNvPr>
            <p:cNvSpPr txBox="1"/>
            <p:nvPr/>
          </p:nvSpPr>
          <p:spPr>
            <a:xfrm>
              <a:off x="3935760" y="4536031"/>
              <a:ext cx="361156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Idle</a:t>
              </a:r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のままで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に遷移せず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(DA</a:t>
              </a:r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との接続においては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100</a:t>
              </a:r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％発生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)</a:t>
              </a:r>
              <a:endPara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667C0DEA-2B35-2CE6-0536-0071E659B027}"/>
                </a:ext>
              </a:extLst>
            </p:cNvPr>
            <p:cNvSpPr txBox="1"/>
            <p:nvPr/>
          </p:nvSpPr>
          <p:spPr>
            <a:xfrm>
              <a:off x="1686578" y="4380640"/>
              <a:ext cx="261290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Idol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8C86B22C-5F4A-71A6-218D-DB1117287291}"/>
                </a:ext>
              </a:extLst>
            </p:cNvPr>
            <p:cNvCxnSpPr>
              <a:cxnSpLocks/>
            </p:cNvCxnSpPr>
            <p:nvPr/>
          </p:nvCxnSpPr>
          <p:spPr>
            <a:xfrm>
              <a:off x="3203238" y="4407967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353E83F3-0A38-BFB6-FC0B-7B1DD4C0CECD}"/>
                </a:ext>
              </a:extLst>
            </p:cNvPr>
            <p:cNvSpPr txBox="1"/>
            <p:nvPr/>
          </p:nvSpPr>
          <p:spPr>
            <a:xfrm>
              <a:off x="3298973" y="4262435"/>
              <a:ext cx="312586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6sec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60163C10-3E79-A667-DF01-C9D69B632CB5}"/>
                </a:ext>
              </a:extLst>
            </p:cNvPr>
            <p:cNvSpPr txBox="1"/>
            <p:nvPr/>
          </p:nvSpPr>
          <p:spPr>
            <a:xfrm>
              <a:off x="3791744" y="4227658"/>
              <a:ext cx="203582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Off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60BA6C97-4A2B-7F7B-5D32-FA8BB45F88E0}"/>
                </a:ext>
              </a:extLst>
            </p:cNvPr>
            <p:cNvCxnSpPr>
              <a:cxnSpLocks/>
            </p:cNvCxnSpPr>
            <p:nvPr/>
          </p:nvCxnSpPr>
          <p:spPr>
            <a:xfrm>
              <a:off x="3203238" y="3622262"/>
              <a:ext cx="505300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350E32EE-EEAD-1E0F-F0FF-1CC9DA148268}"/>
                </a:ext>
              </a:extLst>
            </p:cNvPr>
            <p:cNvSpPr txBox="1"/>
            <p:nvPr/>
          </p:nvSpPr>
          <p:spPr>
            <a:xfrm>
              <a:off x="5451618" y="3629634"/>
              <a:ext cx="556243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&lt;60min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E10689B4-E6EF-C709-F5EE-FB1C5237EF86}"/>
                </a:ext>
              </a:extLst>
            </p:cNvPr>
            <p:cNvCxnSpPr>
              <a:cxnSpLocks/>
            </p:cNvCxnSpPr>
            <p:nvPr/>
          </p:nvCxnSpPr>
          <p:spPr>
            <a:xfrm>
              <a:off x="3707294" y="4528659"/>
              <a:ext cx="8149345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miter lim="800000"/>
            </a:ln>
          </p:spPr>
        </p:cxnSp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ED48761F-FE63-182F-A3CE-44BD26F11E50}"/>
                </a:ext>
              </a:extLst>
            </p:cNvPr>
            <p:cNvSpPr txBox="1"/>
            <p:nvPr/>
          </p:nvSpPr>
          <p:spPr>
            <a:xfrm>
              <a:off x="8252941" y="3428151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F617E630-E2A4-9C10-62A0-315B77D3685E}"/>
                </a:ext>
              </a:extLst>
            </p:cNvPr>
            <p:cNvSpPr txBox="1"/>
            <p:nvPr/>
          </p:nvSpPr>
          <p:spPr>
            <a:xfrm>
              <a:off x="8386874" y="3896807"/>
              <a:ext cx="193964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On</a:t>
              </a:r>
              <a:endPara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53710875-52B2-94E1-6330-E578C24ABA1F}"/>
                </a:ext>
              </a:extLst>
            </p:cNvPr>
            <p:cNvSpPr txBox="1"/>
            <p:nvPr/>
          </p:nvSpPr>
          <p:spPr>
            <a:xfrm>
              <a:off x="8616280" y="4530606"/>
              <a:ext cx="979435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1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●</a:t>
              </a:r>
              <a:endParaRPr kumimoji="1" lang="en-US" altLang="ja-JP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  <a:p>
              <a:pPr algn="l"/>
              <a:r>
                <a:rPr kumimoji="1" lang="en-US" altLang="ja-JP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Green On</a:t>
              </a:r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のまま</a:t>
              </a:r>
            </a:p>
          </p:txBody>
        </p: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A2BBBA7A-3BBC-41E2-99E0-99F1A1B49C78}"/>
                </a:ext>
              </a:extLst>
            </p:cNvPr>
            <p:cNvSpPr txBox="1"/>
            <p:nvPr/>
          </p:nvSpPr>
          <p:spPr>
            <a:xfrm>
              <a:off x="3935760" y="4840578"/>
              <a:ext cx="4297651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&gt;60min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では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SSR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が発動するため、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eCall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 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STA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は </a:t>
              </a:r>
              <a:r>
                <a:rPr kumimoji="1" lang="en-US" altLang="ja-JP" sz="1100" dirty="0" err="1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Idol</a:t>
              </a:r>
              <a:r>
                <a:rPr kumimoji="1" lang="en-US" altLang="ja-JP" sz="1100" dirty="0" err="1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  <a:sym typeface="Wingdings" panose="05000000000000000000" pitchFamily="2" charset="2"/>
                </a:rPr>
                <a:t>Off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  <a:sym typeface="Wingdings" panose="05000000000000000000" pitchFamily="2" charset="2"/>
                </a:rPr>
                <a:t> に</a:t>
              </a:r>
              <a:r>
                <a:rPr kumimoji="1" lang="en-US" altLang="ja-JP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  <a:sym typeface="Wingdings" panose="05000000000000000000" pitchFamily="2" charset="2"/>
                </a:rPr>
                <a:t>Reset</a:t>
              </a:r>
              <a:r>
                <a:rPr kumimoji="1" lang="ja-JP" altLang="en-US" sz="1100" dirty="0">
                  <a:solidFill>
                    <a:srgbClr val="0376C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  <a:sym typeface="Wingdings" panose="05000000000000000000" pitchFamily="2" charset="2"/>
                </a:rPr>
                <a:t>される</a:t>
              </a:r>
              <a:endParaRPr kumimoji="1" lang="ja-JP" altLang="en-US" sz="1100" dirty="0">
                <a:solidFill>
                  <a:srgbClr val="0376C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924E0903-D71B-CE84-01A6-56755B275C8E}"/>
                </a:ext>
              </a:extLst>
            </p:cNvPr>
            <p:cNvSpPr txBox="1"/>
            <p:nvPr/>
          </p:nvSpPr>
          <p:spPr>
            <a:xfrm>
              <a:off x="3373672" y="3479592"/>
              <a:ext cx="265617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タイミングが不一致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(</a:t>
              </a:r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実際動作では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100%</a:t>
              </a:r>
              <a:r>
                <a:rPr kumimoji="1" lang="ja-JP" altLang="en-US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発生</a:t>
              </a:r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)</a:t>
              </a:r>
            </a:p>
          </p:txBody>
        </p:sp>
        <p:sp>
          <p:nvSpPr>
            <p:cNvPr id="127" name="円弧 126">
              <a:extLst>
                <a:ext uri="{FF2B5EF4-FFF2-40B4-BE49-F238E27FC236}">
                  <a16:creationId xmlns:a16="http://schemas.microsoft.com/office/drawing/2014/main" id="{2FC0F453-3BDE-F75A-EE19-8E4A76F26A84}"/>
                </a:ext>
              </a:extLst>
            </p:cNvPr>
            <p:cNvSpPr/>
            <p:nvPr/>
          </p:nvSpPr>
          <p:spPr>
            <a:xfrm>
              <a:off x="2495600" y="4016139"/>
              <a:ext cx="1764048" cy="984858"/>
            </a:xfrm>
            <a:prstGeom prst="arc">
              <a:avLst/>
            </a:prstGeom>
            <a:ln>
              <a:solidFill>
                <a:srgbClr val="CC0066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6" name="テキスト ボックス 145">
              <a:extLst>
                <a:ext uri="{FF2B5EF4-FFF2-40B4-BE49-F238E27FC236}">
                  <a16:creationId xmlns:a16="http://schemas.microsoft.com/office/drawing/2014/main" id="{ACCEB2C2-78CD-F49B-010A-D09147CB33CC}"/>
                </a:ext>
              </a:extLst>
            </p:cNvPr>
            <p:cNvSpPr txBox="1"/>
            <p:nvPr/>
          </p:nvSpPr>
          <p:spPr>
            <a:xfrm>
              <a:off x="8231899" y="4380640"/>
              <a:ext cx="259686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Idle</a:t>
              </a:r>
              <a:endPara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8438F56-98C3-4FBB-0C40-677864DCB1D2}"/>
                </a:ext>
              </a:extLst>
            </p:cNvPr>
            <p:cNvSpPr txBox="1"/>
            <p:nvPr/>
          </p:nvSpPr>
          <p:spPr>
            <a:xfrm>
              <a:off x="3742340" y="4380640"/>
              <a:ext cx="259686" cy="1521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ja-JP" sz="1100" dirty="0">
                  <a:solidFill>
                    <a:srgbClr val="CC0066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THeiti Light" charset="-122"/>
                </a:rPr>
                <a:t>Idle</a:t>
              </a:r>
              <a:endPara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endParaRPr>
            </a:p>
          </p:txBody>
        </p:sp>
      </p:grp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CE1D399-B45A-08D4-2289-FD34501E5762}"/>
              </a:ext>
            </a:extLst>
          </p:cNvPr>
          <p:cNvSpPr/>
          <p:nvPr/>
        </p:nvSpPr>
        <p:spPr bwMode="gray">
          <a:xfrm>
            <a:off x="335360" y="836712"/>
            <a:ext cx="792088" cy="768384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08F017F8-7DE5-749A-C4DF-7A010D21CA21}"/>
              </a:ext>
            </a:extLst>
          </p:cNvPr>
          <p:cNvSpPr/>
          <p:nvPr/>
        </p:nvSpPr>
        <p:spPr bwMode="gray">
          <a:xfrm>
            <a:off x="1127448" y="836712"/>
            <a:ext cx="10729192" cy="768384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■想定動作：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ACC/IG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と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VBUS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が同時に来ると想定していた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■修正前：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ACC/IG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のエッヂで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VBUS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を確認し、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eCall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STA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を </a:t>
            </a:r>
            <a:r>
              <a:rPr kumimoji="1" lang="en-US" altLang="ja-JP" sz="16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Idol</a:t>
            </a:r>
            <a:r>
              <a:rPr kumimoji="1" lang="en-US" altLang="ja-JP" sz="1600" b="1" dirty="0" err="1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Off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 に変更する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(VBUS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 検知不可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)</a:t>
            </a:r>
          </a:p>
          <a:p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■修正後：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VBUS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のエッヂで、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eCall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STA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を </a:t>
            </a:r>
            <a:r>
              <a:rPr kumimoji="1" lang="en-US" altLang="ja-JP" sz="16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Idol</a:t>
            </a:r>
            <a:r>
              <a:rPr kumimoji="1" lang="en-US" altLang="ja-JP" sz="1600" b="1" dirty="0" err="1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Off</a:t>
            </a:r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 に変更する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7002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910B0FE-D3CC-9EE4-0FD9-7954E9C1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9A6D-6D07-4FCA-AFC8-949B574529C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D14FDD6-CE4C-B490-7EC8-C86D8DC8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不具合事象発生の原因 と 対策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C27E92-8F44-F731-5FD3-34BDC45E5F19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4694D20-4E03-6A8D-EDA0-C95C546C84F9}"/>
              </a:ext>
            </a:extLst>
          </p:cNvPr>
          <p:cNvSpPr/>
          <p:nvPr/>
        </p:nvSpPr>
        <p:spPr bwMode="gray">
          <a:xfrm>
            <a:off x="1127448" y="836712"/>
            <a:ext cx="10729192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■修正前：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DA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VBUS Off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を検知できないため、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STA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が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Idol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のまま 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⇒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boot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up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LED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処理が走らない：緑点灯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1" lang="ja-JP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●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■修正後：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DA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VBAU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を検知し、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eCall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STA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IdolOff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⇒ </a:t>
            </a:r>
            <a:r>
              <a:rPr kumimoji="1" lang="en-US" altLang="ja-JP" sz="1600" b="1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OffIdol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検知で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boot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up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LED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処理を実行：緑赤点滅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1" lang="ja-JP" altLang="en-US" sz="1600" b="1" dirty="0">
                <a:solidFill>
                  <a:srgbClr val="00B05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●</a:t>
            </a:r>
            <a:r>
              <a:rPr kumimoji="1"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●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CFB0DA-C11C-7698-7FE8-FFAD0C7D71D6}"/>
              </a:ext>
            </a:extLst>
          </p:cNvPr>
          <p:cNvSpPr txBox="1"/>
          <p:nvPr/>
        </p:nvSpPr>
        <p:spPr>
          <a:xfrm>
            <a:off x="335360" y="1607987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■修正前：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92ACF3-1048-85C4-F312-A2BF060131F7}"/>
              </a:ext>
            </a:extLst>
          </p:cNvPr>
          <p:cNvSpPr txBox="1"/>
          <p:nvPr/>
        </p:nvSpPr>
        <p:spPr>
          <a:xfrm>
            <a:off x="6234151" y="1607987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■修正後：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A065A7-2C75-4B90-3F0A-683CB566488F}"/>
              </a:ext>
            </a:extLst>
          </p:cNvPr>
          <p:cNvSpPr/>
          <p:nvPr/>
        </p:nvSpPr>
        <p:spPr bwMode="gray">
          <a:xfrm>
            <a:off x="7176120" y="1607987"/>
            <a:ext cx="720080" cy="25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DA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0A11A62-CD89-1FD3-A27C-BF66621E6BCA}"/>
              </a:ext>
            </a:extLst>
          </p:cNvPr>
          <p:cNvSpPr/>
          <p:nvPr/>
        </p:nvSpPr>
        <p:spPr bwMode="gray">
          <a:xfrm>
            <a:off x="8616440" y="1607987"/>
            <a:ext cx="1440000" cy="25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TSU(eCall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App)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41B090C-E38A-7199-3B85-F5EC666BD4FF}"/>
              </a:ext>
            </a:extLst>
          </p:cNvPr>
          <p:cNvSpPr/>
          <p:nvPr/>
        </p:nvSpPr>
        <p:spPr bwMode="gray">
          <a:xfrm>
            <a:off x="10776520" y="1607987"/>
            <a:ext cx="720080" cy="25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LED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2607AE1-2FF0-8BA1-9042-C5D416480F40}"/>
              </a:ext>
            </a:extLst>
          </p:cNvPr>
          <p:cNvGrpSpPr/>
          <p:nvPr/>
        </p:nvGrpSpPr>
        <p:grpSpPr>
          <a:xfrm>
            <a:off x="7536160" y="1859987"/>
            <a:ext cx="3600400" cy="4664638"/>
            <a:chOff x="7536160" y="1859987"/>
            <a:chExt cx="3600400" cy="4664638"/>
          </a:xfrm>
        </p:grpSpPr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29FBA29F-46B1-0B79-747A-A1DE97DE8C88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7536160" y="1859987"/>
              <a:ext cx="0" cy="466463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508F9F2-1431-85E8-3A58-70C6873555C6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9336360" y="1859987"/>
              <a:ext cx="80" cy="466463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28D6F539-7E4A-3D41-4BEF-E8823A9D4D41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11136480" y="1859987"/>
              <a:ext cx="80" cy="466463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0007CF1-ECC3-E6D3-C32B-B312974C5107}"/>
              </a:ext>
            </a:extLst>
          </p:cNvPr>
          <p:cNvCxnSpPr>
            <a:cxnSpLocks/>
          </p:cNvCxnSpPr>
          <p:nvPr/>
        </p:nvCxnSpPr>
        <p:spPr>
          <a:xfrm>
            <a:off x="7131833" y="2060848"/>
            <a:ext cx="40432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8F8A7227-E2FD-2FD0-20A1-79F3603C8FE5}"/>
              </a:ext>
            </a:extLst>
          </p:cNvPr>
          <p:cNvCxnSpPr>
            <a:cxnSpLocks/>
          </p:cNvCxnSpPr>
          <p:nvPr/>
        </p:nvCxnSpPr>
        <p:spPr>
          <a:xfrm>
            <a:off x="7536160" y="2060848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98606A2-19EC-38AB-B63B-FD1C2FB35FD3}"/>
              </a:ext>
            </a:extLst>
          </p:cNvPr>
          <p:cNvSpPr txBox="1"/>
          <p:nvPr/>
        </p:nvSpPr>
        <p:spPr>
          <a:xfrm>
            <a:off x="6246949" y="1875779"/>
            <a:ext cx="112370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+B/ACC/IG On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A14DD6B-659B-E9EC-B1E7-892B13B6FCA5}"/>
              </a:ext>
            </a:extLst>
          </p:cNvPr>
          <p:cNvSpPr/>
          <p:nvPr/>
        </p:nvSpPr>
        <p:spPr bwMode="gray">
          <a:xfrm>
            <a:off x="9264352" y="2132856"/>
            <a:ext cx="143775" cy="3385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CD2859D-162D-8A53-D28D-29A97699D702}"/>
              </a:ext>
            </a:extLst>
          </p:cNvPr>
          <p:cNvSpPr txBox="1"/>
          <p:nvPr/>
        </p:nvSpPr>
        <p:spPr>
          <a:xfrm>
            <a:off x="8559078" y="2132856"/>
            <a:ext cx="65242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eCall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STA</a:t>
            </a:r>
          </a:p>
          <a:p>
            <a:pPr algn="l"/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Idol</a:t>
            </a:r>
            <a:endParaRPr kumimoji="1" lang="ja-JP" altLang="en-US" sz="11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FAB4062-A2A3-9E0B-E1C9-1178A0ED5B71}"/>
              </a:ext>
            </a:extLst>
          </p:cNvPr>
          <p:cNvSpPr/>
          <p:nvPr/>
        </p:nvSpPr>
        <p:spPr bwMode="gray">
          <a:xfrm>
            <a:off x="9264352" y="2527771"/>
            <a:ext cx="143775" cy="453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2A6EA45-F034-EEA9-F937-A34F964F86FA}"/>
              </a:ext>
            </a:extLst>
          </p:cNvPr>
          <p:cNvSpPr txBox="1"/>
          <p:nvPr/>
        </p:nvSpPr>
        <p:spPr>
          <a:xfrm>
            <a:off x="8575108" y="2660256"/>
            <a:ext cx="6363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Cont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C691271-C027-2B7F-A73D-0AAECF22820B}"/>
              </a:ext>
            </a:extLst>
          </p:cNvPr>
          <p:cNvSpPr/>
          <p:nvPr/>
        </p:nvSpPr>
        <p:spPr bwMode="gray">
          <a:xfrm>
            <a:off x="11064551" y="252777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CCC74F2E-F797-3179-F18F-E9381CE76EE3}"/>
              </a:ext>
            </a:extLst>
          </p:cNvPr>
          <p:cNvCxnSpPr>
            <a:cxnSpLocks/>
          </p:cNvCxnSpPr>
          <p:nvPr/>
        </p:nvCxnSpPr>
        <p:spPr>
          <a:xfrm>
            <a:off x="9408127" y="2636333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84C1096-6463-46BC-1A4E-B73F05D620E8}"/>
              </a:ext>
            </a:extLst>
          </p:cNvPr>
          <p:cNvSpPr txBox="1"/>
          <p:nvPr/>
        </p:nvSpPr>
        <p:spPr>
          <a:xfrm>
            <a:off x="9813147" y="2467635"/>
            <a:ext cx="84638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boot up LED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E101771-7B56-CFCF-90A5-0B73252D9B16}"/>
              </a:ext>
            </a:extLst>
          </p:cNvPr>
          <p:cNvSpPr txBox="1"/>
          <p:nvPr/>
        </p:nvSpPr>
        <p:spPr>
          <a:xfrm>
            <a:off x="11259129" y="2551693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en-US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FD50D9E-8B99-E538-D814-ED64A40684F1}"/>
              </a:ext>
            </a:extLst>
          </p:cNvPr>
          <p:cNvSpPr/>
          <p:nvPr/>
        </p:nvSpPr>
        <p:spPr bwMode="gray">
          <a:xfrm>
            <a:off x="11064551" y="2791214"/>
            <a:ext cx="143775" cy="1230323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25FC3D6-AF6C-34D7-79A1-E8B0C79E5D3E}"/>
              </a:ext>
            </a:extLst>
          </p:cNvPr>
          <p:cNvSpPr txBox="1"/>
          <p:nvPr/>
        </p:nvSpPr>
        <p:spPr>
          <a:xfrm>
            <a:off x="11259129" y="2791214"/>
            <a:ext cx="14106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EAF60628-ED33-9B0E-3671-16B301AB3883}"/>
              </a:ext>
            </a:extLst>
          </p:cNvPr>
          <p:cNvCxnSpPr>
            <a:cxnSpLocks/>
          </p:cNvCxnSpPr>
          <p:nvPr/>
        </p:nvCxnSpPr>
        <p:spPr>
          <a:xfrm>
            <a:off x="7131833" y="3284984"/>
            <a:ext cx="40432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3ED08F6B-D0F6-232E-54C8-77DCC146894D}"/>
              </a:ext>
            </a:extLst>
          </p:cNvPr>
          <p:cNvCxnSpPr>
            <a:cxnSpLocks/>
          </p:cNvCxnSpPr>
          <p:nvPr/>
        </p:nvCxnSpPr>
        <p:spPr>
          <a:xfrm>
            <a:off x="7536160" y="3284984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84DB99A-01A4-8E2A-283D-122BF3078631}"/>
              </a:ext>
            </a:extLst>
          </p:cNvPr>
          <p:cNvSpPr txBox="1"/>
          <p:nvPr/>
        </p:nvSpPr>
        <p:spPr>
          <a:xfrm>
            <a:off x="6537094" y="3099915"/>
            <a:ext cx="83356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 Off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40" name="右中かっこ 39">
            <a:extLst>
              <a:ext uri="{FF2B5EF4-FFF2-40B4-BE49-F238E27FC236}">
                <a16:creationId xmlns:a16="http://schemas.microsoft.com/office/drawing/2014/main" id="{003AAEAA-A0BE-3A7D-5DC8-A6706B2DCCD4}"/>
              </a:ext>
            </a:extLst>
          </p:cNvPr>
          <p:cNvSpPr/>
          <p:nvPr/>
        </p:nvSpPr>
        <p:spPr>
          <a:xfrm>
            <a:off x="7536160" y="3284984"/>
            <a:ext cx="124825" cy="360039"/>
          </a:xfrm>
          <a:prstGeom prst="rightBrace">
            <a:avLst>
              <a:gd name="adj1" fmla="val 40764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　　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6sec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8B681C4C-E027-AE95-512B-B531048407DB}"/>
              </a:ext>
            </a:extLst>
          </p:cNvPr>
          <p:cNvCxnSpPr>
            <a:cxnSpLocks/>
          </p:cNvCxnSpPr>
          <p:nvPr/>
        </p:nvCxnSpPr>
        <p:spPr>
          <a:xfrm flipV="1">
            <a:off x="7536160" y="3645024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A154882-2C0A-2637-3557-6BF02157BAA7}"/>
              </a:ext>
            </a:extLst>
          </p:cNvPr>
          <p:cNvSpPr txBox="1"/>
          <p:nvPr/>
        </p:nvSpPr>
        <p:spPr>
          <a:xfrm>
            <a:off x="8118867" y="3475746"/>
            <a:ext cx="63479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VBUS Off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0A5D51B-8DA2-2E1E-8400-3EF02FED4C7A}"/>
              </a:ext>
            </a:extLst>
          </p:cNvPr>
          <p:cNvSpPr/>
          <p:nvPr/>
        </p:nvSpPr>
        <p:spPr bwMode="gray">
          <a:xfrm>
            <a:off x="9264352" y="3391930"/>
            <a:ext cx="143775" cy="62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074CDB1-2FB3-149C-764E-B039FBAB7894}"/>
              </a:ext>
            </a:extLst>
          </p:cNvPr>
          <p:cNvSpPr/>
          <p:nvPr/>
        </p:nvSpPr>
        <p:spPr bwMode="gray">
          <a:xfrm>
            <a:off x="11064551" y="4078480"/>
            <a:ext cx="143775" cy="15835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5FB6F73-BD4C-1B4A-C4C2-B27E42E03344}"/>
              </a:ext>
            </a:extLst>
          </p:cNvPr>
          <p:cNvSpPr txBox="1"/>
          <p:nvPr/>
        </p:nvSpPr>
        <p:spPr>
          <a:xfrm>
            <a:off x="9975050" y="4011093"/>
            <a:ext cx="52257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A577F44-8814-5508-0D2E-AC7F15F03382}"/>
              </a:ext>
            </a:extLst>
          </p:cNvPr>
          <p:cNvSpPr txBox="1"/>
          <p:nvPr/>
        </p:nvSpPr>
        <p:spPr>
          <a:xfrm>
            <a:off x="8559078" y="3705052"/>
            <a:ext cx="65242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eCall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STA</a:t>
            </a:r>
          </a:p>
          <a:p>
            <a:pPr algn="l"/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IdolOff</a:t>
            </a:r>
            <a:endParaRPr kumimoji="1" lang="ja-JP" altLang="en-US" sz="11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9E29E2A-898C-DC78-437B-77E73CEB7059}"/>
              </a:ext>
            </a:extLst>
          </p:cNvPr>
          <p:cNvSpPr/>
          <p:nvPr/>
        </p:nvSpPr>
        <p:spPr bwMode="gray">
          <a:xfrm>
            <a:off x="9264352" y="407848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6D16526-2604-C5BD-CC92-3CFA74A37273}"/>
              </a:ext>
            </a:extLst>
          </p:cNvPr>
          <p:cNvSpPr txBox="1"/>
          <p:nvPr/>
        </p:nvSpPr>
        <p:spPr>
          <a:xfrm>
            <a:off x="8575108" y="4102404"/>
            <a:ext cx="6363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Cont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5C9EA70-872F-DF16-C157-5B2B39B2217D}"/>
              </a:ext>
            </a:extLst>
          </p:cNvPr>
          <p:cNvSpPr/>
          <p:nvPr/>
        </p:nvSpPr>
        <p:spPr bwMode="gray">
          <a:xfrm>
            <a:off x="11064551" y="1922473"/>
            <a:ext cx="143775" cy="5451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01FE88E-61EE-5556-4056-BFE740310936}"/>
              </a:ext>
            </a:extLst>
          </p:cNvPr>
          <p:cNvCxnSpPr>
            <a:cxnSpLocks/>
          </p:cNvCxnSpPr>
          <p:nvPr/>
        </p:nvCxnSpPr>
        <p:spPr>
          <a:xfrm>
            <a:off x="7131833" y="5248988"/>
            <a:ext cx="40432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9E0FECE0-889E-6236-2A57-8FB77CC28B46}"/>
              </a:ext>
            </a:extLst>
          </p:cNvPr>
          <p:cNvCxnSpPr>
            <a:cxnSpLocks/>
          </p:cNvCxnSpPr>
          <p:nvPr/>
        </p:nvCxnSpPr>
        <p:spPr>
          <a:xfrm>
            <a:off x="7536160" y="5248988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2F93060-2AEC-F8B3-7ED3-0CFD07802E1C}"/>
              </a:ext>
            </a:extLst>
          </p:cNvPr>
          <p:cNvSpPr txBox="1"/>
          <p:nvPr/>
        </p:nvSpPr>
        <p:spPr>
          <a:xfrm>
            <a:off x="6549918" y="5063919"/>
            <a:ext cx="82073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 On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CCAC22D-162E-43A5-9F66-8E74D353DC66}"/>
              </a:ext>
            </a:extLst>
          </p:cNvPr>
          <p:cNvSpPr/>
          <p:nvPr/>
        </p:nvSpPr>
        <p:spPr bwMode="gray">
          <a:xfrm>
            <a:off x="9264352" y="5320996"/>
            <a:ext cx="143775" cy="3385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DB901546-7AAB-75D4-138A-284F0381982D}"/>
              </a:ext>
            </a:extLst>
          </p:cNvPr>
          <p:cNvSpPr txBox="1"/>
          <p:nvPr/>
        </p:nvSpPr>
        <p:spPr>
          <a:xfrm>
            <a:off x="8559078" y="5320996"/>
            <a:ext cx="65242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eCall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STA</a:t>
            </a:r>
          </a:p>
          <a:p>
            <a:pPr algn="l"/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Idol</a:t>
            </a:r>
            <a:endParaRPr kumimoji="1" lang="ja-JP" altLang="en-US" sz="11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7C05902B-6A3B-E273-ABAF-EE672DD09D55}"/>
              </a:ext>
            </a:extLst>
          </p:cNvPr>
          <p:cNvSpPr/>
          <p:nvPr/>
        </p:nvSpPr>
        <p:spPr bwMode="gray">
          <a:xfrm>
            <a:off x="11064551" y="571591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29C1EB62-BEC4-B96F-D8A5-3DDFBE399D2F}"/>
              </a:ext>
            </a:extLst>
          </p:cNvPr>
          <p:cNvCxnSpPr>
            <a:cxnSpLocks/>
          </p:cNvCxnSpPr>
          <p:nvPr/>
        </p:nvCxnSpPr>
        <p:spPr>
          <a:xfrm>
            <a:off x="9408127" y="5824473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59C21445-C1A0-65FC-920F-544B756679D2}"/>
              </a:ext>
            </a:extLst>
          </p:cNvPr>
          <p:cNvSpPr txBox="1"/>
          <p:nvPr/>
        </p:nvSpPr>
        <p:spPr>
          <a:xfrm>
            <a:off x="9813147" y="5655775"/>
            <a:ext cx="84638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boot up LED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53E174E-4705-84F9-DED7-5565FF7B1781}"/>
              </a:ext>
            </a:extLst>
          </p:cNvPr>
          <p:cNvSpPr txBox="1"/>
          <p:nvPr/>
        </p:nvSpPr>
        <p:spPr>
          <a:xfrm>
            <a:off x="11259129" y="5739833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en-US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3163C289-909A-86F7-3F2A-5AC07FAFE7A7}"/>
              </a:ext>
            </a:extLst>
          </p:cNvPr>
          <p:cNvSpPr txBox="1"/>
          <p:nvPr/>
        </p:nvSpPr>
        <p:spPr>
          <a:xfrm>
            <a:off x="11259129" y="5979354"/>
            <a:ext cx="14106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6F13D300-F487-C31D-DEFE-756254F20859}"/>
              </a:ext>
            </a:extLst>
          </p:cNvPr>
          <p:cNvSpPr/>
          <p:nvPr/>
        </p:nvSpPr>
        <p:spPr bwMode="gray">
          <a:xfrm>
            <a:off x="11064551" y="5986905"/>
            <a:ext cx="143775" cy="5443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3897C120-15EF-D019-5BC5-2F0843C46A5C}"/>
              </a:ext>
            </a:extLst>
          </p:cNvPr>
          <p:cNvSpPr/>
          <p:nvPr/>
        </p:nvSpPr>
        <p:spPr bwMode="gray">
          <a:xfrm>
            <a:off x="1328089" y="1607987"/>
            <a:ext cx="720080" cy="25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DA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CC497119-9BA4-67EF-E7A6-5492A1555F33}"/>
              </a:ext>
            </a:extLst>
          </p:cNvPr>
          <p:cNvSpPr/>
          <p:nvPr/>
        </p:nvSpPr>
        <p:spPr bwMode="gray">
          <a:xfrm>
            <a:off x="2768409" y="1607987"/>
            <a:ext cx="1440000" cy="25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TSU(eCall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App)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7422AAD2-97E8-51F5-7B9C-44F25323FC76}"/>
              </a:ext>
            </a:extLst>
          </p:cNvPr>
          <p:cNvSpPr/>
          <p:nvPr/>
        </p:nvSpPr>
        <p:spPr bwMode="gray">
          <a:xfrm>
            <a:off x="4928489" y="1607987"/>
            <a:ext cx="720080" cy="25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LED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AF6A88B7-FA2A-01D4-1C26-5E494C3B57A0}"/>
              </a:ext>
            </a:extLst>
          </p:cNvPr>
          <p:cNvGrpSpPr/>
          <p:nvPr/>
        </p:nvGrpSpPr>
        <p:grpSpPr>
          <a:xfrm>
            <a:off x="1688129" y="1859987"/>
            <a:ext cx="3600400" cy="4664638"/>
            <a:chOff x="7536160" y="1859987"/>
            <a:chExt cx="3600400" cy="4664638"/>
          </a:xfrm>
        </p:grpSpPr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6AF82786-A8FD-34F7-6CA0-495BD7A125D6}"/>
                </a:ext>
              </a:extLst>
            </p:cNvPr>
            <p:cNvCxnSpPr>
              <a:stCxn id="79" idx="2"/>
            </p:cNvCxnSpPr>
            <p:nvPr/>
          </p:nvCxnSpPr>
          <p:spPr>
            <a:xfrm>
              <a:off x="7536160" y="1859987"/>
              <a:ext cx="0" cy="466463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0B0CA6C0-196C-BE79-C367-BE84C7786A56}"/>
                </a:ext>
              </a:extLst>
            </p:cNvPr>
            <p:cNvCxnSpPr>
              <a:cxnSpLocks/>
              <a:stCxn id="80" idx="2"/>
            </p:cNvCxnSpPr>
            <p:nvPr/>
          </p:nvCxnSpPr>
          <p:spPr>
            <a:xfrm flipH="1">
              <a:off x="9336360" y="1859987"/>
              <a:ext cx="80" cy="466463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89258BE3-BE0A-2756-B466-F9A7F2AC809D}"/>
                </a:ext>
              </a:extLst>
            </p:cNvPr>
            <p:cNvCxnSpPr>
              <a:cxnSpLocks/>
              <a:stCxn id="81" idx="2"/>
            </p:cNvCxnSpPr>
            <p:nvPr/>
          </p:nvCxnSpPr>
          <p:spPr>
            <a:xfrm flipH="1">
              <a:off x="11136480" y="1859987"/>
              <a:ext cx="80" cy="466463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42AC4297-65DF-A5D0-4DDE-030022E0A8B0}"/>
              </a:ext>
            </a:extLst>
          </p:cNvPr>
          <p:cNvCxnSpPr>
            <a:cxnSpLocks/>
          </p:cNvCxnSpPr>
          <p:nvPr/>
        </p:nvCxnSpPr>
        <p:spPr>
          <a:xfrm>
            <a:off x="1283802" y="2060848"/>
            <a:ext cx="40432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89ED1C0-047D-5513-7C40-112BF4AA1106}"/>
              </a:ext>
            </a:extLst>
          </p:cNvPr>
          <p:cNvCxnSpPr>
            <a:cxnSpLocks/>
          </p:cNvCxnSpPr>
          <p:nvPr/>
        </p:nvCxnSpPr>
        <p:spPr>
          <a:xfrm>
            <a:off x="1688129" y="2060848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6A9EB2B7-475F-29D5-6393-B7093D534CA6}"/>
              </a:ext>
            </a:extLst>
          </p:cNvPr>
          <p:cNvSpPr txBox="1"/>
          <p:nvPr/>
        </p:nvSpPr>
        <p:spPr>
          <a:xfrm>
            <a:off x="398918" y="1875779"/>
            <a:ext cx="112370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+B/ACC/IG On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FA3873B7-0BAA-A3DE-D68E-78CEAF18CB58}"/>
              </a:ext>
            </a:extLst>
          </p:cNvPr>
          <p:cNvSpPr/>
          <p:nvPr/>
        </p:nvSpPr>
        <p:spPr bwMode="gray">
          <a:xfrm>
            <a:off x="3416321" y="2132856"/>
            <a:ext cx="143775" cy="3385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1120FAD1-E3A4-3690-FE35-17C6F30AEEF9}"/>
              </a:ext>
            </a:extLst>
          </p:cNvPr>
          <p:cNvSpPr txBox="1"/>
          <p:nvPr/>
        </p:nvSpPr>
        <p:spPr>
          <a:xfrm>
            <a:off x="2711047" y="2132856"/>
            <a:ext cx="65242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eCall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STA</a:t>
            </a:r>
          </a:p>
          <a:p>
            <a:pPr algn="l"/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r>
              <a:rPr kumimoji="1" lang="en-US" altLang="ja-JP" sz="1100" dirty="0" err="1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Idol</a:t>
            </a:r>
            <a:endParaRPr kumimoji="1" lang="ja-JP" altLang="en-US" sz="11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67B80E78-9B8C-B31B-2E66-92A2AC28C0D3}"/>
              </a:ext>
            </a:extLst>
          </p:cNvPr>
          <p:cNvSpPr/>
          <p:nvPr/>
        </p:nvSpPr>
        <p:spPr bwMode="gray">
          <a:xfrm>
            <a:off x="3416321" y="252777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3F2EBAA0-83E9-7881-5FE3-D685D1048A5C}"/>
              </a:ext>
            </a:extLst>
          </p:cNvPr>
          <p:cNvSpPr txBox="1"/>
          <p:nvPr/>
        </p:nvSpPr>
        <p:spPr>
          <a:xfrm>
            <a:off x="2727077" y="2551694"/>
            <a:ext cx="6363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Cont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83D501F8-7A2F-90BE-9CB3-03D703C6B123}"/>
              </a:ext>
            </a:extLst>
          </p:cNvPr>
          <p:cNvSpPr/>
          <p:nvPr/>
        </p:nvSpPr>
        <p:spPr bwMode="gray">
          <a:xfrm>
            <a:off x="5216520" y="252777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CB58B3DD-F102-5D1E-E9D5-F097FB9D1823}"/>
              </a:ext>
            </a:extLst>
          </p:cNvPr>
          <p:cNvCxnSpPr>
            <a:cxnSpLocks/>
          </p:cNvCxnSpPr>
          <p:nvPr/>
        </p:nvCxnSpPr>
        <p:spPr>
          <a:xfrm>
            <a:off x="3560096" y="2636333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019A1F49-56D5-1271-C8AB-A685409C0019}"/>
              </a:ext>
            </a:extLst>
          </p:cNvPr>
          <p:cNvSpPr txBox="1"/>
          <p:nvPr/>
        </p:nvSpPr>
        <p:spPr>
          <a:xfrm>
            <a:off x="3965116" y="2467635"/>
            <a:ext cx="84638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boot up LED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4AE648A7-D676-1F56-EB44-B9277167FC94}"/>
              </a:ext>
            </a:extLst>
          </p:cNvPr>
          <p:cNvSpPr txBox="1"/>
          <p:nvPr/>
        </p:nvSpPr>
        <p:spPr>
          <a:xfrm>
            <a:off x="5411098" y="2551693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en-US" sz="1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1BF63DF5-350F-B589-A443-DE71B8AA93BB}"/>
              </a:ext>
            </a:extLst>
          </p:cNvPr>
          <p:cNvSpPr/>
          <p:nvPr/>
        </p:nvSpPr>
        <p:spPr bwMode="gray">
          <a:xfrm>
            <a:off x="5216520" y="2791214"/>
            <a:ext cx="143775" cy="1230323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3FFCAA03-E44A-C19C-2584-98EE81DA4665}"/>
              </a:ext>
            </a:extLst>
          </p:cNvPr>
          <p:cNvSpPr txBox="1"/>
          <p:nvPr/>
        </p:nvSpPr>
        <p:spPr>
          <a:xfrm>
            <a:off x="5411098" y="2791214"/>
            <a:ext cx="14106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52990B56-810B-126A-3257-BB624510E447}"/>
              </a:ext>
            </a:extLst>
          </p:cNvPr>
          <p:cNvCxnSpPr>
            <a:cxnSpLocks/>
          </p:cNvCxnSpPr>
          <p:nvPr/>
        </p:nvCxnSpPr>
        <p:spPr>
          <a:xfrm>
            <a:off x="1283802" y="3284984"/>
            <a:ext cx="40432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961C340-631D-217F-3E8E-BED983B57BA4}"/>
              </a:ext>
            </a:extLst>
          </p:cNvPr>
          <p:cNvCxnSpPr>
            <a:cxnSpLocks/>
            <a:endCxn id="130" idx="1"/>
          </p:cNvCxnSpPr>
          <p:nvPr/>
        </p:nvCxnSpPr>
        <p:spPr>
          <a:xfrm>
            <a:off x="1688129" y="3284984"/>
            <a:ext cx="1728192" cy="400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8321CE7E-6900-C162-F383-B8B13B0E9961}"/>
              </a:ext>
            </a:extLst>
          </p:cNvPr>
          <p:cNvSpPr txBox="1"/>
          <p:nvPr/>
        </p:nvSpPr>
        <p:spPr>
          <a:xfrm>
            <a:off x="689063" y="3099915"/>
            <a:ext cx="83356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 Off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02" name="右中かっこ 101">
            <a:extLst>
              <a:ext uri="{FF2B5EF4-FFF2-40B4-BE49-F238E27FC236}">
                <a16:creationId xmlns:a16="http://schemas.microsoft.com/office/drawing/2014/main" id="{AB144436-DF0C-2930-61AA-353413EDEDFC}"/>
              </a:ext>
            </a:extLst>
          </p:cNvPr>
          <p:cNvSpPr/>
          <p:nvPr/>
        </p:nvSpPr>
        <p:spPr>
          <a:xfrm>
            <a:off x="1688129" y="3284984"/>
            <a:ext cx="124825" cy="360039"/>
          </a:xfrm>
          <a:prstGeom prst="rightBrace">
            <a:avLst>
              <a:gd name="adj1" fmla="val 40764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　　　　</a:t>
            </a: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6sec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3D45B8B5-E2EE-FE13-A6ED-71D5B87E07FA}"/>
              </a:ext>
            </a:extLst>
          </p:cNvPr>
          <p:cNvCxnSpPr>
            <a:cxnSpLocks/>
            <a:stCxn id="102" idx="2"/>
          </p:cNvCxnSpPr>
          <p:nvPr/>
        </p:nvCxnSpPr>
        <p:spPr>
          <a:xfrm>
            <a:off x="1688129" y="3645023"/>
            <a:ext cx="1743575" cy="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B023EC8D-1D6C-CC8C-4194-91B152B592F5}"/>
              </a:ext>
            </a:extLst>
          </p:cNvPr>
          <p:cNvSpPr txBox="1"/>
          <p:nvPr/>
        </p:nvSpPr>
        <p:spPr>
          <a:xfrm>
            <a:off x="2270836" y="3475746"/>
            <a:ext cx="63479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VBUS Off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C46B21D-E2AA-B5FC-FF56-3C5885B05021}"/>
              </a:ext>
            </a:extLst>
          </p:cNvPr>
          <p:cNvSpPr/>
          <p:nvPr/>
        </p:nvSpPr>
        <p:spPr bwMode="gray">
          <a:xfrm>
            <a:off x="5216520" y="4078481"/>
            <a:ext cx="143775" cy="157726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95D9ADC7-B286-31B8-EE79-6F6A1EFE3E8E}"/>
              </a:ext>
            </a:extLst>
          </p:cNvPr>
          <p:cNvSpPr txBox="1"/>
          <p:nvPr/>
        </p:nvSpPr>
        <p:spPr>
          <a:xfrm>
            <a:off x="4127019" y="4011093"/>
            <a:ext cx="52257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7A03E77B-369C-C42B-667B-FF5848B28E06}"/>
              </a:ext>
            </a:extLst>
          </p:cNvPr>
          <p:cNvSpPr/>
          <p:nvPr/>
        </p:nvSpPr>
        <p:spPr bwMode="gray">
          <a:xfrm>
            <a:off x="3416321" y="407848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6250FE45-C925-AAEE-02C4-EC18DC9731A7}"/>
              </a:ext>
            </a:extLst>
          </p:cNvPr>
          <p:cNvSpPr txBox="1"/>
          <p:nvPr/>
        </p:nvSpPr>
        <p:spPr>
          <a:xfrm>
            <a:off x="2727077" y="4102404"/>
            <a:ext cx="6363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Cont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70E97AB2-03C3-F91C-E56E-8361CAA7DF73}"/>
              </a:ext>
            </a:extLst>
          </p:cNvPr>
          <p:cNvSpPr/>
          <p:nvPr/>
        </p:nvSpPr>
        <p:spPr bwMode="gray">
          <a:xfrm>
            <a:off x="5216520" y="1922473"/>
            <a:ext cx="143775" cy="5451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727242F7-FBD3-5DEB-B5CD-AC00BBFABE3D}"/>
              </a:ext>
            </a:extLst>
          </p:cNvPr>
          <p:cNvCxnSpPr>
            <a:cxnSpLocks/>
          </p:cNvCxnSpPr>
          <p:nvPr/>
        </p:nvCxnSpPr>
        <p:spPr>
          <a:xfrm>
            <a:off x="1283802" y="5248988"/>
            <a:ext cx="404327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25AD6865-1E19-E9CF-ED81-DF2584CB4351}"/>
              </a:ext>
            </a:extLst>
          </p:cNvPr>
          <p:cNvCxnSpPr>
            <a:cxnSpLocks/>
          </p:cNvCxnSpPr>
          <p:nvPr/>
        </p:nvCxnSpPr>
        <p:spPr>
          <a:xfrm>
            <a:off x="1688129" y="5248988"/>
            <a:ext cx="180007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68328912-8EB0-9B78-17D6-32B2617BD17B}"/>
              </a:ext>
            </a:extLst>
          </p:cNvPr>
          <p:cNvSpPr txBox="1"/>
          <p:nvPr/>
        </p:nvSpPr>
        <p:spPr>
          <a:xfrm>
            <a:off x="701887" y="5063919"/>
            <a:ext cx="82073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 On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A9BBD653-3781-3DD3-806C-36D3512B4C23}"/>
              </a:ext>
            </a:extLst>
          </p:cNvPr>
          <p:cNvSpPr/>
          <p:nvPr/>
        </p:nvSpPr>
        <p:spPr bwMode="gray">
          <a:xfrm>
            <a:off x="3416321" y="5715911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DB61FB81-426A-AC27-0366-7416629248CF}"/>
              </a:ext>
            </a:extLst>
          </p:cNvPr>
          <p:cNvSpPr txBox="1"/>
          <p:nvPr/>
        </p:nvSpPr>
        <p:spPr>
          <a:xfrm>
            <a:off x="2727077" y="5739834"/>
            <a:ext cx="6363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Cont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4B31624-82F7-FF32-2F99-4A3CB2FFCF8D}"/>
              </a:ext>
            </a:extLst>
          </p:cNvPr>
          <p:cNvCxnSpPr>
            <a:cxnSpLocks/>
          </p:cNvCxnSpPr>
          <p:nvPr/>
        </p:nvCxnSpPr>
        <p:spPr>
          <a:xfrm>
            <a:off x="3560096" y="5824473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2DADD84B-5F6D-5DCB-D395-F4443E3E0D4C}"/>
              </a:ext>
            </a:extLst>
          </p:cNvPr>
          <p:cNvSpPr txBox="1"/>
          <p:nvPr/>
        </p:nvSpPr>
        <p:spPr>
          <a:xfrm>
            <a:off x="4131828" y="5655775"/>
            <a:ext cx="51296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On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E757BB09-4EBE-8DD1-BD5C-65858EF88A69}"/>
              </a:ext>
            </a:extLst>
          </p:cNvPr>
          <p:cNvSpPr txBox="1"/>
          <p:nvPr/>
        </p:nvSpPr>
        <p:spPr>
          <a:xfrm>
            <a:off x="5411098" y="5739833"/>
            <a:ext cx="14106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9DDB36E4-4C5C-1465-EB20-23ED33A1636E}"/>
              </a:ext>
            </a:extLst>
          </p:cNvPr>
          <p:cNvSpPr/>
          <p:nvPr/>
        </p:nvSpPr>
        <p:spPr bwMode="gray">
          <a:xfrm>
            <a:off x="5216520" y="5715911"/>
            <a:ext cx="143775" cy="815388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DADA8A5D-357E-DCAC-34FD-57456FF93D42}"/>
              </a:ext>
            </a:extLst>
          </p:cNvPr>
          <p:cNvCxnSpPr>
            <a:cxnSpLocks/>
          </p:cNvCxnSpPr>
          <p:nvPr/>
        </p:nvCxnSpPr>
        <p:spPr>
          <a:xfrm>
            <a:off x="9408127" y="4187043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DE23FBBA-8627-3C98-EBE0-F0F73A0525F3}"/>
              </a:ext>
            </a:extLst>
          </p:cNvPr>
          <p:cNvSpPr/>
          <p:nvPr/>
        </p:nvSpPr>
        <p:spPr bwMode="gray">
          <a:xfrm>
            <a:off x="3416321" y="3180430"/>
            <a:ext cx="143775" cy="217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B81FDECB-B6D7-C1FE-07CF-36A49F7ABC7B}"/>
              </a:ext>
            </a:extLst>
          </p:cNvPr>
          <p:cNvSpPr txBox="1"/>
          <p:nvPr/>
        </p:nvSpPr>
        <p:spPr>
          <a:xfrm>
            <a:off x="3610082" y="3103933"/>
            <a:ext cx="65242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eCall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STA</a:t>
            </a:r>
          </a:p>
          <a:p>
            <a:pPr algn="l"/>
            <a:r>
              <a:rPr kumimoji="1" lang="en-US" altLang="ja-JP" sz="1100" dirty="0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Idol</a:t>
            </a:r>
            <a:endParaRPr kumimoji="1" lang="ja-JP" altLang="en-US" sz="11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34" name="乗算記号 133">
            <a:extLst>
              <a:ext uri="{FF2B5EF4-FFF2-40B4-BE49-F238E27FC236}">
                <a16:creationId xmlns:a16="http://schemas.microsoft.com/office/drawing/2014/main" id="{7C37C838-DE9F-E6B8-F91C-DF3D257752EE}"/>
              </a:ext>
            </a:extLst>
          </p:cNvPr>
          <p:cNvSpPr/>
          <p:nvPr/>
        </p:nvSpPr>
        <p:spPr bwMode="gray">
          <a:xfrm>
            <a:off x="3285698" y="3442513"/>
            <a:ext cx="405020" cy="405020"/>
          </a:xfrm>
          <a:prstGeom prst="mathMultiply">
            <a:avLst>
              <a:gd name="adj1" fmla="val 18817"/>
            </a:avLst>
          </a:prstGeom>
          <a:solidFill>
            <a:srgbClr val="CC0066"/>
          </a:solidFill>
          <a:ln w="19050">
            <a:solidFill>
              <a:schemeClr val="bg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　　　　　　　　　　　　　</a:t>
            </a:r>
            <a:r>
              <a:rPr kumimoji="1" lang="en-US" altLang="ja-JP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VBUS</a:t>
            </a:r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Off</a:t>
            </a:r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を検知できず、</a:t>
            </a:r>
            <a:endParaRPr kumimoji="1" lang="en-US" altLang="ja-JP" sz="1100" dirty="0">
              <a:solidFill>
                <a:srgbClr val="CC006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　　　　　　　　　　　</a:t>
            </a:r>
            <a:r>
              <a:rPr kumimoji="1" lang="en-US" altLang="ja-JP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eCall</a:t>
            </a:r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STA</a:t>
            </a:r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Idol</a:t>
            </a:r>
            <a:r>
              <a:rPr kumimoji="1" lang="ja-JP" altLang="en-US" sz="1100" dirty="0">
                <a:solidFill>
                  <a:srgbClr val="CC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のまま</a:t>
            </a:r>
          </a:p>
        </p:txBody>
      </p:sp>
      <p:sp>
        <p:nvSpPr>
          <p:cNvPr id="135" name="左中かっこ 134">
            <a:extLst>
              <a:ext uri="{FF2B5EF4-FFF2-40B4-BE49-F238E27FC236}">
                <a16:creationId xmlns:a16="http://schemas.microsoft.com/office/drawing/2014/main" id="{A1F43F82-4E1C-699D-2DE6-2B4B8F55743E}"/>
              </a:ext>
            </a:extLst>
          </p:cNvPr>
          <p:cNvSpPr/>
          <p:nvPr/>
        </p:nvSpPr>
        <p:spPr>
          <a:xfrm>
            <a:off x="1578687" y="3284984"/>
            <a:ext cx="124825" cy="1964004"/>
          </a:xfrm>
          <a:prstGeom prst="leftBrace">
            <a:avLst>
              <a:gd name="adj1" fmla="val 4076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&lt;60min</a:t>
            </a:r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 　　　　　　　　</a:t>
            </a:r>
          </a:p>
        </p:txBody>
      </p:sp>
      <p:cxnSp>
        <p:nvCxnSpPr>
          <p:cNvPr id="144" name="直線矢印コネクタ 143">
            <a:extLst>
              <a:ext uri="{FF2B5EF4-FFF2-40B4-BE49-F238E27FC236}">
                <a16:creationId xmlns:a16="http://schemas.microsoft.com/office/drawing/2014/main" id="{B0B37B64-F2D6-1A40-1AB0-8944D9ABFC4F}"/>
              </a:ext>
            </a:extLst>
          </p:cNvPr>
          <p:cNvCxnSpPr>
            <a:cxnSpLocks/>
          </p:cNvCxnSpPr>
          <p:nvPr/>
        </p:nvCxnSpPr>
        <p:spPr>
          <a:xfrm>
            <a:off x="3560096" y="4187043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FCFBFC3A-B673-A48F-846E-F9D274EB2DD3}"/>
              </a:ext>
            </a:extLst>
          </p:cNvPr>
          <p:cNvCxnSpPr>
            <a:cxnSpLocks/>
          </p:cNvCxnSpPr>
          <p:nvPr/>
        </p:nvCxnSpPr>
        <p:spPr>
          <a:xfrm>
            <a:off x="9408127" y="2876025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A64BD248-5F15-1200-48EE-58D165AAA8C8}"/>
              </a:ext>
            </a:extLst>
          </p:cNvPr>
          <p:cNvSpPr txBox="1"/>
          <p:nvPr/>
        </p:nvSpPr>
        <p:spPr>
          <a:xfrm>
            <a:off x="9851620" y="2707327"/>
            <a:ext cx="7694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boot up On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D424C2CF-539C-F845-7784-563AC7C168A5}"/>
              </a:ext>
            </a:extLst>
          </p:cNvPr>
          <p:cNvSpPr/>
          <p:nvPr/>
        </p:nvSpPr>
        <p:spPr bwMode="gray">
          <a:xfrm>
            <a:off x="3416898" y="5320996"/>
            <a:ext cx="143775" cy="3385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CFFC4BFA-366C-BEB2-1F08-316C74B5AF0F}"/>
              </a:ext>
            </a:extLst>
          </p:cNvPr>
          <p:cNvSpPr txBox="1"/>
          <p:nvPr/>
        </p:nvSpPr>
        <p:spPr>
          <a:xfrm>
            <a:off x="2711624" y="5320996"/>
            <a:ext cx="65242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eCall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STA</a:t>
            </a:r>
          </a:p>
          <a:p>
            <a:pPr algn="l"/>
            <a:r>
              <a:rPr kumimoji="1" lang="en-US" altLang="ja-JP" sz="1100" dirty="0"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Idol</a:t>
            </a:r>
            <a:endParaRPr kumimoji="1" lang="ja-JP" altLang="en-US" sz="11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FD5F320D-6DEE-F8A8-FE19-9FD8F2C80AD0}"/>
              </a:ext>
            </a:extLst>
          </p:cNvPr>
          <p:cNvSpPr/>
          <p:nvPr/>
        </p:nvSpPr>
        <p:spPr bwMode="gray">
          <a:xfrm>
            <a:off x="9264352" y="5716154"/>
            <a:ext cx="143775" cy="453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59FB11C7-61CB-BA2D-2559-05C2E5444DAE}"/>
              </a:ext>
            </a:extLst>
          </p:cNvPr>
          <p:cNvSpPr txBox="1"/>
          <p:nvPr/>
        </p:nvSpPr>
        <p:spPr>
          <a:xfrm>
            <a:off x="8575108" y="5848639"/>
            <a:ext cx="6363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LED </a:t>
            </a:r>
            <a:r>
              <a:rPr kumimoji="1" lang="en-US" altLang="ja-JP" sz="11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Cont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F747AF82-D656-AE93-0A1C-BD5F115523F2}"/>
              </a:ext>
            </a:extLst>
          </p:cNvPr>
          <p:cNvCxnSpPr>
            <a:cxnSpLocks/>
          </p:cNvCxnSpPr>
          <p:nvPr/>
        </p:nvCxnSpPr>
        <p:spPr>
          <a:xfrm>
            <a:off x="9408127" y="6064408"/>
            <a:ext cx="16564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276CD19D-918A-3D9C-24B6-A60868BC4549}"/>
              </a:ext>
            </a:extLst>
          </p:cNvPr>
          <p:cNvSpPr txBox="1"/>
          <p:nvPr/>
        </p:nvSpPr>
        <p:spPr>
          <a:xfrm>
            <a:off x="9851620" y="5895710"/>
            <a:ext cx="7694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boot up On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304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発生原因 </a:t>
            </a:r>
            <a:r>
              <a:rPr lang="en-US" altLang="ja-JP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/</a:t>
            </a:r>
            <a:r>
              <a:rPr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 流出原因</a:t>
            </a:r>
            <a:endParaRPr lang="ja-JP" altLang="zh-CN" dirty="0">
              <a:latin typeface="Arial" panose="020B0604020202020204" pitchFamily="34" charset="0"/>
              <a:ea typeface="Meiryo UI" panose="020B0604030504040204" pitchFamily="50" charset="-128"/>
              <a:cs typeface="STHeiti Light" charset="-122"/>
              <a:sym typeface="+mn-ea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D4A13CF-F285-590E-CA79-CA5CF77CF281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A009978-8774-AEBB-A105-650EF09D377E}"/>
              </a:ext>
            </a:extLst>
          </p:cNvPr>
          <p:cNvSpPr/>
          <p:nvPr/>
        </p:nvSpPr>
        <p:spPr bwMode="gray">
          <a:xfrm>
            <a:off x="1127448" y="836712"/>
            <a:ext cx="10729192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■発生原因：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ACC/IG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Off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と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DA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VBUS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Off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タイミングが異なることへの考慮不足</a:t>
            </a:r>
            <a:endParaRPr kumimoji="1" lang="en-US" altLang="ja-JP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■流出原因：①あるべき検証環境での検証未実施 ②状態遷移の抽出不足</a:t>
            </a:r>
            <a:endParaRPr kumimoji="1" lang="en-US" altLang="ja-JP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E61DECD-0D5A-A8A8-4A64-F8E89131C36D}"/>
              </a:ext>
            </a:extLst>
          </p:cNvPr>
          <p:cNvSpPr txBox="1"/>
          <p:nvPr/>
        </p:nvSpPr>
        <p:spPr>
          <a:xfrm>
            <a:off x="335360" y="1607987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■発生原因：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8805E8-EF8D-86E4-2A97-C801AE9B6E1F}"/>
              </a:ext>
            </a:extLst>
          </p:cNvPr>
          <p:cNvSpPr txBox="1"/>
          <p:nvPr/>
        </p:nvSpPr>
        <p:spPr>
          <a:xfrm>
            <a:off x="479376" y="1882581"/>
            <a:ext cx="586962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・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2025/11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リリース時に不具合が混入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・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と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VBUS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Off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タイミングが異なることへの考慮不足により発生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6C0AE6-ADD9-9723-AB72-E24697A141BB}"/>
              </a:ext>
            </a:extLst>
          </p:cNvPr>
          <p:cNvSpPr txBox="1"/>
          <p:nvPr/>
        </p:nvSpPr>
        <p:spPr>
          <a:xfrm>
            <a:off x="335360" y="258124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■流出原因：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B065358-9EBB-4CCB-B830-0FD73C9BF8CB}"/>
              </a:ext>
            </a:extLst>
          </p:cNvPr>
          <p:cNvSpPr txBox="1"/>
          <p:nvPr/>
        </p:nvSpPr>
        <p:spPr>
          <a:xfrm>
            <a:off x="479376" y="2855838"/>
            <a:ext cx="7908319" cy="10772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・検証環境の不備により、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Bug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を検出できず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pPr algn="l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　*今回の検証環境：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	TSU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の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USB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ケーブルを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PC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と接続し、手動での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USB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ケーブル挿抜により関連検証を実施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　*あるべき検証環境：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	TSU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の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USB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ケーブルを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DA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と接続し、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ACC/IG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 </a:t>
            </a:r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On</a:t>
            </a:r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Off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 により検証を実施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  <a:sym typeface="Wingdings" panose="05000000000000000000" pitchFamily="2" charset="2"/>
            </a:endParaRPr>
          </a:p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		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　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※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今回の事象は、あるべき検証環境では検知可能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  <a:sym typeface="Wingdings" panose="05000000000000000000" pitchFamily="2" charset="2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Wingdings" panose="05000000000000000000" pitchFamily="2" charset="2"/>
              </a:rPr>
              <a:t>・再発防止策：各状態遷移を抽出し、あるべき検証環境で検証を実施する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類似事象発生防止</a:t>
            </a:r>
            <a:endParaRPr lang="ja-JP" altLang="zh-CN" dirty="0">
              <a:latin typeface="Arial" panose="020B0604020202020204" pitchFamily="34" charset="0"/>
              <a:ea typeface="Meiryo UI" panose="020B0604030504040204" pitchFamily="50" charset="-128"/>
              <a:cs typeface="STHeiti Light" charset="-122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D612F4-EC68-4FBD-877E-75C50EA8307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t="23750" r="26375" b="26901"/>
          <a:stretch/>
        </p:blipFill>
        <p:spPr>
          <a:xfrm>
            <a:off x="9912424" y="1628800"/>
            <a:ext cx="1944216" cy="1384518"/>
          </a:xfrm>
          <a:prstGeom prst="rect">
            <a:avLst/>
          </a:prstGeom>
        </p:spPr>
      </p:pic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2AAC1A4C-B584-4428-BC0B-B2E3ED31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18391"/>
              </p:ext>
            </p:extLst>
          </p:nvPr>
        </p:nvGraphicFramePr>
        <p:xfrm>
          <a:off x="335360" y="3051318"/>
          <a:ext cx="11521676" cy="349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6762">
                  <a:extLst>
                    <a:ext uri="{9D8B030D-6E8A-4147-A177-3AD203B41FA5}">
                      <a16:colId xmlns:a16="http://schemas.microsoft.com/office/drawing/2014/main" val="4229394679"/>
                    </a:ext>
                  </a:extLst>
                </a:gridCol>
                <a:gridCol w="1576762">
                  <a:extLst>
                    <a:ext uri="{9D8B030D-6E8A-4147-A177-3AD203B41FA5}">
                      <a16:colId xmlns:a16="http://schemas.microsoft.com/office/drawing/2014/main" val="176725333"/>
                    </a:ext>
                  </a:extLst>
                </a:gridCol>
              </a:tblGrid>
              <a:tr h="278177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分類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機能名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影響可能性内容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影響有無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影響可能性検証</a:t>
                      </a:r>
                      <a:endParaRPr lang="en-US" altLang="ja-JP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完了予定日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再検証完了予定日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 anchor="ctr"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遠隔操作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側からタイマーエアコン、タイマー充電など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2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E-CALL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TEL MUTE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VBUS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など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OTA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リプロ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と接続して、検証実施しています。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USB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リプロ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と接続して、検証実施しました。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29097311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HDS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リプロ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と接続して、実車で検証実施しました。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3930111223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DAQ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一部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CAN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データは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から送信し、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TSU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側関連信号を取得し、サーバ側へアップロードする。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077">
                <a:tc>
                  <a:txBody>
                    <a:bodyPr/>
                    <a:lstStyle/>
                    <a:p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診断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側から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TSU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へ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DTC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の診断コマンドを送付し、関連情報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側で表示する。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231">
                <a:tc rowSpan="2">
                  <a:txBody>
                    <a:bodyPr/>
                    <a:lstStyle/>
                    <a:p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ICB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連携</a:t>
                      </a:r>
                      <a:endParaRPr lang="zh-CN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TSU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ICB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の連携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da-tap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影響可能性あり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4/17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4/20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B76047-4E91-D7DB-3980-A85A56536258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16923E7-68E6-27B9-A354-FBF83D56C936}"/>
              </a:ext>
            </a:extLst>
          </p:cNvPr>
          <p:cNvSpPr/>
          <p:nvPr/>
        </p:nvSpPr>
        <p:spPr bwMode="gray">
          <a:xfrm>
            <a:off x="1127448" y="836712"/>
            <a:ext cx="10729192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■不具合発見が遅れた理由：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機能は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DA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との直接の関連がないため、</a:t>
            </a:r>
            <a:r>
              <a:rPr kumimoji="1" lang="en-US" altLang="ja-JP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DA</a:t>
            </a:r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未接続で検証を実施</a:t>
            </a:r>
            <a:endParaRPr kumimoji="1" lang="en-US" altLang="ja-JP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■類似事象発生防止：同様に直接的には関連のないユニットからの機能影響に関して、再度点検を実施して検証を行う</a:t>
            </a:r>
            <a:endParaRPr kumimoji="1" lang="en-US" altLang="ja-JP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AFCEBD-8143-4F60-CF5D-583782626281}"/>
              </a:ext>
            </a:extLst>
          </p:cNvPr>
          <p:cNvSpPr txBox="1"/>
          <p:nvPr/>
        </p:nvSpPr>
        <p:spPr>
          <a:xfrm>
            <a:off x="335360" y="1607987"/>
            <a:ext cx="233717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■不具合発見が遅れた理由：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91540E-C8AA-8B4E-E4B2-A374E3EC3FE9}"/>
              </a:ext>
            </a:extLst>
          </p:cNvPr>
          <p:cNvSpPr txBox="1"/>
          <p:nvPr/>
        </p:nvSpPr>
        <p:spPr>
          <a:xfrm>
            <a:off x="479376" y="1882581"/>
            <a:ext cx="507190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・</a:t>
            </a:r>
            <a:r>
              <a:rPr kumimoji="1"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</a:t>
            </a:r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機能は</a:t>
            </a:r>
            <a:r>
              <a:rPr kumimoji="1"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DA</a:t>
            </a:r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との直接の関連がないため、</a:t>
            </a:r>
            <a:r>
              <a:rPr kumimoji="1"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DA</a:t>
            </a:r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未接続で検証を実施</a:t>
            </a:r>
            <a:endParaRPr kumimoji="1" lang="en-US" altLang="ja-JP" sz="14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　</a:t>
            </a:r>
            <a:r>
              <a:rPr kumimoji="1"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今回は実車で</a:t>
            </a:r>
            <a:r>
              <a:rPr kumimoji="1" lang="en-US" altLang="ja-JP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DA</a:t>
            </a:r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が接続されたために発見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C08088-413B-C2BF-A574-B81AFAAC225E}"/>
              </a:ext>
            </a:extLst>
          </p:cNvPr>
          <p:cNvSpPr txBox="1"/>
          <p:nvPr/>
        </p:nvSpPr>
        <p:spPr>
          <a:xfrm>
            <a:off x="335360" y="2775174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</a:t>
            </a:r>
            <a:r>
              <a:rPr kumimoji="1" lang="ja-JP" altLang="en-US" sz="14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類似事象発生防止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28286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5925279" y="6618165"/>
            <a:ext cx="341440" cy="215444"/>
          </a:xfrm>
        </p:spPr>
        <p:txBody>
          <a:bodyPr/>
          <a:lstStyle/>
          <a:p>
            <a:fld id="{EB569A6D-6D07-4FCA-AFC8-949B574529CD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855640" y="145098"/>
            <a:ext cx="9001000" cy="344559"/>
          </a:xfrm>
        </p:spPr>
        <p:txBody>
          <a:bodyPr/>
          <a:lstStyle/>
          <a:p>
            <a:r>
              <a:rPr lang="ja-JP" altLang="en-US" dirty="0"/>
              <a:t>本不具合の他機能影響分析</a:t>
            </a:r>
          </a:p>
        </p:txBody>
      </p:sp>
      <p:graphicFrame>
        <p:nvGraphicFramePr>
          <p:cNvPr id="39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86184"/>
              </p:ext>
            </p:extLst>
          </p:nvPr>
        </p:nvGraphicFramePr>
        <p:xfrm>
          <a:off x="335359" y="1916832"/>
          <a:ext cx="115212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分類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機能名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影響有無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遠隔操作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起動時の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eCallState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に依存しないため、影響なし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影響なし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E-CALL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400" b="1" dirty="0" err="1">
                          <a:solidFill>
                            <a:srgbClr val="CC006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eCall</a:t>
                      </a:r>
                      <a:r>
                        <a:rPr lang="ja-JP" altLang="en-US" sz="1400" b="1" dirty="0">
                          <a:solidFill>
                            <a:srgbClr val="CC006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の起動時の</a:t>
                      </a:r>
                      <a:r>
                        <a:rPr lang="en-US" altLang="ja-JP" sz="1400" b="1" dirty="0">
                          <a:solidFill>
                            <a:srgbClr val="CC006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LED</a:t>
                      </a:r>
                      <a:r>
                        <a:rPr lang="ja-JP" altLang="en-US" sz="1400" b="1" dirty="0">
                          <a:solidFill>
                            <a:srgbClr val="CC006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点滅機能に影響あり、</a:t>
                      </a:r>
                      <a:endParaRPr lang="en-US" altLang="ja-JP" sz="1400" b="1" dirty="0">
                        <a:solidFill>
                          <a:srgbClr val="CC0066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eCall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手動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自動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en-US" altLang="ja-JP" sz="1400" b="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TestEcall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を実施するとき、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eCall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STA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が正しく切り替えられるため、影響なし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rgbClr val="CC006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影響あり</a:t>
                      </a:r>
                      <a:endParaRPr lang="zh-CN" altLang="en-US" sz="1400" b="1" dirty="0">
                        <a:solidFill>
                          <a:srgbClr val="CC0066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OTA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起動時の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eCall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STA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に依存しないため、影響なし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616">
                <a:tc>
                  <a:txBody>
                    <a:bodyPr/>
                    <a:lstStyle/>
                    <a:p>
                      <a:r>
                        <a:rPr lang="en-US" altLang="ja-JP" sz="14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DAQ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起動時の</a:t>
                      </a: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eCall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</a:t>
                      </a: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STA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に依存しないため、影響なし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231">
                <a:tc>
                  <a:txBody>
                    <a:bodyPr/>
                    <a:lstStyle/>
                    <a:p>
                      <a:r>
                        <a:rPr lang="ja-JP" altLang="en-US" sz="14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診断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──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起動時の</a:t>
                      </a: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eCall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</a:t>
                      </a: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STA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に依存しないため、影響なし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231"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en-US" altLang="ja-JP" sz="1400" b="1" kern="12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ICB</a:t>
                      </a:r>
                      <a:r>
                        <a:rPr kumimoji="1" lang="ja-JP" altLang="en-US" sz="1400" b="1" kern="12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機能</a:t>
                      </a:r>
                      <a:endParaRPr kumimoji="1" lang="zh-CN" altLang="en-US" sz="1400" b="1" kern="12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TSU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ICB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の連携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起動時の</a:t>
                      </a:r>
                      <a:r>
                        <a:rPr kumimoji="1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eCall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</a:t>
                      </a: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STA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に依存しないため、影響なし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23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da-tap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起動時の</a:t>
                      </a:r>
                      <a:r>
                        <a:rPr kumimoji="1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eCall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STA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に依存しないため、影響なし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影響なし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" name="正方形/長方形 69"/>
          <p:cNvSpPr/>
          <p:nvPr/>
        </p:nvSpPr>
        <p:spPr bwMode="gray">
          <a:xfrm>
            <a:off x="1127448" y="836613"/>
            <a:ext cx="10729191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TSU</a:t>
            </a:r>
            <a:r>
              <a:rPr kumimoji="1" lang="ja-JP" altLang="en-US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が起動中の</a:t>
            </a:r>
            <a:r>
              <a:rPr kumimoji="1" lang="en-US" altLang="ja-JP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eCall</a:t>
            </a:r>
            <a:r>
              <a:rPr kumimoji="1" lang="ja-JP" altLang="en-US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STA</a:t>
            </a:r>
            <a:r>
              <a:rPr kumimoji="1" lang="ja-JP" altLang="en-US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状態不具合により、</a:t>
            </a:r>
            <a:r>
              <a:rPr kumimoji="1" lang="en-US" altLang="ja-JP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eCall</a:t>
            </a:r>
            <a:r>
              <a:rPr kumimoji="1" lang="ja-JP" altLang="en-US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起動時の </a:t>
            </a:r>
            <a:r>
              <a:rPr kumimoji="1" lang="en-US" altLang="ja-JP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LED</a:t>
            </a:r>
            <a:r>
              <a:rPr kumimoji="1" lang="ja-JP" altLang="en-US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点滅機能に影響あり、その他機能には影響なし</a:t>
            </a:r>
            <a:endParaRPr kumimoji="1" lang="en-US" altLang="ja-JP" sz="1600" b="1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993979-3E85-C09B-BB7F-B86B1FF86908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60EA16-A867-9A96-8E7F-9127F3A82D93}"/>
              </a:ext>
            </a:extLst>
          </p:cNvPr>
          <p:cNvSpPr txBox="1"/>
          <p:nvPr/>
        </p:nvSpPr>
        <p:spPr>
          <a:xfrm>
            <a:off x="335360" y="1607987"/>
            <a:ext cx="24990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■本不具合の他機能影響分析：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855640" y="145098"/>
            <a:ext cx="9001000" cy="344559"/>
          </a:xfrm>
        </p:spPr>
        <p:txBody>
          <a:bodyPr/>
          <a:lstStyle/>
          <a:p>
            <a:r>
              <a:rPr lang="ja-JP" altLang="en-US" dirty="0"/>
              <a:t>修正内容に対する効果確認</a:t>
            </a:r>
          </a:p>
        </p:txBody>
      </p:sp>
      <p:sp>
        <p:nvSpPr>
          <p:cNvPr id="41" name="正方形/長方形 69"/>
          <p:cNvSpPr/>
          <p:nvPr/>
        </p:nvSpPr>
        <p:spPr bwMode="gray">
          <a:xfrm>
            <a:off x="1127448" y="836711"/>
            <a:ext cx="10702017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ja-JP" altLang="en-US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ベンチ環境と実車環境で効果を確認済み、結果</a:t>
            </a:r>
            <a:r>
              <a:rPr kumimoji="1" lang="en-US" altLang="ja-JP" sz="16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</a:p>
        </p:txBody>
      </p:sp>
      <p:graphicFrame>
        <p:nvGraphicFramePr>
          <p:cNvPr id="15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73557"/>
              </p:ext>
            </p:extLst>
          </p:nvPr>
        </p:nvGraphicFramePr>
        <p:xfrm>
          <a:off x="334962" y="1916832"/>
          <a:ext cx="11522077" cy="277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604">
                  <a:extLst>
                    <a:ext uri="{9D8B030D-6E8A-4147-A177-3AD203B41FA5}">
                      <a16:colId xmlns:a16="http://schemas.microsoft.com/office/drawing/2014/main" val="416222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分類</a:t>
                      </a:r>
                      <a:endParaRPr lang="en-US" altLang="zh-CN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確認観点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試験項目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効果確認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判定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38">
                <a:tc rowSpan="5">
                  <a:txBody>
                    <a:bodyPr/>
                    <a:lstStyle/>
                    <a:p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eCall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LowPowerMode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への遷移前に</a:t>
                      </a:r>
                      <a:endParaRPr lang="en-US" altLang="ja-JP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の場合</a:t>
                      </a:r>
                      <a:endParaRPr lang="en-US" altLang="ja-JP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Off 20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秒後、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boot up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LED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点滅が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正しく動作すること 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赤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緑点灯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ベンチ</a:t>
                      </a: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実車 実施済　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OK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LowPowerMode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への遷移前に</a:t>
                      </a:r>
                      <a:endParaRPr lang="en-US" altLang="ja-JP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の場合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Off 6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分後、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boot up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LED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点滅が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正しく動作すること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赤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緑点灯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ベンチ</a:t>
                      </a: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実車 実施済　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OK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LowPowerMode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への遷移前に</a:t>
                      </a:r>
                      <a:endParaRPr lang="en-US" altLang="ja-JP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の場合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Off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分後、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boot up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LED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点滅が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正しく動作すること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赤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緑点灯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ベンチ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実車 実施済　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OK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09">
                <a:tc vMerge="1">
                  <a:txBody>
                    <a:bodyPr/>
                    <a:lstStyle/>
                    <a:p>
                      <a:endParaRPr lang="zh-CN" altLang="en-US" sz="12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SSR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機能動作後に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の場合</a:t>
                      </a:r>
                      <a:b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Off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時間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分後、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boot up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LED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点滅が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正しく動作すること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赤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緑点灯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ベンチ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実車 実施済　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OK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885567692"/>
                  </a:ext>
                </a:extLst>
              </a:tr>
              <a:tr h="308477">
                <a:tc vMerge="1">
                  <a:txBody>
                    <a:bodyPr/>
                    <a:lstStyle/>
                    <a:p>
                      <a:endParaRPr lang="zh-CN" altLang="en-US" sz="12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TSU Off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モードから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の場合</a:t>
                      </a:r>
                      <a:b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endParaRPr lang="zh-CN" altLang="en-US" sz="1400" b="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ACC/IG Off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+B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秒後、</a:t>
                      </a:r>
                      <a:r>
                        <a:rPr lang="en-US" altLang="ja-JP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+B On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boot up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LED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点滅が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正しく動作すること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赤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緑点灯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ベンチ 実施済　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OK</a:t>
                      </a:r>
                      <a:endParaRPr kumimoji="1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4054781514"/>
                  </a:ext>
                </a:extLst>
              </a:tr>
            </a:tbl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40E4AF0-0284-4BD5-6E76-AFC254BD95F4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137316-8C1D-ADB3-109A-723CF952BCBB}"/>
              </a:ext>
            </a:extLst>
          </p:cNvPr>
          <p:cNvSpPr txBox="1"/>
          <p:nvPr/>
        </p:nvSpPr>
        <p:spPr>
          <a:xfrm>
            <a:off x="335360" y="1607987"/>
            <a:ext cx="24990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■修正内容に対する効果確認：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品確対応日程</a:t>
            </a:r>
            <a:endParaRPr lang="ja-JP" altLang="zh-CN" dirty="0">
              <a:latin typeface="Arial" panose="020B0604020202020204" pitchFamily="34" charset="0"/>
              <a:ea typeface="Meiryo UI" panose="020B0604030504040204" pitchFamily="50" charset="-128"/>
              <a:cs typeface="STHeiti Light" charset="-122"/>
              <a:sym typeface="+mn-ea"/>
            </a:endParaRPr>
          </a:p>
        </p:txBody>
      </p:sp>
      <p:graphicFrame>
        <p:nvGraphicFramePr>
          <p:cNvPr id="6" name="表 39">
            <a:extLst>
              <a:ext uri="{FF2B5EF4-FFF2-40B4-BE49-F238E27FC236}">
                <a16:creationId xmlns:a16="http://schemas.microsoft.com/office/drawing/2014/main" id="{7EFAF295-9523-40BC-A190-F368DBCB3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880572"/>
              </p:ext>
            </p:extLst>
          </p:nvPr>
        </p:nvGraphicFramePr>
        <p:xfrm>
          <a:off x="656208" y="1916832"/>
          <a:ext cx="10696377" cy="4578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8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136609936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319065650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1762352665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3033348270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3488484887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197405221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3250329968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282900379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597927413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1623046679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93921932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1798979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kumimoji="1" lang="en-US" altLang="ja-JP" sz="100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10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0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00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0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Meiryo UI" pitchFamily="50" charset="-128"/>
                        <a:ea typeface="Meiryo UI" pitchFamily="50" charset="-128"/>
                        <a:cs typeface="Meiryo UI" pitchFamily="50" charset="-128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23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30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6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13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20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27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4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11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18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25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1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itchFamily="50" charset="-128"/>
                        </a:rPr>
                        <a:t>8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車両イベント</a:t>
                      </a:r>
                      <a:endParaRPr kumimoji="0" lang="en-US" altLang="ja-JP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65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SIS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8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ホンダ様</a:t>
                      </a:r>
                      <a:endParaRPr kumimoji="0" lang="en-US" altLang="ja-JP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196231"/>
                  </a:ext>
                </a:extLst>
              </a:tr>
            </a:tbl>
          </a:graphicData>
        </a:graphic>
      </p:graphicFrame>
      <p:sp>
        <p:nvSpPr>
          <p:cNvPr id="7" name="テキスト ボックス 44">
            <a:extLst>
              <a:ext uri="{FF2B5EF4-FFF2-40B4-BE49-F238E27FC236}">
                <a16:creationId xmlns:a16="http://schemas.microsoft.com/office/drawing/2014/main" id="{D7125BA8-0155-4B16-883A-5AA9D6ECAD32}"/>
              </a:ext>
            </a:extLst>
          </p:cNvPr>
          <p:cNvSpPr txBox="1"/>
          <p:nvPr/>
        </p:nvSpPr>
        <p:spPr>
          <a:xfrm>
            <a:off x="2098135" y="2552514"/>
            <a:ext cx="73742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KE/KG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フリーフォーム: 図形 40">
            <a:extLst>
              <a:ext uri="{FF2B5EF4-FFF2-40B4-BE49-F238E27FC236}">
                <a16:creationId xmlns:a16="http://schemas.microsoft.com/office/drawing/2014/main" id="{EE1BF293-7731-47CC-8D7C-AAF66B57E486}"/>
              </a:ext>
            </a:extLst>
          </p:cNvPr>
          <p:cNvSpPr/>
          <p:nvPr/>
        </p:nvSpPr>
        <p:spPr>
          <a:xfrm>
            <a:off x="10143542" y="2618101"/>
            <a:ext cx="737423" cy="176605"/>
          </a:xfrm>
          <a:custGeom>
            <a:avLst/>
            <a:gdLst>
              <a:gd name="connsiteX0" fmla="*/ 2290194 w 2290194"/>
              <a:gd name="connsiteY0" fmla="*/ 285225 h 285225"/>
              <a:gd name="connsiteX1" fmla="*/ 0 w 2290194"/>
              <a:gd name="connsiteY1" fmla="*/ 285225 h 285225"/>
              <a:gd name="connsiteX2" fmla="*/ 411060 w 2290194"/>
              <a:gd name="connsiteY2" fmla="*/ 0 h 285225"/>
              <a:gd name="connsiteX3" fmla="*/ 2290194 w 2290194"/>
              <a:gd name="connsiteY3" fmla="*/ 0 h 285225"/>
              <a:gd name="connsiteX0" fmla="*/ 2290194 w 2290194"/>
              <a:gd name="connsiteY0" fmla="*/ 285225 h 285225"/>
              <a:gd name="connsiteX1" fmla="*/ 0 w 2290194"/>
              <a:gd name="connsiteY1" fmla="*/ 285225 h 285225"/>
              <a:gd name="connsiteX2" fmla="*/ 738231 w 2290194"/>
              <a:gd name="connsiteY2" fmla="*/ 0 h 285225"/>
              <a:gd name="connsiteX3" fmla="*/ 2290194 w 2290194"/>
              <a:gd name="connsiteY3" fmla="*/ 0 h 285225"/>
              <a:gd name="connsiteX0" fmla="*/ 2290194 w 2290194"/>
              <a:gd name="connsiteY0" fmla="*/ 293614 h 293614"/>
              <a:gd name="connsiteX1" fmla="*/ 0 w 2290194"/>
              <a:gd name="connsiteY1" fmla="*/ 293614 h 293614"/>
              <a:gd name="connsiteX2" fmla="*/ 922452 w 2290194"/>
              <a:gd name="connsiteY2" fmla="*/ 0 h 293614"/>
              <a:gd name="connsiteX3" fmla="*/ 2290194 w 2290194"/>
              <a:gd name="connsiteY3" fmla="*/ 8389 h 293614"/>
              <a:gd name="connsiteX0" fmla="*/ 2290194 w 2290194"/>
              <a:gd name="connsiteY0" fmla="*/ 293614 h 293614"/>
              <a:gd name="connsiteX1" fmla="*/ 0 w 2290194"/>
              <a:gd name="connsiteY1" fmla="*/ 293614 h 293614"/>
              <a:gd name="connsiteX2" fmla="*/ 922452 w 2290194"/>
              <a:gd name="connsiteY2" fmla="*/ 0 h 293614"/>
              <a:gd name="connsiteX3" fmla="*/ 2290194 w 2290194"/>
              <a:gd name="connsiteY3" fmla="*/ 8389 h 293614"/>
              <a:gd name="connsiteX0" fmla="*/ 2290194 w 2290194"/>
              <a:gd name="connsiteY0" fmla="*/ 297411 h 297411"/>
              <a:gd name="connsiteX1" fmla="*/ 0 w 2290194"/>
              <a:gd name="connsiteY1" fmla="*/ 297411 h 297411"/>
              <a:gd name="connsiteX2" fmla="*/ 922452 w 2290194"/>
              <a:gd name="connsiteY2" fmla="*/ 3797 h 297411"/>
              <a:gd name="connsiteX3" fmla="*/ 2290194 w 2290194"/>
              <a:gd name="connsiteY3" fmla="*/ 0 h 297411"/>
              <a:gd name="connsiteX0" fmla="*/ 1891899 w 1891899"/>
              <a:gd name="connsiteY0" fmla="*/ 297411 h 309010"/>
              <a:gd name="connsiteX1" fmla="*/ 0 w 1891899"/>
              <a:gd name="connsiteY1" fmla="*/ 309010 h 309010"/>
              <a:gd name="connsiteX2" fmla="*/ 524157 w 1891899"/>
              <a:gd name="connsiteY2" fmla="*/ 3797 h 309010"/>
              <a:gd name="connsiteX3" fmla="*/ 1891899 w 1891899"/>
              <a:gd name="connsiteY3" fmla="*/ 0 h 309010"/>
              <a:gd name="connsiteX0" fmla="*/ 1869772 w 1869772"/>
              <a:gd name="connsiteY0" fmla="*/ 297411 h 297411"/>
              <a:gd name="connsiteX1" fmla="*/ 0 w 1869772"/>
              <a:gd name="connsiteY1" fmla="*/ 297411 h 297411"/>
              <a:gd name="connsiteX2" fmla="*/ 502030 w 1869772"/>
              <a:gd name="connsiteY2" fmla="*/ 3797 h 297411"/>
              <a:gd name="connsiteX3" fmla="*/ 1869772 w 1869772"/>
              <a:gd name="connsiteY3" fmla="*/ 0 h 29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9772" h="297411">
                <a:moveTo>
                  <a:pt x="1869772" y="297411"/>
                </a:moveTo>
                <a:lnTo>
                  <a:pt x="0" y="297411"/>
                </a:lnTo>
                <a:lnTo>
                  <a:pt x="502030" y="3797"/>
                </a:lnTo>
                <a:lnTo>
                  <a:pt x="1869772" y="0"/>
                </a:lnTo>
              </a:path>
            </a:pathLst>
          </a:cu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　　品</a:t>
            </a:r>
          </a:p>
        </p:txBody>
      </p:sp>
      <p:sp>
        <p:nvSpPr>
          <p:cNvPr id="9" name="テキスト ボックス 46">
            <a:extLst>
              <a:ext uri="{FF2B5EF4-FFF2-40B4-BE49-F238E27FC236}">
                <a16:creationId xmlns:a16="http://schemas.microsoft.com/office/drawing/2014/main" id="{41F56A2B-BEBF-4ACA-89F7-2EBCDC717271}"/>
              </a:ext>
            </a:extLst>
          </p:cNvPr>
          <p:cNvSpPr txBox="1"/>
          <p:nvPr/>
        </p:nvSpPr>
        <p:spPr>
          <a:xfrm>
            <a:off x="1787173" y="3213556"/>
            <a:ext cx="135934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23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▼不具合打ち上げ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57">
            <a:extLst>
              <a:ext uri="{FF2B5EF4-FFF2-40B4-BE49-F238E27FC236}">
                <a16:creationId xmlns:a16="http://schemas.microsoft.com/office/drawing/2014/main" id="{1B495ED1-992E-4F85-BE8E-B9D1A9B34483}"/>
              </a:ext>
            </a:extLst>
          </p:cNvPr>
          <p:cNvSpPr txBox="1"/>
          <p:nvPr/>
        </p:nvSpPr>
        <p:spPr>
          <a:xfrm>
            <a:off x="1550709" y="3825916"/>
            <a:ext cx="109485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SIS: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要因分析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51">
            <a:extLst>
              <a:ext uri="{FF2B5EF4-FFF2-40B4-BE49-F238E27FC236}">
                <a16:creationId xmlns:a16="http://schemas.microsoft.com/office/drawing/2014/main" id="{7C50A968-06A3-4445-976D-AF359B03B2C0}"/>
              </a:ext>
            </a:extLst>
          </p:cNvPr>
          <p:cNvSpPr txBox="1"/>
          <p:nvPr/>
        </p:nvSpPr>
        <p:spPr>
          <a:xfrm>
            <a:off x="2814379" y="5122640"/>
            <a:ext cx="179376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▼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SIS: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対策ソフトリリース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51">
            <a:extLst>
              <a:ext uri="{FF2B5EF4-FFF2-40B4-BE49-F238E27FC236}">
                <a16:creationId xmlns:a16="http://schemas.microsoft.com/office/drawing/2014/main" id="{A8795C8C-5009-435A-9A0E-34954FBFC31B}"/>
              </a:ext>
            </a:extLst>
          </p:cNvPr>
          <p:cNvSpPr txBox="1"/>
          <p:nvPr/>
        </p:nvSpPr>
        <p:spPr>
          <a:xfrm>
            <a:off x="7680176" y="3222420"/>
            <a:ext cx="181780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▼品確サンプル生産開始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51">
            <a:extLst>
              <a:ext uri="{FF2B5EF4-FFF2-40B4-BE49-F238E27FC236}">
                <a16:creationId xmlns:a16="http://schemas.microsoft.com/office/drawing/2014/main" id="{F796C660-3446-47DA-8EC5-DD8B23A793E3}"/>
              </a:ext>
            </a:extLst>
          </p:cNvPr>
          <p:cNvSpPr txBox="1"/>
          <p:nvPr/>
        </p:nvSpPr>
        <p:spPr>
          <a:xfrm>
            <a:off x="8184232" y="3647348"/>
            <a:ext cx="145873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▼品確サンプル発送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A9C63AB-E65C-3FD0-2CE1-5E086F03AB5F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E16AFE5-9103-C200-7618-347A50CED633}"/>
              </a:ext>
            </a:extLst>
          </p:cNvPr>
          <p:cNvSpPr/>
          <p:nvPr/>
        </p:nvSpPr>
        <p:spPr bwMode="gray">
          <a:xfrm>
            <a:off x="1127448" y="836712"/>
            <a:ext cx="10729192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以下の日程にて、推進して参ります</a:t>
            </a:r>
            <a:endParaRPr kumimoji="1" lang="en-US" altLang="ja-JP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35F1ED8-6427-7F78-A5AD-14CDA88641BA}"/>
              </a:ext>
            </a:extLst>
          </p:cNvPr>
          <p:cNvSpPr txBox="1"/>
          <p:nvPr/>
        </p:nvSpPr>
        <p:spPr>
          <a:xfrm>
            <a:off x="335360" y="1607987"/>
            <a:ext cx="14362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■品確対応日程：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3515F1C-56C6-76D4-C4B3-EABA4A8B0E0D}"/>
              </a:ext>
            </a:extLst>
          </p:cNvPr>
          <p:cNvCxnSpPr>
            <a:cxnSpLocks/>
          </p:cNvCxnSpPr>
          <p:nvPr/>
        </p:nvCxnSpPr>
        <p:spPr>
          <a:xfrm>
            <a:off x="1919536" y="3789040"/>
            <a:ext cx="364537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57">
            <a:extLst>
              <a:ext uri="{FF2B5EF4-FFF2-40B4-BE49-F238E27FC236}">
                <a16:creationId xmlns:a16="http://schemas.microsoft.com/office/drawing/2014/main" id="{925CB36E-3BD2-9A50-B534-971B71F25BF5}"/>
              </a:ext>
            </a:extLst>
          </p:cNvPr>
          <p:cNvSpPr txBox="1"/>
          <p:nvPr/>
        </p:nvSpPr>
        <p:spPr>
          <a:xfrm>
            <a:off x="1812365" y="4115111"/>
            <a:ext cx="155811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SIS: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ソフト修正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検証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D3059A0-4D60-93B5-A2D1-DEE5F5139C49}"/>
              </a:ext>
            </a:extLst>
          </p:cNvPr>
          <p:cNvCxnSpPr>
            <a:cxnSpLocks/>
          </p:cNvCxnSpPr>
          <p:nvPr/>
        </p:nvCxnSpPr>
        <p:spPr>
          <a:xfrm>
            <a:off x="2194594" y="4078235"/>
            <a:ext cx="733054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57">
            <a:extLst>
              <a:ext uri="{FF2B5EF4-FFF2-40B4-BE49-F238E27FC236}">
                <a16:creationId xmlns:a16="http://schemas.microsoft.com/office/drawing/2014/main" id="{129AD2BD-DBBC-B905-1C1C-5B0DDBF91F13}"/>
              </a:ext>
            </a:extLst>
          </p:cNvPr>
          <p:cNvSpPr txBox="1"/>
          <p:nvPr/>
        </p:nvSpPr>
        <p:spPr>
          <a:xfrm>
            <a:off x="2855640" y="5833874"/>
            <a:ext cx="7421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ソフト検証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9C9974DE-B29D-6E20-D6F2-A28CAD056C1D}"/>
              </a:ext>
            </a:extLst>
          </p:cNvPr>
          <p:cNvCxnSpPr>
            <a:cxnSpLocks/>
          </p:cNvCxnSpPr>
          <p:nvPr/>
        </p:nvCxnSpPr>
        <p:spPr>
          <a:xfrm>
            <a:off x="2879324" y="5796998"/>
            <a:ext cx="1056436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28CFE902-BCB5-73F6-4746-D9BAD0DB93D5}"/>
              </a:ext>
            </a:extLst>
          </p:cNvPr>
          <p:cNvCxnSpPr>
            <a:cxnSpLocks/>
          </p:cNvCxnSpPr>
          <p:nvPr/>
        </p:nvCxnSpPr>
        <p:spPr>
          <a:xfrm>
            <a:off x="2879324" y="4365104"/>
            <a:ext cx="0" cy="7272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6">
            <a:extLst>
              <a:ext uri="{FF2B5EF4-FFF2-40B4-BE49-F238E27FC236}">
                <a16:creationId xmlns:a16="http://schemas.microsoft.com/office/drawing/2014/main" id="{E7259DBE-B6AF-45BA-B7F7-E96DAEBFBFD6}"/>
              </a:ext>
            </a:extLst>
          </p:cNvPr>
          <p:cNvCxnSpPr>
            <a:cxnSpLocks/>
          </p:cNvCxnSpPr>
          <p:nvPr/>
        </p:nvCxnSpPr>
        <p:spPr>
          <a:xfrm>
            <a:off x="3407542" y="4115111"/>
            <a:ext cx="1536330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57">
            <a:extLst>
              <a:ext uri="{FF2B5EF4-FFF2-40B4-BE49-F238E27FC236}">
                <a16:creationId xmlns:a16="http://schemas.microsoft.com/office/drawing/2014/main" id="{6AD03840-226E-4A17-953B-59EEDCC9621B}"/>
              </a:ext>
            </a:extLst>
          </p:cNvPr>
          <p:cNvSpPr txBox="1"/>
          <p:nvPr/>
        </p:nvSpPr>
        <p:spPr>
          <a:xfrm>
            <a:off x="3478779" y="3845978"/>
            <a:ext cx="122309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類似防止の点検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51">
            <a:extLst>
              <a:ext uri="{FF2B5EF4-FFF2-40B4-BE49-F238E27FC236}">
                <a16:creationId xmlns:a16="http://schemas.microsoft.com/office/drawing/2014/main" id="{9C370F5A-B623-4639-91D0-14C6702A9D31}"/>
              </a:ext>
            </a:extLst>
          </p:cNvPr>
          <p:cNvSpPr txBox="1"/>
          <p:nvPr/>
        </p:nvSpPr>
        <p:spPr>
          <a:xfrm>
            <a:off x="6807572" y="5438599"/>
            <a:ext cx="107721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5/8</a:t>
            </a: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▼品確判断会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058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納入済み 段確車両への対応</a:t>
            </a:r>
            <a:endParaRPr lang="ja-JP" altLang="zh-CN" dirty="0">
              <a:latin typeface="Arial" panose="020B0604020202020204" pitchFamily="34" charset="0"/>
              <a:ea typeface="Meiryo UI" panose="020B0604030504040204" pitchFamily="50" charset="-128"/>
              <a:cs typeface="STHeiti Light" charset="-122"/>
              <a:sym typeface="+mn-ea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A5C232-5DB9-6E7D-3A86-D267B51A7E17}"/>
              </a:ext>
            </a:extLst>
          </p:cNvPr>
          <p:cNvSpPr/>
          <p:nvPr/>
        </p:nvSpPr>
        <p:spPr bwMode="gray">
          <a:xfrm>
            <a:off x="335360" y="836712"/>
            <a:ext cx="792088" cy="584163"/>
          </a:xfrm>
          <a:prstGeom prst="rect">
            <a:avLst/>
          </a:prstGeom>
          <a:solidFill>
            <a:srgbClr val="0376C6"/>
          </a:solidFill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Point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EEB7927-216A-292C-6803-5FBBBEC0FC6C}"/>
              </a:ext>
            </a:extLst>
          </p:cNvPr>
          <p:cNvSpPr/>
          <p:nvPr/>
        </p:nvSpPr>
        <p:spPr bwMode="gray">
          <a:xfrm>
            <a:off x="1127448" y="836712"/>
            <a:ext cx="10729192" cy="584163"/>
          </a:xfrm>
          <a:prstGeom prst="rect">
            <a:avLst/>
          </a:prstGeom>
          <a:noFill/>
          <a:ln w="38100">
            <a:solidFill>
              <a:srgbClr val="0376C6"/>
            </a:solidFill>
            <a:miter lim="800000"/>
          </a:ln>
        </p:spPr>
        <p:txBody>
          <a:bodyPr wrap="none" rtlCol="0" anchor="ctr"/>
          <a:lstStyle/>
          <a:p>
            <a:r>
              <a:rPr kumimoji="1" lang="ja-JP" altLang="en-US" sz="1600" b="1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Wingdings" panose="05000000000000000000" pitchFamily="2" charset="2"/>
              </a:rPr>
              <a:t>以下の日程にて、推進して参ります</a:t>
            </a:r>
            <a:endParaRPr kumimoji="1" lang="en-US" altLang="ja-JP" sz="1600" b="1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469BBA6-A2C3-EFD4-E057-AECEC9870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77745"/>
              </p:ext>
            </p:extLst>
          </p:nvPr>
        </p:nvGraphicFramePr>
        <p:xfrm>
          <a:off x="551384" y="1916832"/>
          <a:ext cx="81280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183663704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05816734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831719693"/>
                    </a:ext>
                  </a:extLst>
                </a:gridCol>
                <a:gridCol w="4887640">
                  <a:extLst>
                    <a:ext uri="{9D8B030D-6E8A-4147-A177-3AD203B41FA5}">
                      <a16:colId xmlns:a16="http://schemas.microsoft.com/office/drawing/2014/main" val="2105679305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工場</a:t>
                      </a:r>
                    </a:p>
                  </a:txBody>
                  <a:tcPr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車種</a:t>
                      </a:r>
                    </a:p>
                  </a:txBody>
                  <a:tcPr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数量</a:t>
                      </a:r>
                    </a:p>
                  </a:txBody>
                  <a:tcPr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</a:p>
                  </a:txBody>
                  <a:tcPr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567692"/>
                  </a:ext>
                </a:extLst>
              </a:tr>
              <a:tr h="119188"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Jss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T20T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STG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サーバ側対応版：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量産版＋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SecureBoot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なし：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73939"/>
                  </a:ext>
                </a:extLst>
              </a:tr>
              <a:tr h="119188"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Sss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3M0X(3N0)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量産版＋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SecureBoot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868732"/>
                  </a:ext>
                </a:extLst>
              </a:tr>
              <a:tr h="119188"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TZAR(TZBP)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量産版＋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SecureBoot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18946"/>
                  </a:ext>
                </a:extLst>
              </a:tr>
              <a:tr h="119188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GHAC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3A0V</a:t>
                      </a: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量産版＋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SecureBoot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78921"/>
                  </a:ext>
                </a:extLst>
              </a:tr>
              <a:tr h="119188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WDHAC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3A0V</a:t>
                      </a:r>
                      <a:endParaRPr kumimoji="1" lang="ja-JP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50" charset="-128"/>
                        <a:ea typeface="Meiryo UI" panose="020B0604030504040204" pitchFamily="50" charset="-128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量産版＋</a:t>
                      </a: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SecureBoot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465761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43E3D3-6EB2-4B04-A4A8-F66D6879D862}"/>
              </a:ext>
            </a:extLst>
          </p:cNvPr>
          <p:cNvSpPr txBox="1"/>
          <p:nvPr/>
        </p:nvSpPr>
        <p:spPr>
          <a:xfrm>
            <a:off x="335360" y="1607987"/>
            <a:ext cx="268022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■段確サンプル一覧：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トータル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30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台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00DBC1-4A2A-A03C-295E-477F5BC7C686}"/>
              </a:ext>
            </a:extLst>
          </p:cNvPr>
          <p:cNvSpPr txBox="1"/>
          <p:nvPr/>
        </p:nvSpPr>
        <p:spPr>
          <a:xfrm>
            <a:off x="335360" y="4428474"/>
            <a:ext cx="14362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■段確車両対応：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  <a:cs typeface="STHeiti Light" charset="-12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0936BA9-3AA2-EC7F-3819-571DC289E48C}"/>
              </a:ext>
            </a:extLst>
          </p:cNvPr>
          <p:cNvSpPr txBox="1"/>
          <p:nvPr/>
        </p:nvSpPr>
        <p:spPr>
          <a:xfrm>
            <a:off x="479376" y="4758532"/>
            <a:ext cx="8529579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・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USB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リプロでの対応：不可</a:t>
            </a:r>
            <a:b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理由：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DA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側仕様により、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USB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リプロの最大サイズは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31MB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となっているため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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4/3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リリースバージョンでは、最新の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SDK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を採用しているため、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USB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リプロファイルのサイズは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lang="en-US" altLang="zh-CN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MB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程度となっているため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・対応方法：別途ご相談させてください</a:t>
            </a:r>
            <a:endParaRPr lang="en-US" altLang="zh-CN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214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zh-CN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問題事象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再現手順</a:t>
            </a:r>
            <a:r>
              <a:rPr lang="ja-JP" altLang="zh-CN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：</a:t>
            </a:r>
            <a:r>
              <a:rPr lang="en-US" altLang="zh-CN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GALETTE-1111(JPCRVB-1148)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5270" y="909320"/>
            <a:ext cx="11651615" cy="54425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0170" tIns="46990" rIns="90170" bIns="46990" rtlCol="0">
            <a:noAutofit/>
          </a:bodyPr>
          <a:lstStyle/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前提条件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Precondition :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TSU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pref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モードである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TSU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HAC NAVI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YOP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ケーブルで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接続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されている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+B/ACC/IG-On</a:t>
            </a:r>
          </a:p>
          <a:p>
            <a:pPr algn="l"/>
            <a:endParaRPr kumimoji="1" lang="en-US" altLang="zh-CN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操作手順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再現手順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Operation procedure</a:t>
            </a:r>
            <a:r>
              <a:rPr kumimoji="1" lang="en-US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 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: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手順：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1.ACC/IG-Off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2.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手順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約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秒後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ACC-On</a:t>
            </a:r>
          </a:p>
          <a:p>
            <a:pPr algn="l"/>
            <a:endParaRPr kumimoji="1" lang="en-US" altLang="zh-CN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期待動作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Expected behavior</a:t>
            </a:r>
            <a:r>
              <a:rPr kumimoji="1" lang="en-US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 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:</a:t>
            </a: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TSU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は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On mode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以外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On mode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へ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遷移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すると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Boot up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LED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動作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をする</a:t>
            </a:r>
          </a:p>
          <a:p>
            <a:pPr algn="l"/>
            <a:endParaRPr kumimoji="1" lang="en-US" altLang="zh-CN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l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④不具合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動作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Current behavior</a:t>
            </a:r>
            <a:r>
              <a:rPr kumimoji="1" lang="en-US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 </a:t>
            </a:r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:</a:t>
            </a:r>
          </a:p>
          <a:p>
            <a:pPr algn="l"/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+B-On</a:t>
            </a:r>
            <a:r>
              <a:rPr kumimoji="1" lang="zh-CN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ACC/IG-Off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zh-CN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状態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から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On mode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にしても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Boot up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LED</a:t>
            </a:r>
            <a:r>
              <a:rPr kumimoji="1" lang="zh-CN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動作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をせず</a:t>
            </a:r>
            <a:r>
              <a:rPr kumimoji="1" lang="zh-CN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すぐに</a:t>
            </a:r>
            <a:r>
              <a:rPr kumimoji="1" lang="zh-CN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緑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LED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</a:t>
            </a:r>
            <a:r>
              <a:rPr kumimoji="1" lang="zh-CN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点灯</a:t>
            </a:r>
            <a:r>
              <a:rPr kumimoji="1" lang="ja-JP" altLang="en-US" sz="16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</a:t>
            </a:r>
          </a:p>
          <a:p>
            <a:pPr algn="l"/>
            <a:endParaRPr kumimoji="1" lang="en-US" altLang="zh-CN" sz="1600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l"/>
            <a:r>
              <a:rPr kumimoji="1" lang="en-US" altLang="zh-CN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机上環境、実車環境共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同様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動作</a:t>
            </a:r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をしております</a:t>
            </a:r>
            <a:r>
              <a:rPr kumimoji="1" lang="zh-CN" altLang="en-US" sz="16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zh-CN" dirty="0"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  <a:sym typeface="+mn-ea"/>
              </a:rPr>
              <a:t>設計仕様と問題箇所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509420"/>
              </p:ext>
            </p:extLst>
          </p:nvPr>
        </p:nvGraphicFramePr>
        <p:xfrm>
          <a:off x="407670" y="1772816"/>
          <a:ext cx="11097260" cy="2905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2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33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#</a:t>
                      </a: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ACC</a:t>
                      </a: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USBV</a:t>
                      </a: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  <a:sym typeface="+mn-ea"/>
                        </a:rPr>
                        <a:t>TSU</a:t>
                      </a: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  <a:sym typeface="+mn-ea"/>
                        </a:rPr>
                        <a:t>ecall</a:t>
                      </a: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  <a:sym typeface="+mn-ea"/>
                        </a:rPr>
                        <a:t> state</a:t>
                      </a: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  <a:sym typeface="+mn-ea"/>
                        </a:rPr>
                        <a:t>Boot upLED</a:t>
                      </a:r>
                      <a:endParaRPr lang="en-US" altLang="ja-JP" sz="1400" dirty="0"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solidFill>
                      <a:srgbClr val="037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176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zh-CN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 dirty="0">
                        <a:solidFill>
                          <a:srgbClr val="0000FF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 err="1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LowPower</a:t>
                      </a:r>
                      <a:endParaRPr lang="en-US" altLang="zh-CN" sz="1400" dirty="0">
                        <a:solidFill>
                          <a:srgbClr val="0000FF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dirty="0">
                          <a:solidFill>
                            <a:srgbClr val="0000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 dirty="0">
                        <a:solidFill>
                          <a:srgbClr val="0000FF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7077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81635" y="672614"/>
            <a:ext cx="11294110" cy="11722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kumimoji="1" lang="ja-JP" altLang="zh-CN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■設計仕様</a:t>
            </a:r>
          </a:p>
          <a:p>
            <a:pPr algn="l"/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TSU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は</a:t>
            </a:r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 mode</a:t>
            </a:r>
            <a:r>
              <a:rPr kumimoji="1" lang="zh-CN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以外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から</a:t>
            </a:r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 mode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へ</a:t>
            </a:r>
            <a:r>
              <a:rPr kumimoji="1" lang="zh-CN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遷移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すると</a:t>
            </a:r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 up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の</a:t>
            </a:r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LED</a:t>
            </a:r>
            <a:r>
              <a:rPr kumimoji="1" lang="zh-CN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動作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をする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l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“On mode”= ACC On or IG On or USBV 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6880" y="4978861"/>
            <a:ext cx="11294110" cy="13304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kumimoji="1" lang="ja-JP" altLang="zh-CN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■処理の仕組み</a:t>
            </a:r>
          </a:p>
          <a:p>
            <a:pPr algn="l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TSU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が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“On mode”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状態になったとき、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eCall state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を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Idle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に設定してから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と</a:t>
            </a:r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 up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の</a:t>
            </a:r>
            <a:r>
              <a:rPr kumimoji="1" lang="en-US" altLang="zh-CN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LED</a:t>
            </a:r>
            <a:r>
              <a:rPr kumimoji="1" lang="ja-JP" altLang="en-US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を点滅させる。</a:t>
            </a:r>
          </a:p>
          <a:p>
            <a:pPr algn="l"/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問題ケース：</a:t>
            </a:r>
            <a:b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</a:b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ACC/IG On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　⇒ </a:t>
            </a: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にすると場合、</a:t>
            </a: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状態</a:t>
            </a: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から</a:t>
            </a: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に遷移する時</a:t>
            </a: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(#5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⇒</a:t>
            </a:r>
            <a:r>
              <a:rPr kumimoji="1" lang="en-US" altLang="ja-JP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#6) </a:t>
            </a:r>
            <a:r>
              <a:rPr kumimoji="1" lang="ja-JP" altLang="en-US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ecall</a:t>
            </a:r>
            <a:r>
              <a:rPr lang="en-US" altLang="zh-CN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 state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を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Idle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から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Off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に遷移させていない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3352" y="145098"/>
            <a:ext cx="11521280" cy="344559"/>
          </a:xfrm>
        </p:spPr>
        <p:txBody>
          <a:bodyPr/>
          <a:lstStyle/>
          <a:p>
            <a:r>
              <a:rPr lang="ja-JP" altLang="zh-CN" dirty="0">
                <a:latin typeface="Arial" panose="020B0604020202020204" pitchFamily="34" charset="0"/>
                <a:ea typeface="Meiryo UI" panose="020B0604030504040204" pitchFamily="50" charset="-128"/>
                <a:cs typeface="Meiryo UI" panose="020B0604030504040204" pitchFamily="50" charset="-128"/>
                <a:sym typeface="+mn-ea"/>
              </a:rPr>
              <a:t>サマリー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8780" y="981075"/>
            <a:ext cx="5467350" cy="5117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6990" tIns="46990" rIns="46990" bIns="46990" rtlCol="0">
            <a:noAutofit/>
          </a:bodyPr>
          <a:lstStyle/>
          <a:p>
            <a:pPr algn="l"/>
            <a:r>
              <a:rPr kumimoji="1" lang="ja-JP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■問題事象</a:t>
            </a:r>
          </a:p>
          <a:p>
            <a:pPr algn="l"/>
            <a:r>
              <a:rPr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GALETTE-1111</a:t>
            </a:r>
            <a:r>
              <a:rPr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　</a:t>
            </a:r>
            <a:r>
              <a:rPr kumimoji="1" lang="zh-CN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【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3A0V</a:t>
            </a:r>
            <a:r>
              <a:rPr kumimoji="1" lang="zh-CN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】【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NGeCall</a:t>
            </a:r>
            <a:r>
              <a:rPr kumimoji="1" lang="zh-CN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】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+B-On</a:t>
            </a:r>
            <a:r>
              <a:rPr kumimoji="1" lang="zh-CN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、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ACC/IG-Off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の</a:t>
            </a:r>
            <a:r>
              <a:rPr kumimoji="1" lang="zh-CN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状態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から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On mode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にしても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Boot up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の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LED</a:t>
            </a:r>
            <a:r>
              <a:rPr kumimoji="1" lang="zh-CN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動作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をしない</a:t>
            </a:r>
          </a:p>
          <a:p>
            <a:pPr algn="l"/>
            <a:endParaRPr kumimoji="1" lang="ja-JP" altLang="en-US" sz="1600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■問題原因</a:t>
            </a:r>
            <a:b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</a:b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ACC/IG Off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の状態で、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DA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側の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VBUS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の状態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On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⇒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Off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に切り替え時、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E-CALL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の状態が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Off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モードに設定していないため、次回起動する時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(ACC/IG On)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時、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E-CALL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の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boot up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処理が実施されていない、緑、赤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LED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が動作していない。</a:t>
            </a:r>
            <a:b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</a:b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※VBUS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の制御ロジックを追加する時、問題を混入しました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(251124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のリリース</a:t>
            </a:r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)</a:t>
            </a:r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。</a:t>
            </a:r>
            <a:endParaRPr kumimoji="1" lang="ja-JP" altLang="en-US" sz="1600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endParaRPr kumimoji="1" lang="ja-JP" altLang="en-US" sz="1600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■対策日</a:t>
            </a:r>
          </a:p>
          <a:p>
            <a:pPr algn="l"/>
            <a:r>
              <a:rPr kumimoji="1"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2026/4/3</a:t>
            </a:r>
          </a:p>
          <a:p>
            <a:pPr algn="l"/>
            <a:endParaRPr kumimoji="1" lang="ja-JP" altLang="en-US" sz="1600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r>
              <a:rPr kumimoji="1"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■問題バージョン</a:t>
            </a:r>
          </a:p>
          <a:p>
            <a:pPr algn="l"/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TSU </a:t>
            </a:r>
            <a:r>
              <a:rPr kumimoji="1" lang="en-US" altLang="zh-CN" sz="1600" dirty="0" err="1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ver</a:t>
            </a:r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 : DG608.17.03/01.00.00</a:t>
            </a:r>
          </a:p>
          <a:p>
            <a:pPr algn="l"/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          ※8B110-3A0V-G6**-M1</a:t>
            </a:r>
          </a:p>
          <a:p>
            <a:pPr algn="l"/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MCU : E27V0.F03.12-T</a:t>
            </a:r>
          </a:p>
          <a:p>
            <a:pPr algn="l"/>
            <a:r>
              <a:rPr kumimoji="1" lang="en-US" altLang="zh-CN" sz="1600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5G-APP : E27.30.0.300.059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94095" y="980440"/>
            <a:ext cx="5467350" cy="5117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46990" tIns="46990" rIns="46990" bIns="46990" rtlCol="0">
            <a:noAutofit/>
          </a:bodyPr>
          <a:lstStyle/>
          <a:p>
            <a:pPr algn="l"/>
            <a:r>
              <a:rPr kumimoji="1" lang="ja-JP" altLang="en-US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■対策状況</a:t>
            </a:r>
          </a:p>
          <a:p>
            <a:pPr algn="l"/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2026/4/3 </a:t>
            </a:r>
            <a:r>
              <a:rPr kumimoji="1" lang="ja-JP" altLang="en-US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修正済み</a:t>
            </a:r>
          </a:p>
          <a:p>
            <a:pPr algn="l"/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build-time=2026-04-02 22:37:52</a:t>
            </a:r>
          </a:p>
          <a:p>
            <a:pPr algn="l"/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version=E27.30.0.300.059</a:t>
            </a:r>
          </a:p>
          <a:p>
            <a:pPr algn="l"/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mcu_ver : E27V0.T03.12-T</a:t>
            </a:r>
          </a:p>
          <a:p>
            <a:pPr algn="l"/>
            <a:endParaRPr kumimoji="1" lang="en-US" altLang="zh-CN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r>
              <a:rPr kumimoji="1" lang="ja-JP" altLang="en-US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■効果確認</a:t>
            </a:r>
          </a:p>
          <a:p>
            <a:pPr algn="l"/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2026/3/27 SIS</a:t>
            </a:r>
            <a:r>
              <a:rPr kumimoji="1" lang="ja-JP" altLang="en-US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内部事前効果確認済み</a:t>
            </a:r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(</a:t>
            </a:r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JPCRVB-1148)</a:t>
            </a:r>
          </a:p>
          <a:p>
            <a:pPr algn="l"/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2026/4/7 Honda</a:t>
            </a:r>
            <a:r>
              <a:rPr kumimoji="1" lang="ja-JP" altLang="en-US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様効果確認済み</a:t>
            </a:r>
            <a:r>
              <a:rPr kumimoji="1" lang="en-US" altLang="ja-JP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(</a:t>
            </a:r>
            <a:r>
              <a:rPr kumimoji="1"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  <a:sym typeface="+mn-ea"/>
              </a:rPr>
              <a:t>GALETTE-1111)</a:t>
            </a:r>
            <a:endParaRPr kumimoji="1" lang="en-US" altLang="zh-CN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algn="l"/>
            <a:endParaRPr kumimoji="1" lang="ja-JP" altLang="en-US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3525" y="145415"/>
            <a:ext cx="12448540" cy="344805"/>
          </a:xfrm>
        </p:spPr>
        <p:txBody>
          <a:bodyPr/>
          <a:lstStyle/>
          <a:p>
            <a:r>
              <a:rPr lang="ja-JP" altLang="zh-CN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原因対策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91770" y="674370"/>
            <a:ext cx="11727815" cy="4800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概要：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 </a:t>
            </a:r>
            <a:r>
              <a:rPr lang="en-US" altLang="ja-JP" sz="1600" b="1" dirty="0" err="1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On→Off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時に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eCall App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にて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eCall state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に切替えていない為次回</a:t>
            </a:r>
            <a:r>
              <a:rPr lang="en-US" altLang="ja-JP" sz="1600" b="1" dirty="0" err="1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Onmode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に遷移時に「</a:t>
            </a:r>
            <a:r>
              <a:rPr lang="en-US" altLang="ja-JP" sz="1600" b="1" dirty="0" err="1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Off→On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mode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の変化」が検出できず、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bootup LED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を点滅させていない。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3030394" y="1959610"/>
            <a:ext cx="755650" cy="4320000"/>
            <a:chOff x="7373" y="2408"/>
            <a:chExt cx="1190" cy="5625"/>
          </a:xfrm>
        </p:grpSpPr>
        <p:sp>
          <p:nvSpPr>
            <p:cNvPr id="17" name="矩形 16"/>
            <p:cNvSpPr/>
            <p:nvPr/>
          </p:nvSpPr>
          <p:spPr>
            <a:xfrm>
              <a:off x="7373" y="2408"/>
              <a:ext cx="1191" cy="5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ja-JP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eCallApp</a:t>
              </a:r>
            </a:p>
          </p:txBody>
        </p:sp>
        <p:cxnSp>
          <p:nvCxnSpPr>
            <p:cNvPr id="36" name="直接连接符 35"/>
            <p:cNvCxnSpPr>
              <a:stCxn id="17" idx="2"/>
            </p:cNvCxnSpPr>
            <p:nvPr/>
          </p:nvCxnSpPr>
          <p:spPr>
            <a:xfrm>
              <a:off x="7968" y="2931"/>
              <a:ext cx="0" cy="510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4667761" y="1959610"/>
            <a:ext cx="540000" cy="4607560"/>
            <a:chOff x="14589" y="3246"/>
            <a:chExt cx="1360" cy="7256"/>
          </a:xfrm>
        </p:grpSpPr>
        <p:sp>
          <p:nvSpPr>
            <p:cNvPr id="41" name="矩形 40"/>
            <p:cNvSpPr/>
            <p:nvPr/>
          </p:nvSpPr>
          <p:spPr>
            <a:xfrm>
              <a:off x="14589" y="3246"/>
              <a:ext cx="1360" cy="45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LED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15270" y="3699"/>
              <a:ext cx="0" cy="6803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2089150" y="1959610"/>
            <a:ext cx="504000" cy="4607560"/>
            <a:chOff x="11301" y="3246"/>
            <a:chExt cx="1360" cy="7256"/>
          </a:xfrm>
        </p:grpSpPr>
        <p:sp>
          <p:nvSpPr>
            <p:cNvPr id="48" name="矩形 47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H/U</a:t>
              </a:r>
            </a:p>
          </p:txBody>
        </p:sp>
        <p:cxnSp>
          <p:nvCxnSpPr>
            <p:cNvPr id="49" name="直接连接符 48"/>
            <p:cNvCxnSpPr>
              <a:stCxn id="48" idx="2"/>
            </p:cNvCxnSpPr>
            <p:nvPr/>
          </p:nvCxnSpPr>
          <p:spPr>
            <a:xfrm>
              <a:off x="11981" y="3699"/>
              <a:ext cx="0" cy="680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矩形 59"/>
          <p:cNvSpPr/>
          <p:nvPr/>
        </p:nvSpPr>
        <p:spPr>
          <a:xfrm>
            <a:off x="2753534" y="1836420"/>
            <a:ext cx="1106805" cy="627380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 altLang="zh-CN" sz="1000" dirty="0">
              <a:solidFill>
                <a:schemeClr val="tx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953559" y="1630045"/>
            <a:ext cx="540000" cy="29718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TSU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096197" y="4067290"/>
            <a:ext cx="1298575" cy="2190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 On-&gt;Off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816410" y="3090886"/>
            <a:ext cx="928370" cy="1390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8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cxnSp>
        <p:nvCxnSpPr>
          <p:cNvPr id="66" name="直接箭头连接符 65"/>
          <p:cNvCxnSpPr>
            <a:cxnSpLocks/>
          </p:cNvCxnSpPr>
          <p:nvPr/>
        </p:nvCxnSpPr>
        <p:spPr>
          <a:xfrm flipV="1">
            <a:off x="2343596" y="4496378"/>
            <a:ext cx="907049" cy="1318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3531203" y="4210685"/>
            <a:ext cx="1193165" cy="37845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MIC/SPKR</a:t>
            </a:r>
          </a:p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LED display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1448435" y="1957070"/>
            <a:ext cx="432000" cy="4607560"/>
            <a:chOff x="11301" y="3246"/>
            <a:chExt cx="1360" cy="7256"/>
          </a:xfrm>
        </p:grpSpPr>
        <p:sp>
          <p:nvSpPr>
            <p:cNvPr id="70" name="矩形 69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USER</a:t>
              </a:r>
            </a:p>
          </p:txBody>
        </p:sp>
        <p:cxnSp>
          <p:nvCxnSpPr>
            <p:cNvPr id="71" name="直接连接符 70"/>
            <p:cNvCxnSpPr>
              <a:stCxn id="70" idx="2"/>
            </p:cNvCxnSpPr>
            <p:nvPr/>
          </p:nvCxnSpPr>
          <p:spPr>
            <a:xfrm>
              <a:off x="11981" y="3699"/>
              <a:ext cx="0" cy="680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/>
          <p:cNvSpPr txBox="1"/>
          <p:nvPr/>
        </p:nvSpPr>
        <p:spPr>
          <a:xfrm>
            <a:off x="3511219" y="2708920"/>
            <a:ext cx="848522" cy="2470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E-CALL State </a:t>
            </a:r>
            <a:b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</a:br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Off-&gt;“IDLE”</a:t>
            </a:r>
          </a:p>
        </p:txBody>
      </p:sp>
      <p:cxnSp>
        <p:nvCxnSpPr>
          <p:cNvPr id="80" name="直接箭头连接符 79"/>
          <p:cNvCxnSpPr>
            <a:cxnSpLocks/>
          </p:cNvCxnSpPr>
          <p:nvPr/>
        </p:nvCxnSpPr>
        <p:spPr>
          <a:xfrm flipV="1">
            <a:off x="3508570" y="3245904"/>
            <a:ext cx="1366201" cy="1651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3319954" y="2783842"/>
            <a:ext cx="140937" cy="2419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80485" y="4670275"/>
            <a:ext cx="172721" cy="3429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549016" y="3141980"/>
            <a:ext cx="990600" cy="156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kumimoji="1" lang="ja-JP" altLang="zh-CN" sz="1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zh-CN" sz="1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</a:p>
        </p:txBody>
      </p:sp>
      <p:sp>
        <p:nvSpPr>
          <p:cNvPr id="98" name="矩形 97"/>
          <p:cNvSpPr/>
          <p:nvPr/>
        </p:nvSpPr>
        <p:spPr>
          <a:xfrm>
            <a:off x="3364404" y="5298440"/>
            <a:ext cx="108000" cy="18000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655219" y="5388440"/>
            <a:ext cx="1216660" cy="496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“IDLE” state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 state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に設定していない</a:t>
            </a:r>
          </a:p>
        </p:txBody>
      </p:sp>
      <p:sp>
        <p:nvSpPr>
          <p:cNvPr id="103" name="矩形 102"/>
          <p:cNvSpPr/>
          <p:nvPr/>
        </p:nvSpPr>
        <p:spPr>
          <a:xfrm>
            <a:off x="948690" y="1268730"/>
            <a:ext cx="4715510" cy="51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09320" y="1325245"/>
            <a:ext cx="1373505" cy="3733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＜修正前＞</a:t>
            </a:r>
          </a:p>
        </p:txBody>
      </p:sp>
      <p:cxnSp>
        <p:nvCxnSpPr>
          <p:cNvPr id="164" name="直接连接符 163"/>
          <p:cNvCxnSpPr/>
          <p:nvPr/>
        </p:nvCxnSpPr>
        <p:spPr>
          <a:xfrm>
            <a:off x="2229034" y="3789680"/>
            <a:ext cx="0" cy="684000"/>
          </a:xfrm>
          <a:prstGeom prst="line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1736826" y="3935094"/>
            <a:ext cx="623670" cy="2431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約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6 sec</a:t>
            </a:r>
          </a:p>
        </p:txBody>
      </p:sp>
      <p:cxnSp>
        <p:nvCxnSpPr>
          <p:cNvPr id="166" name="直接箭头连接符 165"/>
          <p:cNvCxnSpPr/>
          <p:nvPr/>
        </p:nvCxnSpPr>
        <p:spPr>
          <a:xfrm>
            <a:off x="1268730" y="2709545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/>
          <p:nvPr/>
        </p:nvCxnSpPr>
        <p:spPr>
          <a:xfrm>
            <a:off x="1630680" y="2709545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8" name="文本框 167"/>
          <p:cNvSpPr txBox="1"/>
          <p:nvPr/>
        </p:nvSpPr>
        <p:spPr>
          <a:xfrm>
            <a:off x="913130" y="2421255"/>
            <a:ext cx="1615440" cy="2139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1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+B/ACC/IG On</a:t>
            </a:r>
          </a:p>
        </p:txBody>
      </p:sp>
      <p:cxnSp>
        <p:nvCxnSpPr>
          <p:cNvPr id="169" name="直接箭头连接符 168"/>
          <p:cNvCxnSpPr/>
          <p:nvPr/>
        </p:nvCxnSpPr>
        <p:spPr>
          <a:xfrm>
            <a:off x="1252220" y="3769360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>
            <a:off x="1685925" y="3769360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768823" y="3481070"/>
            <a:ext cx="1049209" cy="2266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ACC/IG Off</a:t>
            </a:r>
          </a:p>
        </p:txBody>
      </p:sp>
      <p:cxnSp>
        <p:nvCxnSpPr>
          <p:cNvPr id="172" name="直接箭头连接符 171"/>
          <p:cNvCxnSpPr/>
          <p:nvPr/>
        </p:nvCxnSpPr>
        <p:spPr>
          <a:xfrm>
            <a:off x="1252220" y="5204460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/>
        </p:nvCxnSpPr>
        <p:spPr>
          <a:xfrm>
            <a:off x="1685925" y="5204460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4" name="文本框 173"/>
          <p:cNvSpPr txBox="1"/>
          <p:nvPr/>
        </p:nvSpPr>
        <p:spPr>
          <a:xfrm>
            <a:off x="896620" y="4916170"/>
            <a:ext cx="1442085" cy="2139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2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ACC/IG On</a:t>
            </a:r>
          </a:p>
        </p:txBody>
      </p:sp>
      <p:cxnSp>
        <p:nvCxnSpPr>
          <p:cNvPr id="175" name="直接箭头连接符 174"/>
          <p:cNvCxnSpPr>
            <a:cxnSpLocks/>
            <a:endCxn id="89" idx="0"/>
          </p:cNvCxnSpPr>
          <p:nvPr/>
        </p:nvCxnSpPr>
        <p:spPr>
          <a:xfrm flipV="1">
            <a:off x="3416568" y="4670275"/>
            <a:ext cx="1550278" cy="2723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乘号 176"/>
          <p:cNvSpPr/>
          <p:nvPr/>
        </p:nvSpPr>
        <p:spPr>
          <a:xfrm>
            <a:off x="2711624" y="4651375"/>
            <a:ext cx="547370" cy="534670"/>
          </a:xfrm>
          <a:prstGeom prst="mathMultiply">
            <a:avLst/>
          </a:prstGeom>
          <a:solidFill>
            <a:srgbClr val="FF0000"/>
          </a:solidFill>
          <a:ln w="19050">
            <a:solidFill>
              <a:srgbClr val="FF0000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8755380" y="1943100"/>
            <a:ext cx="756285" cy="4328160"/>
            <a:chOff x="7373" y="2408"/>
            <a:chExt cx="1191" cy="6816"/>
          </a:xfrm>
        </p:grpSpPr>
        <p:sp>
          <p:nvSpPr>
            <p:cNvPr id="180" name="矩形 179"/>
            <p:cNvSpPr/>
            <p:nvPr/>
          </p:nvSpPr>
          <p:spPr>
            <a:xfrm>
              <a:off x="7373" y="2408"/>
              <a:ext cx="1191" cy="5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ja-JP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eCallApp</a:t>
              </a:r>
            </a:p>
          </p:txBody>
        </p:sp>
        <p:cxnSp>
          <p:nvCxnSpPr>
            <p:cNvPr id="181" name="直接连接符 180"/>
            <p:cNvCxnSpPr>
              <a:stCxn id="180" idx="2"/>
            </p:cNvCxnSpPr>
            <p:nvPr/>
          </p:nvCxnSpPr>
          <p:spPr>
            <a:xfrm>
              <a:off x="7968" y="2931"/>
              <a:ext cx="0" cy="629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组合 181"/>
          <p:cNvGrpSpPr/>
          <p:nvPr/>
        </p:nvGrpSpPr>
        <p:grpSpPr>
          <a:xfrm>
            <a:off x="9669780" y="1943100"/>
            <a:ext cx="540000" cy="4355465"/>
            <a:chOff x="14589" y="3246"/>
            <a:chExt cx="1360" cy="6859"/>
          </a:xfrm>
        </p:grpSpPr>
        <p:sp>
          <p:nvSpPr>
            <p:cNvPr id="183" name="矩形 182"/>
            <p:cNvSpPr/>
            <p:nvPr/>
          </p:nvSpPr>
          <p:spPr>
            <a:xfrm>
              <a:off x="14589" y="3246"/>
              <a:ext cx="1360" cy="45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LED</a:t>
              </a:r>
            </a:p>
          </p:txBody>
        </p:sp>
        <p:cxnSp>
          <p:nvCxnSpPr>
            <p:cNvPr id="184" name="直接连接符 183"/>
            <p:cNvCxnSpPr/>
            <p:nvPr/>
          </p:nvCxnSpPr>
          <p:spPr>
            <a:xfrm>
              <a:off x="15270" y="3699"/>
              <a:ext cx="0" cy="6406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组合 184"/>
          <p:cNvGrpSpPr/>
          <p:nvPr/>
        </p:nvGrpSpPr>
        <p:grpSpPr>
          <a:xfrm>
            <a:off x="7454265" y="1943100"/>
            <a:ext cx="504000" cy="4247515"/>
            <a:chOff x="11301" y="3246"/>
            <a:chExt cx="1360" cy="6689"/>
          </a:xfrm>
        </p:grpSpPr>
        <p:sp>
          <p:nvSpPr>
            <p:cNvPr id="186" name="矩形 185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H/U</a:t>
              </a:r>
            </a:p>
          </p:txBody>
        </p:sp>
        <p:cxnSp>
          <p:nvCxnSpPr>
            <p:cNvPr id="187" name="直接连接符 186"/>
            <p:cNvCxnSpPr>
              <a:stCxn id="186" idx="2"/>
            </p:cNvCxnSpPr>
            <p:nvPr/>
          </p:nvCxnSpPr>
          <p:spPr>
            <a:xfrm>
              <a:off x="11981" y="3699"/>
              <a:ext cx="0" cy="623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矩形 187"/>
          <p:cNvSpPr/>
          <p:nvPr/>
        </p:nvSpPr>
        <p:spPr>
          <a:xfrm>
            <a:off x="8478520" y="1819910"/>
            <a:ext cx="1106805" cy="627380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 altLang="zh-CN" sz="1000" dirty="0">
              <a:solidFill>
                <a:schemeClr val="tx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8678545" y="1613535"/>
            <a:ext cx="540000" cy="29718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TSU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7932420" y="4203065"/>
            <a:ext cx="1298575" cy="2190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 On-&gt;Off</a:t>
            </a:r>
          </a:p>
        </p:txBody>
      </p:sp>
      <p:sp>
        <p:nvSpPr>
          <p:cNvPr id="191" name="文本框 190"/>
          <p:cNvSpPr txBox="1"/>
          <p:nvPr/>
        </p:nvSpPr>
        <p:spPr>
          <a:xfrm>
            <a:off x="9953625" y="3051810"/>
            <a:ext cx="928370" cy="1390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cxnSp>
        <p:nvCxnSpPr>
          <p:cNvPr id="192" name="直接箭头连接符 191"/>
          <p:cNvCxnSpPr/>
          <p:nvPr/>
        </p:nvCxnSpPr>
        <p:spPr>
          <a:xfrm>
            <a:off x="7716520" y="4419600"/>
            <a:ext cx="144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10210116" y="4335901"/>
            <a:ext cx="1111635" cy="3067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MIC/SPKR</a:t>
            </a:r>
          </a:p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LED display</a:t>
            </a:r>
          </a:p>
        </p:txBody>
      </p:sp>
      <p:grpSp>
        <p:nvGrpSpPr>
          <p:cNvPr id="194" name="组合 193"/>
          <p:cNvGrpSpPr/>
          <p:nvPr/>
        </p:nvGrpSpPr>
        <p:grpSpPr>
          <a:xfrm>
            <a:off x="6813550" y="1940560"/>
            <a:ext cx="432000" cy="4320000"/>
            <a:chOff x="11301" y="3246"/>
            <a:chExt cx="1360" cy="5555"/>
          </a:xfrm>
        </p:grpSpPr>
        <p:sp>
          <p:nvSpPr>
            <p:cNvPr id="195" name="矩形 194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USER</a:t>
              </a:r>
            </a:p>
          </p:txBody>
        </p:sp>
        <p:cxnSp>
          <p:nvCxnSpPr>
            <p:cNvPr id="196" name="直接连接符 195"/>
            <p:cNvCxnSpPr>
              <a:stCxn id="195" idx="2"/>
            </p:cNvCxnSpPr>
            <p:nvPr/>
          </p:nvCxnSpPr>
          <p:spPr>
            <a:xfrm>
              <a:off x="11981" y="3699"/>
              <a:ext cx="0" cy="510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7" name="文本框 196"/>
          <p:cNvSpPr txBox="1"/>
          <p:nvPr/>
        </p:nvSpPr>
        <p:spPr>
          <a:xfrm>
            <a:off x="9159240" y="2763520"/>
            <a:ext cx="1609090" cy="2876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</a:t>
            </a:r>
            <a:r>
              <a:rPr kumimoji="1" lang="en-US" altLang="ja-JP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Off”state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-&gt;“IDLE” state</a:t>
            </a:r>
          </a:p>
        </p:txBody>
      </p:sp>
      <p:cxnSp>
        <p:nvCxnSpPr>
          <p:cNvPr id="198" name="直接箭头连接符 197"/>
          <p:cNvCxnSpPr/>
          <p:nvPr/>
        </p:nvCxnSpPr>
        <p:spPr>
          <a:xfrm>
            <a:off x="9130665" y="3115310"/>
            <a:ext cx="756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矩形 198"/>
          <p:cNvSpPr/>
          <p:nvPr/>
        </p:nvSpPr>
        <p:spPr>
          <a:xfrm>
            <a:off x="9044940" y="2914015"/>
            <a:ext cx="108000" cy="18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882505" y="4500880"/>
            <a:ext cx="108000" cy="14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9551035" y="3125470"/>
            <a:ext cx="990600" cy="156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kumimoji="1" lang="ja-JP" altLang="zh-CN" sz="1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zh-CN" sz="1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</a:p>
        </p:txBody>
      </p:sp>
      <p:sp>
        <p:nvSpPr>
          <p:cNvPr id="202" name="矩形 201"/>
          <p:cNvSpPr/>
          <p:nvPr/>
        </p:nvSpPr>
        <p:spPr>
          <a:xfrm>
            <a:off x="9089390" y="5281930"/>
            <a:ext cx="108000" cy="18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9300845" y="5282565"/>
            <a:ext cx="1813560" cy="4762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kumimoji="1" lang="en-US" altLang="ja-JP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“Off”-&gt;“IDLE”</a:t>
            </a:r>
            <a:r>
              <a:rPr kumimoji="1" lang="ja-JP" altLang="en-US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変化有り、</a:t>
            </a:r>
          </a:p>
        </p:txBody>
      </p:sp>
      <p:sp>
        <p:nvSpPr>
          <p:cNvPr id="205" name="矩形 204"/>
          <p:cNvSpPr/>
          <p:nvPr/>
        </p:nvSpPr>
        <p:spPr>
          <a:xfrm>
            <a:off x="6078030" y="1252220"/>
            <a:ext cx="5187061" cy="51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274435" y="1308735"/>
            <a:ext cx="1373505" cy="3733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＜修正後＞</a:t>
            </a:r>
          </a:p>
        </p:txBody>
      </p:sp>
      <p:cxnSp>
        <p:nvCxnSpPr>
          <p:cNvPr id="207" name="直接连接符 206"/>
          <p:cNvCxnSpPr/>
          <p:nvPr/>
        </p:nvCxnSpPr>
        <p:spPr>
          <a:xfrm>
            <a:off x="8004810" y="3701415"/>
            <a:ext cx="0" cy="684000"/>
          </a:xfrm>
          <a:prstGeom prst="line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7767320" y="3915410"/>
            <a:ext cx="1126490" cy="2095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約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6 sec</a:t>
            </a:r>
          </a:p>
        </p:txBody>
      </p:sp>
      <p:cxnSp>
        <p:nvCxnSpPr>
          <p:cNvPr id="209" name="直接箭头连接符 208"/>
          <p:cNvCxnSpPr/>
          <p:nvPr/>
        </p:nvCxnSpPr>
        <p:spPr>
          <a:xfrm>
            <a:off x="6633845" y="2693035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/>
          <p:nvPr/>
        </p:nvCxnSpPr>
        <p:spPr>
          <a:xfrm>
            <a:off x="6995795" y="2693035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/>
        </p:nvSpPr>
        <p:spPr>
          <a:xfrm>
            <a:off x="6350000" y="2404745"/>
            <a:ext cx="1442085" cy="2139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1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ACC/IG On</a:t>
            </a:r>
          </a:p>
        </p:txBody>
      </p:sp>
      <p:cxnSp>
        <p:nvCxnSpPr>
          <p:cNvPr id="212" name="直接箭头连接符 211"/>
          <p:cNvCxnSpPr/>
          <p:nvPr/>
        </p:nvCxnSpPr>
        <p:spPr>
          <a:xfrm>
            <a:off x="6617335" y="3681095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/>
          <p:nvPr/>
        </p:nvCxnSpPr>
        <p:spPr>
          <a:xfrm>
            <a:off x="7051040" y="3681095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4" name="文本框 213"/>
          <p:cNvSpPr txBox="1"/>
          <p:nvPr/>
        </p:nvSpPr>
        <p:spPr>
          <a:xfrm>
            <a:off x="5974715" y="3392805"/>
            <a:ext cx="1442085" cy="2139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ACC/IG Off</a:t>
            </a:r>
          </a:p>
        </p:txBody>
      </p:sp>
      <p:cxnSp>
        <p:nvCxnSpPr>
          <p:cNvPr id="215" name="直接箭头连接符 214"/>
          <p:cNvCxnSpPr/>
          <p:nvPr/>
        </p:nvCxnSpPr>
        <p:spPr>
          <a:xfrm>
            <a:off x="6617335" y="5187950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>
            <a:off x="7051040" y="5187950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7" name="文本框 216"/>
          <p:cNvSpPr txBox="1"/>
          <p:nvPr/>
        </p:nvSpPr>
        <p:spPr>
          <a:xfrm>
            <a:off x="6333490" y="4899660"/>
            <a:ext cx="1442085" cy="2139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2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ACC/IG On</a:t>
            </a:r>
          </a:p>
        </p:txBody>
      </p:sp>
      <p:cxnSp>
        <p:nvCxnSpPr>
          <p:cNvPr id="218" name="直接箭头连接符 217"/>
          <p:cNvCxnSpPr/>
          <p:nvPr/>
        </p:nvCxnSpPr>
        <p:spPr>
          <a:xfrm>
            <a:off x="9138920" y="4500880"/>
            <a:ext cx="756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9" name="矩形 218"/>
          <p:cNvSpPr/>
          <p:nvPr/>
        </p:nvSpPr>
        <p:spPr>
          <a:xfrm>
            <a:off x="9072880" y="4619625"/>
            <a:ext cx="108000" cy="18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同心圆 220"/>
          <p:cNvSpPr/>
          <p:nvPr/>
        </p:nvSpPr>
        <p:spPr>
          <a:xfrm>
            <a:off x="8328660" y="4579620"/>
            <a:ext cx="575945" cy="576580"/>
          </a:xfrm>
          <a:prstGeom prst="donut">
            <a:avLst/>
          </a:prstGeom>
          <a:solidFill>
            <a:srgbClr val="0000FF"/>
          </a:solidFill>
          <a:ln w="19050">
            <a:solidFill>
              <a:srgbClr val="0000FF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10080625" y="5474970"/>
            <a:ext cx="928370" cy="1390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sp>
        <p:nvSpPr>
          <p:cNvPr id="223" name="文本框 222"/>
          <p:cNvSpPr txBox="1"/>
          <p:nvPr/>
        </p:nvSpPr>
        <p:spPr>
          <a:xfrm>
            <a:off x="9678035" y="5548630"/>
            <a:ext cx="990600" cy="156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kumimoji="1" lang="ja-JP" altLang="zh-CN" sz="1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zh-CN" sz="1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</a:p>
        </p:txBody>
      </p:sp>
      <p:sp>
        <p:nvSpPr>
          <p:cNvPr id="225" name="矩形 224"/>
          <p:cNvSpPr/>
          <p:nvPr/>
        </p:nvSpPr>
        <p:spPr>
          <a:xfrm>
            <a:off x="4874771" y="3357245"/>
            <a:ext cx="178435" cy="117348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4875406" y="5229225"/>
            <a:ext cx="178435" cy="117348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592195" y="5278756"/>
            <a:ext cx="1813560" cy="4762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“IDLE”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状態のため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bootup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を実施しない直接、緑点灯してしまう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(</a:t>
            </a:r>
            <a:r>
              <a:rPr kumimoji="1" lang="ja-JP" altLang="en-US" sz="1000" dirty="0">
                <a:solidFill>
                  <a:srgbClr val="00B05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●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)</a:t>
            </a:r>
            <a:endParaRPr kumimoji="1" lang="en-US" altLang="zh-CN" sz="1000" dirty="0">
              <a:solidFill>
                <a:srgbClr val="FF0000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9840416" y="3332455"/>
            <a:ext cx="166369" cy="1027697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9234805" y="4522470"/>
            <a:ext cx="1216660" cy="5092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kumimoji="1" lang="en-US" altLang="ja-JP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“IDLE” state</a:t>
            </a:r>
            <a:r>
              <a:rPr kumimoji="1" lang="ja-JP" altLang="en-US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</a:t>
            </a:r>
            <a:r>
              <a:rPr kumimoji="1" lang="en-US" altLang="ja-JP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 state</a:t>
            </a:r>
            <a:r>
              <a:rPr kumimoji="1" lang="ja-JP" altLang="en-US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に設定する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7E894F1-A8E3-434F-AEFE-3E89EEB09217}"/>
              </a:ext>
            </a:extLst>
          </p:cNvPr>
          <p:cNvSpPr/>
          <p:nvPr/>
        </p:nvSpPr>
        <p:spPr>
          <a:xfrm>
            <a:off x="3328911" y="3081659"/>
            <a:ext cx="140937" cy="2419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A7742F-35D8-40E1-A266-88CE6ADDEBDD}"/>
              </a:ext>
            </a:extLst>
          </p:cNvPr>
          <p:cNvSpPr txBox="1"/>
          <p:nvPr/>
        </p:nvSpPr>
        <p:spPr>
          <a:xfrm>
            <a:off x="3501102" y="3038304"/>
            <a:ext cx="835599" cy="15909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kumimoji="1" lang="ja-JP" altLang="en-US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初期化処理</a:t>
            </a:r>
            <a:endParaRPr kumimoji="1" lang="en-US" altLang="ja-JP" sz="6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zh-CN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原因対策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91770" y="674370"/>
            <a:ext cx="11727815" cy="4800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概要：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 </a:t>
            </a:r>
            <a:r>
              <a:rPr lang="en-US" altLang="ja-JP" sz="1600" b="1" dirty="0" err="1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On→Off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時に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eCall App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にて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eCall state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に切替えていない為次回</a:t>
            </a:r>
            <a:r>
              <a:rPr lang="en-US" altLang="ja-JP" sz="1600" b="1" dirty="0" err="1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Onmode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に遷移時に「</a:t>
            </a:r>
            <a:r>
              <a:rPr lang="en-US" altLang="ja-JP" sz="1600" b="1" dirty="0" err="1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Off→On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mode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の変化」が検出できず、</a:t>
            </a:r>
            <a:r>
              <a:rPr lang="en-US" altLang="ja-JP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bootup LED</a:t>
            </a:r>
            <a:r>
              <a:rPr lang="ja-JP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を点滅させていない。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3030394" y="1959610"/>
            <a:ext cx="755650" cy="4320000"/>
            <a:chOff x="7373" y="2408"/>
            <a:chExt cx="1190" cy="5625"/>
          </a:xfrm>
        </p:grpSpPr>
        <p:sp>
          <p:nvSpPr>
            <p:cNvPr id="17" name="矩形 16"/>
            <p:cNvSpPr/>
            <p:nvPr/>
          </p:nvSpPr>
          <p:spPr>
            <a:xfrm>
              <a:off x="7373" y="2408"/>
              <a:ext cx="1191" cy="5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ja-JP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eCallApp</a:t>
              </a:r>
            </a:p>
          </p:txBody>
        </p:sp>
        <p:cxnSp>
          <p:nvCxnSpPr>
            <p:cNvPr id="36" name="直接连接符 35"/>
            <p:cNvCxnSpPr>
              <a:stCxn id="17" idx="2"/>
            </p:cNvCxnSpPr>
            <p:nvPr/>
          </p:nvCxnSpPr>
          <p:spPr>
            <a:xfrm>
              <a:off x="7968" y="2931"/>
              <a:ext cx="0" cy="510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4667761" y="1959610"/>
            <a:ext cx="540000" cy="4607560"/>
            <a:chOff x="14589" y="3246"/>
            <a:chExt cx="1360" cy="7256"/>
          </a:xfrm>
        </p:grpSpPr>
        <p:sp>
          <p:nvSpPr>
            <p:cNvPr id="41" name="矩形 40"/>
            <p:cNvSpPr/>
            <p:nvPr/>
          </p:nvSpPr>
          <p:spPr>
            <a:xfrm>
              <a:off x="14589" y="3246"/>
              <a:ext cx="1360" cy="45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LED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15270" y="3699"/>
              <a:ext cx="0" cy="6803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2089150" y="1959610"/>
            <a:ext cx="504000" cy="4607560"/>
            <a:chOff x="11301" y="3246"/>
            <a:chExt cx="1360" cy="7256"/>
          </a:xfrm>
        </p:grpSpPr>
        <p:sp>
          <p:nvSpPr>
            <p:cNvPr id="48" name="矩形 47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H/U</a:t>
              </a:r>
            </a:p>
          </p:txBody>
        </p:sp>
        <p:cxnSp>
          <p:nvCxnSpPr>
            <p:cNvPr id="49" name="直接连接符 48"/>
            <p:cNvCxnSpPr>
              <a:stCxn id="48" idx="2"/>
            </p:cNvCxnSpPr>
            <p:nvPr/>
          </p:nvCxnSpPr>
          <p:spPr>
            <a:xfrm>
              <a:off x="11981" y="3699"/>
              <a:ext cx="0" cy="680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矩形 59"/>
          <p:cNvSpPr/>
          <p:nvPr/>
        </p:nvSpPr>
        <p:spPr>
          <a:xfrm>
            <a:off x="2753534" y="1836420"/>
            <a:ext cx="1106805" cy="627380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 altLang="zh-CN" sz="1000" dirty="0">
              <a:solidFill>
                <a:schemeClr val="tx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095319" y="1701691"/>
            <a:ext cx="25648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TSU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313475" y="4132477"/>
            <a:ext cx="864018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 On-&gt;Off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988047" y="3106840"/>
            <a:ext cx="585096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8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cxnSp>
        <p:nvCxnSpPr>
          <p:cNvPr id="66" name="直接箭头连接符 65"/>
          <p:cNvCxnSpPr>
            <a:cxnSpLocks/>
          </p:cNvCxnSpPr>
          <p:nvPr/>
        </p:nvCxnSpPr>
        <p:spPr>
          <a:xfrm flipV="1">
            <a:off x="2343596" y="4496378"/>
            <a:ext cx="907049" cy="1318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3531204" y="4286365"/>
            <a:ext cx="1073630" cy="30277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kumimoji="1" lang="en-US" altLang="ja-JP" sz="8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MIC/SPKR</a:t>
            </a:r>
          </a:p>
          <a:p>
            <a:pPr algn="ctr"/>
            <a:r>
              <a:rPr kumimoji="1" lang="en-US" altLang="ja-JP" sz="8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LED display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1448435" y="1957070"/>
            <a:ext cx="432000" cy="4607560"/>
            <a:chOff x="11301" y="3246"/>
            <a:chExt cx="1360" cy="7256"/>
          </a:xfrm>
        </p:grpSpPr>
        <p:sp>
          <p:nvSpPr>
            <p:cNvPr id="70" name="矩形 69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USER</a:t>
              </a:r>
            </a:p>
          </p:txBody>
        </p:sp>
        <p:cxnSp>
          <p:nvCxnSpPr>
            <p:cNvPr id="71" name="直接连接符 70"/>
            <p:cNvCxnSpPr>
              <a:stCxn id="70" idx="2"/>
            </p:cNvCxnSpPr>
            <p:nvPr/>
          </p:nvCxnSpPr>
          <p:spPr>
            <a:xfrm>
              <a:off x="11981" y="3699"/>
              <a:ext cx="0" cy="680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/>
          <p:cNvSpPr txBox="1"/>
          <p:nvPr/>
        </p:nvSpPr>
        <p:spPr>
          <a:xfrm>
            <a:off x="3511219" y="2771278"/>
            <a:ext cx="512961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E-CALL State </a:t>
            </a:r>
            <a:b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</a:br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Off-&gt;“IDLE”</a:t>
            </a:r>
          </a:p>
        </p:txBody>
      </p:sp>
      <p:cxnSp>
        <p:nvCxnSpPr>
          <p:cNvPr id="80" name="直接箭头连接符 79"/>
          <p:cNvCxnSpPr>
            <a:cxnSpLocks/>
          </p:cNvCxnSpPr>
          <p:nvPr/>
        </p:nvCxnSpPr>
        <p:spPr>
          <a:xfrm flipV="1">
            <a:off x="3508570" y="3245904"/>
            <a:ext cx="1366201" cy="1651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3319954" y="2783842"/>
            <a:ext cx="140937" cy="2419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80485" y="4670275"/>
            <a:ext cx="172721" cy="3429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549016" y="3141980"/>
            <a:ext cx="990600" cy="156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kumimoji="1" lang="ja-JP" altLang="zh-CN" sz="1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zh-CN" sz="1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</a:p>
        </p:txBody>
      </p:sp>
      <p:sp>
        <p:nvSpPr>
          <p:cNvPr id="98" name="矩形 97"/>
          <p:cNvSpPr/>
          <p:nvPr/>
        </p:nvSpPr>
        <p:spPr>
          <a:xfrm>
            <a:off x="3364404" y="5298440"/>
            <a:ext cx="108000" cy="18000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3542516" y="4797610"/>
            <a:ext cx="212718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“IDLE” state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 state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に設定していない</a:t>
            </a:r>
          </a:p>
        </p:txBody>
      </p:sp>
      <p:sp>
        <p:nvSpPr>
          <p:cNvPr id="103" name="矩形 102"/>
          <p:cNvSpPr/>
          <p:nvPr/>
        </p:nvSpPr>
        <p:spPr>
          <a:xfrm>
            <a:off x="948690" y="1268730"/>
            <a:ext cx="4715510" cy="51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09320" y="1325245"/>
            <a:ext cx="1373505" cy="3733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＜修正前＞</a:t>
            </a:r>
          </a:p>
        </p:txBody>
      </p:sp>
      <p:cxnSp>
        <p:nvCxnSpPr>
          <p:cNvPr id="164" name="直接连接符 163"/>
          <p:cNvCxnSpPr/>
          <p:nvPr/>
        </p:nvCxnSpPr>
        <p:spPr>
          <a:xfrm>
            <a:off x="2229034" y="3789680"/>
            <a:ext cx="0" cy="684000"/>
          </a:xfrm>
          <a:prstGeom prst="line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1736826" y="4024399"/>
            <a:ext cx="468077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l"/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約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6 sec</a:t>
            </a:r>
          </a:p>
        </p:txBody>
      </p:sp>
      <p:cxnSp>
        <p:nvCxnSpPr>
          <p:cNvPr id="166" name="直接箭头连接符 165"/>
          <p:cNvCxnSpPr/>
          <p:nvPr/>
        </p:nvCxnSpPr>
        <p:spPr>
          <a:xfrm>
            <a:off x="1268730" y="2709545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/>
          <p:nvPr/>
        </p:nvCxnSpPr>
        <p:spPr>
          <a:xfrm>
            <a:off x="1630680" y="2709545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8" name="文本框 167"/>
          <p:cNvSpPr txBox="1"/>
          <p:nvPr/>
        </p:nvSpPr>
        <p:spPr>
          <a:xfrm>
            <a:off x="1107701" y="2481362"/>
            <a:ext cx="1226298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1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+B/ACC/IG On</a:t>
            </a:r>
          </a:p>
        </p:txBody>
      </p:sp>
      <p:cxnSp>
        <p:nvCxnSpPr>
          <p:cNvPr id="169" name="直接箭头连接符 168"/>
          <p:cNvCxnSpPr/>
          <p:nvPr/>
        </p:nvCxnSpPr>
        <p:spPr>
          <a:xfrm>
            <a:off x="1252220" y="3769360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>
            <a:off x="1685925" y="3769360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970422" y="3553877"/>
            <a:ext cx="646010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ACC/IG Off</a:t>
            </a:r>
          </a:p>
        </p:txBody>
      </p:sp>
      <p:cxnSp>
        <p:nvCxnSpPr>
          <p:cNvPr id="172" name="直接箭头连接符 171"/>
          <p:cNvCxnSpPr/>
          <p:nvPr/>
        </p:nvCxnSpPr>
        <p:spPr>
          <a:xfrm>
            <a:off x="1252220" y="5204460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/>
        </p:nvCxnSpPr>
        <p:spPr>
          <a:xfrm>
            <a:off x="1685925" y="5204460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4" name="文本框 173"/>
          <p:cNvSpPr txBox="1"/>
          <p:nvPr/>
        </p:nvSpPr>
        <p:spPr>
          <a:xfrm>
            <a:off x="1102297" y="4976277"/>
            <a:ext cx="1030731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2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ACC/IG On</a:t>
            </a:r>
          </a:p>
        </p:txBody>
      </p:sp>
      <p:cxnSp>
        <p:nvCxnSpPr>
          <p:cNvPr id="175" name="直接箭头连接符 174"/>
          <p:cNvCxnSpPr>
            <a:cxnSpLocks/>
            <a:endCxn id="89" idx="0"/>
          </p:cNvCxnSpPr>
          <p:nvPr/>
        </p:nvCxnSpPr>
        <p:spPr>
          <a:xfrm flipV="1">
            <a:off x="3416568" y="4670275"/>
            <a:ext cx="1550278" cy="2723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7" name="乘号 176"/>
          <p:cNvSpPr/>
          <p:nvPr/>
        </p:nvSpPr>
        <p:spPr>
          <a:xfrm>
            <a:off x="2711624" y="4651375"/>
            <a:ext cx="547370" cy="534670"/>
          </a:xfrm>
          <a:prstGeom prst="mathMultiply">
            <a:avLst/>
          </a:prstGeom>
          <a:solidFill>
            <a:srgbClr val="FF0000"/>
          </a:solidFill>
          <a:ln w="19050">
            <a:solidFill>
              <a:srgbClr val="FF0000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8503136" y="1943100"/>
            <a:ext cx="756285" cy="4328160"/>
            <a:chOff x="7373" y="2408"/>
            <a:chExt cx="1191" cy="6816"/>
          </a:xfrm>
        </p:grpSpPr>
        <p:sp>
          <p:nvSpPr>
            <p:cNvPr id="180" name="矩形 179"/>
            <p:cNvSpPr/>
            <p:nvPr/>
          </p:nvSpPr>
          <p:spPr>
            <a:xfrm>
              <a:off x="7373" y="2408"/>
              <a:ext cx="1191" cy="5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ja-JP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eCallApp</a:t>
              </a:r>
            </a:p>
          </p:txBody>
        </p:sp>
        <p:cxnSp>
          <p:nvCxnSpPr>
            <p:cNvPr id="181" name="直接连接符 180"/>
            <p:cNvCxnSpPr>
              <a:stCxn id="180" idx="2"/>
            </p:cNvCxnSpPr>
            <p:nvPr/>
          </p:nvCxnSpPr>
          <p:spPr>
            <a:xfrm>
              <a:off x="7968" y="2931"/>
              <a:ext cx="0" cy="629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组合 181"/>
          <p:cNvGrpSpPr/>
          <p:nvPr/>
        </p:nvGrpSpPr>
        <p:grpSpPr>
          <a:xfrm>
            <a:off x="9844629" y="1943100"/>
            <a:ext cx="540000" cy="4355465"/>
            <a:chOff x="14589" y="3246"/>
            <a:chExt cx="1360" cy="6859"/>
          </a:xfrm>
        </p:grpSpPr>
        <p:sp>
          <p:nvSpPr>
            <p:cNvPr id="183" name="矩形 182"/>
            <p:cNvSpPr/>
            <p:nvPr/>
          </p:nvSpPr>
          <p:spPr>
            <a:xfrm>
              <a:off x="14589" y="3246"/>
              <a:ext cx="1360" cy="45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LED</a:t>
              </a:r>
            </a:p>
          </p:txBody>
        </p:sp>
        <p:cxnSp>
          <p:nvCxnSpPr>
            <p:cNvPr id="184" name="直接连接符 183"/>
            <p:cNvCxnSpPr/>
            <p:nvPr/>
          </p:nvCxnSpPr>
          <p:spPr>
            <a:xfrm>
              <a:off x="15270" y="3699"/>
              <a:ext cx="0" cy="6406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组合 184"/>
          <p:cNvGrpSpPr/>
          <p:nvPr/>
        </p:nvGrpSpPr>
        <p:grpSpPr>
          <a:xfrm>
            <a:off x="7454265" y="1943100"/>
            <a:ext cx="504000" cy="4247515"/>
            <a:chOff x="11301" y="3246"/>
            <a:chExt cx="1360" cy="6689"/>
          </a:xfrm>
        </p:grpSpPr>
        <p:sp>
          <p:nvSpPr>
            <p:cNvPr id="186" name="矩形 185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H/U</a:t>
              </a:r>
            </a:p>
          </p:txBody>
        </p:sp>
        <p:cxnSp>
          <p:nvCxnSpPr>
            <p:cNvPr id="187" name="直接连接符 186"/>
            <p:cNvCxnSpPr>
              <a:stCxn id="186" idx="2"/>
            </p:cNvCxnSpPr>
            <p:nvPr/>
          </p:nvCxnSpPr>
          <p:spPr>
            <a:xfrm>
              <a:off x="11981" y="3699"/>
              <a:ext cx="0" cy="623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矩形 187"/>
          <p:cNvSpPr/>
          <p:nvPr/>
        </p:nvSpPr>
        <p:spPr>
          <a:xfrm>
            <a:off x="8226276" y="1819910"/>
            <a:ext cx="1106805" cy="627380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 altLang="zh-CN" sz="1000" dirty="0">
              <a:solidFill>
                <a:schemeClr val="tx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8426301" y="1613535"/>
            <a:ext cx="540000" cy="29718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TSU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7897454" y="4268252"/>
            <a:ext cx="864018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USBV On-&gt;Off</a:t>
            </a:r>
          </a:p>
        </p:txBody>
      </p:sp>
      <p:cxnSp>
        <p:nvCxnSpPr>
          <p:cNvPr id="192" name="直接箭头连接符 191"/>
          <p:cNvCxnSpPr>
            <a:cxnSpLocks/>
          </p:cNvCxnSpPr>
          <p:nvPr/>
        </p:nvCxnSpPr>
        <p:spPr>
          <a:xfrm>
            <a:off x="7716520" y="4419600"/>
            <a:ext cx="1120626" cy="254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8962550" y="4155638"/>
            <a:ext cx="956992" cy="30777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MIC/SPKR</a:t>
            </a:r>
          </a:p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stop LED display</a:t>
            </a:r>
          </a:p>
        </p:txBody>
      </p:sp>
      <p:grpSp>
        <p:nvGrpSpPr>
          <p:cNvPr id="194" name="组合 193"/>
          <p:cNvGrpSpPr/>
          <p:nvPr/>
        </p:nvGrpSpPr>
        <p:grpSpPr>
          <a:xfrm>
            <a:off x="6813550" y="1940560"/>
            <a:ext cx="432000" cy="4320000"/>
            <a:chOff x="11301" y="3246"/>
            <a:chExt cx="1360" cy="5555"/>
          </a:xfrm>
        </p:grpSpPr>
        <p:sp>
          <p:nvSpPr>
            <p:cNvPr id="195" name="矩形 194"/>
            <p:cNvSpPr/>
            <p:nvPr/>
          </p:nvSpPr>
          <p:spPr>
            <a:xfrm>
              <a:off x="11301" y="3246"/>
              <a:ext cx="1360" cy="4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lIns="0" tIns="0" rIns="0" bIns="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kumimoji="1"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ea typeface="Meiryo UI" panose="020B0604030504040204" pitchFamily="50" charset="-128"/>
                  <a:cs typeface="Arial" panose="020B0604020202020204" pitchFamily="34" charset="0"/>
                  <a:sym typeface="+mn-ea"/>
                </a:rPr>
                <a:t>USER</a:t>
              </a:r>
            </a:p>
          </p:txBody>
        </p:sp>
        <p:cxnSp>
          <p:nvCxnSpPr>
            <p:cNvPr id="196" name="直接连接符 195"/>
            <p:cNvCxnSpPr>
              <a:stCxn id="195" idx="2"/>
            </p:cNvCxnSpPr>
            <p:nvPr/>
          </p:nvCxnSpPr>
          <p:spPr>
            <a:xfrm>
              <a:off x="11981" y="3699"/>
              <a:ext cx="0" cy="510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矩形 198"/>
          <p:cNvSpPr/>
          <p:nvPr/>
        </p:nvSpPr>
        <p:spPr>
          <a:xfrm>
            <a:off x="8797859" y="2767331"/>
            <a:ext cx="140937" cy="2123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10056439" y="4500879"/>
            <a:ext cx="133297" cy="31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9857928" y="3125470"/>
            <a:ext cx="990600" cy="156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kumimoji="1" lang="ja-JP" altLang="zh-CN" sz="1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zh-CN" sz="1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</a:p>
        </p:txBody>
      </p:sp>
      <p:sp>
        <p:nvSpPr>
          <p:cNvPr id="202" name="矩形 201"/>
          <p:cNvSpPr/>
          <p:nvPr/>
        </p:nvSpPr>
        <p:spPr>
          <a:xfrm>
            <a:off x="8832066" y="5238340"/>
            <a:ext cx="83331" cy="389084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6078030" y="1252220"/>
            <a:ext cx="5187061" cy="51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274435" y="1308735"/>
            <a:ext cx="1373505" cy="3733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ja-JP" altLang="en-US" sz="14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＜修正後＞</a:t>
            </a:r>
          </a:p>
        </p:txBody>
      </p:sp>
      <p:cxnSp>
        <p:nvCxnSpPr>
          <p:cNvPr id="207" name="直接连接符 206"/>
          <p:cNvCxnSpPr/>
          <p:nvPr/>
        </p:nvCxnSpPr>
        <p:spPr>
          <a:xfrm>
            <a:off x="7752566" y="3701415"/>
            <a:ext cx="0" cy="684000"/>
          </a:xfrm>
          <a:prstGeom prst="line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7767320" y="3971072"/>
            <a:ext cx="468077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l"/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約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6 sec</a:t>
            </a:r>
          </a:p>
        </p:txBody>
      </p:sp>
      <p:cxnSp>
        <p:nvCxnSpPr>
          <p:cNvPr id="209" name="直接箭头连接符 208"/>
          <p:cNvCxnSpPr/>
          <p:nvPr/>
        </p:nvCxnSpPr>
        <p:spPr>
          <a:xfrm>
            <a:off x="6633845" y="2693035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/>
          <p:nvPr/>
        </p:nvCxnSpPr>
        <p:spPr>
          <a:xfrm>
            <a:off x="6995795" y="2693035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/>
        </p:nvSpPr>
        <p:spPr>
          <a:xfrm>
            <a:off x="6555677" y="2464852"/>
            <a:ext cx="1030731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1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ACC/IG On</a:t>
            </a:r>
          </a:p>
        </p:txBody>
      </p:sp>
      <p:cxnSp>
        <p:nvCxnSpPr>
          <p:cNvPr id="212" name="直接箭头连接符 211"/>
          <p:cNvCxnSpPr/>
          <p:nvPr/>
        </p:nvCxnSpPr>
        <p:spPr>
          <a:xfrm>
            <a:off x="6617335" y="3681095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/>
          <p:nvPr/>
        </p:nvCxnSpPr>
        <p:spPr>
          <a:xfrm>
            <a:off x="7051040" y="3681095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4" name="文本框 213"/>
          <p:cNvSpPr txBox="1"/>
          <p:nvPr/>
        </p:nvSpPr>
        <p:spPr>
          <a:xfrm>
            <a:off x="6372752" y="3452912"/>
            <a:ext cx="646010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ACC/IG Off</a:t>
            </a:r>
          </a:p>
        </p:txBody>
      </p:sp>
      <p:cxnSp>
        <p:nvCxnSpPr>
          <p:cNvPr id="215" name="直接箭头连接符 214"/>
          <p:cNvCxnSpPr/>
          <p:nvPr/>
        </p:nvCxnSpPr>
        <p:spPr>
          <a:xfrm>
            <a:off x="6617335" y="5187950"/>
            <a:ext cx="3600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>
            <a:off x="7051040" y="5187950"/>
            <a:ext cx="3960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7" name="文本框 216"/>
          <p:cNvSpPr txBox="1"/>
          <p:nvPr/>
        </p:nvSpPr>
        <p:spPr>
          <a:xfrm>
            <a:off x="6539167" y="4959767"/>
            <a:ext cx="1030731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2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回目</a:t>
            </a:r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ACC/IG On</a:t>
            </a:r>
          </a:p>
        </p:txBody>
      </p:sp>
      <p:cxnSp>
        <p:nvCxnSpPr>
          <p:cNvPr id="218" name="直接箭头连接符 217"/>
          <p:cNvCxnSpPr>
            <a:cxnSpLocks/>
            <a:endCxn id="200" idx="0"/>
          </p:cNvCxnSpPr>
          <p:nvPr/>
        </p:nvCxnSpPr>
        <p:spPr>
          <a:xfrm flipV="1">
            <a:off x="8886676" y="4500879"/>
            <a:ext cx="1236412" cy="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9" name="矩形 218"/>
          <p:cNvSpPr/>
          <p:nvPr/>
        </p:nvSpPr>
        <p:spPr>
          <a:xfrm>
            <a:off x="8820636" y="4619625"/>
            <a:ext cx="108000" cy="18000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同心圆 220"/>
          <p:cNvSpPr/>
          <p:nvPr/>
        </p:nvSpPr>
        <p:spPr>
          <a:xfrm>
            <a:off x="8076416" y="4579620"/>
            <a:ext cx="575945" cy="576580"/>
          </a:xfrm>
          <a:prstGeom prst="donut">
            <a:avLst/>
          </a:prstGeom>
          <a:solidFill>
            <a:srgbClr val="0000FF"/>
          </a:solidFill>
          <a:ln w="19050">
            <a:solidFill>
              <a:srgbClr val="0000FF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10358181" y="5460147"/>
            <a:ext cx="722955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sp>
        <p:nvSpPr>
          <p:cNvPr id="223" name="文本框 222"/>
          <p:cNvSpPr txBox="1"/>
          <p:nvPr/>
        </p:nvSpPr>
        <p:spPr>
          <a:xfrm>
            <a:off x="10141931" y="5898978"/>
            <a:ext cx="560860" cy="1467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kumimoji="1" lang="ja-JP" altLang="zh-CN" sz="1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  <a:r>
              <a:rPr kumimoji="1" lang="ja-JP" altLang="zh-CN" sz="1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THeiti Light" charset="-122"/>
              </a:rPr>
              <a:t>●</a:t>
            </a:r>
          </a:p>
        </p:txBody>
      </p:sp>
      <p:sp>
        <p:nvSpPr>
          <p:cNvPr id="225" name="矩形 224"/>
          <p:cNvSpPr/>
          <p:nvPr/>
        </p:nvSpPr>
        <p:spPr>
          <a:xfrm>
            <a:off x="4874771" y="3357245"/>
            <a:ext cx="178435" cy="117348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4875406" y="5229225"/>
            <a:ext cx="178435" cy="117348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592195" y="5278756"/>
            <a:ext cx="3388748" cy="153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“IDLE”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状態のため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bootup</a:t>
            </a:r>
            <a:r>
              <a:rPr kumimoji="1" lang="ja-JP" altLang="en-US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を実施しない直接、緑点灯してしまう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(</a:t>
            </a:r>
            <a:r>
              <a:rPr kumimoji="1" lang="ja-JP" altLang="en-US" sz="1000" dirty="0">
                <a:solidFill>
                  <a:srgbClr val="00B05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●</a:t>
            </a:r>
            <a:r>
              <a:rPr kumimoji="1" lang="en-US" altLang="ja-JP" sz="10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)</a:t>
            </a:r>
            <a:endParaRPr kumimoji="1" lang="en-US" altLang="zh-CN" sz="1000" dirty="0">
              <a:solidFill>
                <a:srgbClr val="FF0000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10023371" y="3332455"/>
            <a:ext cx="166369" cy="1027697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7E894F1-A8E3-434F-AEFE-3E89EEB09217}"/>
              </a:ext>
            </a:extLst>
          </p:cNvPr>
          <p:cNvSpPr/>
          <p:nvPr/>
        </p:nvSpPr>
        <p:spPr>
          <a:xfrm>
            <a:off x="3328911" y="3081659"/>
            <a:ext cx="140937" cy="2419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A7742F-35D8-40E1-A266-88CE6ADDEBDD}"/>
              </a:ext>
            </a:extLst>
          </p:cNvPr>
          <p:cNvSpPr txBox="1"/>
          <p:nvPr/>
        </p:nvSpPr>
        <p:spPr>
          <a:xfrm>
            <a:off x="3501102" y="3105062"/>
            <a:ext cx="384721" cy="9233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ja-JP" altLang="en-US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初期化処理</a:t>
            </a:r>
            <a:endParaRPr kumimoji="1" lang="en-US" altLang="ja-JP" sz="6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52B619D-A953-49FB-A562-C15F95AEC4A4}"/>
              </a:ext>
            </a:extLst>
          </p:cNvPr>
          <p:cNvSpPr/>
          <p:nvPr/>
        </p:nvSpPr>
        <p:spPr>
          <a:xfrm>
            <a:off x="3334911" y="4365104"/>
            <a:ext cx="149752" cy="3027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0BDEA1-1AA8-46FB-9893-58045D1741EB}"/>
              </a:ext>
            </a:extLst>
          </p:cNvPr>
          <p:cNvSpPr txBox="1"/>
          <p:nvPr/>
        </p:nvSpPr>
        <p:spPr>
          <a:xfrm>
            <a:off x="8985314" y="2802685"/>
            <a:ext cx="512961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E-CALL State </a:t>
            </a:r>
            <a:b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</a:br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Off-&gt;“IDLE”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81AAFB7-7DD2-427D-8A30-14B0B802FB47}"/>
              </a:ext>
            </a:extLst>
          </p:cNvPr>
          <p:cNvSpPr txBox="1"/>
          <p:nvPr/>
        </p:nvSpPr>
        <p:spPr>
          <a:xfrm>
            <a:off x="9466554" y="3054305"/>
            <a:ext cx="585096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8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1713198-8186-4D3E-ABD6-AB84575A9C60}"/>
              </a:ext>
            </a:extLst>
          </p:cNvPr>
          <p:cNvCxnSpPr>
            <a:cxnSpLocks/>
          </p:cNvCxnSpPr>
          <p:nvPr/>
        </p:nvCxnSpPr>
        <p:spPr>
          <a:xfrm flipV="1">
            <a:off x="8978271" y="3220085"/>
            <a:ext cx="1158846" cy="97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47FE1CED-E3ED-4C1A-8F1D-BD3B5681D29C}"/>
              </a:ext>
            </a:extLst>
          </p:cNvPr>
          <p:cNvSpPr/>
          <p:nvPr/>
        </p:nvSpPr>
        <p:spPr>
          <a:xfrm>
            <a:off x="8821485" y="3048774"/>
            <a:ext cx="140937" cy="2419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FD8EB3E-E088-4BA1-B423-187065E16307}"/>
              </a:ext>
            </a:extLst>
          </p:cNvPr>
          <p:cNvSpPr txBox="1"/>
          <p:nvPr/>
        </p:nvSpPr>
        <p:spPr>
          <a:xfrm>
            <a:off x="8968275" y="3063710"/>
            <a:ext cx="384721" cy="9233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ja-JP" altLang="en-US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初期化処理</a:t>
            </a:r>
            <a:endParaRPr kumimoji="1" lang="en-US" altLang="ja-JP" sz="6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B4E192F-3D9B-4DE5-B670-9DA84BC3CDA1}"/>
              </a:ext>
            </a:extLst>
          </p:cNvPr>
          <p:cNvSpPr txBox="1"/>
          <p:nvPr/>
        </p:nvSpPr>
        <p:spPr>
          <a:xfrm>
            <a:off x="8967506" y="4637534"/>
            <a:ext cx="512961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en-US" altLang="ja-JP" sz="6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E-CALL State </a:t>
            </a:r>
            <a:br>
              <a:rPr kumimoji="1" lang="en-US" altLang="ja-JP" sz="6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</a:br>
            <a:r>
              <a:rPr kumimoji="1" lang="en-US" altLang="zh-CN" sz="6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IDLE</a:t>
            </a:r>
            <a:r>
              <a:rPr kumimoji="1" lang="en-US" altLang="ja-JP" sz="6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-&gt;</a:t>
            </a:r>
            <a:r>
              <a:rPr kumimoji="1" lang="en-US" altLang="zh-CN" sz="6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endParaRPr kumimoji="1" lang="en-US" altLang="ja-JP" sz="600" dirty="0">
              <a:solidFill>
                <a:srgbClr val="0000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F551428-C07D-4D94-BDEC-6C7F59CBF30A}"/>
              </a:ext>
            </a:extLst>
          </p:cNvPr>
          <p:cNvSpPr txBox="1"/>
          <p:nvPr/>
        </p:nvSpPr>
        <p:spPr>
          <a:xfrm>
            <a:off x="8954779" y="5291583"/>
            <a:ext cx="512961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E-CALL State </a:t>
            </a:r>
            <a:b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</a:br>
            <a:r>
              <a:rPr kumimoji="1" lang="en-US" altLang="ja-JP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Off-&gt;“IDLE”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199760C-0713-491A-A0B2-522112214E21}"/>
              </a:ext>
            </a:extLst>
          </p:cNvPr>
          <p:cNvCxnSpPr>
            <a:cxnSpLocks/>
          </p:cNvCxnSpPr>
          <p:nvPr/>
        </p:nvCxnSpPr>
        <p:spPr>
          <a:xfrm flipV="1">
            <a:off x="8969602" y="5898978"/>
            <a:ext cx="1158846" cy="97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B4F4D060-5FF0-4821-8AEA-170ED8FABCB8}"/>
              </a:ext>
            </a:extLst>
          </p:cNvPr>
          <p:cNvSpPr/>
          <p:nvPr/>
        </p:nvSpPr>
        <p:spPr>
          <a:xfrm>
            <a:off x="8812816" y="5727667"/>
            <a:ext cx="140937" cy="24193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8C0D67AB-B1B4-4574-9018-865CF0A62865}"/>
              </a:ext>
            </a:extLst>
          </p:cNvPr>
          <p:cNvSpPr txBox="1"/>
          <p:nvPr/>
        </p:nvSpPr>
        <p:spPr>
          <a:xfrm>
            <a:off x="8959606" y="5742603"/>
            <a:ext cx="384721" cy="9233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kumimoji="1" lang="ja-JP" altLang="en-US" sz="6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初期化処理</a:t>
            </a:r>
            <a:endParaRPr kumimoji="1" lang="en-US" altLang="ja-JP" sz="6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  <a:sym typeface="+mn-ea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250CD588-572B-4598-BA07-8908C3662659}"/>
              </a:ext>
            </a:extLst>
          </p:cNvPr>
          <p:cNvSpPr txBox="1"/>
          <p:nvPr/>
        </p:nvSpPr>
        <p:spPr>
          <a:xfrm>
            <a:off x="9394461" y="5728761"/>
            <a:ext cx="585096" cy="12311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ctr"/>
            <a:r>
              <a:rPr kumimoji="1" lang="en-US" altLang="ja-JP" sz="8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“bootup”LED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1E0DC70-A9AD-4A05-9AE7-923069B091C8}"/>
              </a:ext>
            </a:extLst>
          </p:cNvPr>
          <p:cNvSpPr/>
          <p:nvPr/>
        </p:nvSpPr>
        <p:spPr>
          <a:xfrm>
            <a:off x="10042179" y="6047146"/>
            <a:ext cx="109016" cy="40636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endParaRPr kumimoji="1" lang="zh-CN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2692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3525" y="145415"/>
            <a:ext cx="12448540" cy="344805"/>
          </a:xfrm>
        </p:spPr>
        <p:txBody>
          <a:bodyPr/>
          <a:lstStyle/>
          <a:p>
            <a:r>
              <a:rPr lang="ja-JP" altLang="zh-CN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原因調査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1790" y="592455"/>
            <a:ext cx="10339705" cy="1021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zh-CN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■原因解析</a:t>
            </a:r>
          </a:p>
          <a:p>
            <a:r>
              <a:rPr lang="ja-JP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概要：</a:t>
            </a:r>
            <a:r>
              <a:rPr lang="en-US" altLang="ja-JP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TSU</a:t>
            </a:r>
            <a:r>
              <a:rPr lang="ja-JP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の</a:t>
            </a:r>
            <a:r>
              <a:rPr lang="en-US" altLang="ja-JP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On mode</a:t>
            </a:r>
            <a:r>
              <a:rPr lang="ja-JP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と</a:t>
            </a:r>
            <a:r>
              <a:rPr lang="en-US" altLang="ja-JP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 state</a:t>
            </a:r>
            <a:r>
              <a:rPr lang="ja-JP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状態の同期漏れがあったため。</a:t>
            </a:r>
            <a:endParaRPr lang="ja-JP" altLang="zh-CN" sz="12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詳細：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 IG 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On→Off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後、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Vbus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On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が続けて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6sec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維持していく。前述した通り、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Vbus_On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になった時にも、</a:t>
            </a:r>
            <a:r>
              <a:rPr lang="en-US" altLang="ja-JP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TSU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が「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On mode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」に入る。</a:t>
            </a:r>
          </a:p>
          <a:p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しかし、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6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秒経過後に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Vbus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Off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に変わった際、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LED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表示を閉じたのみ実施したが、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の</a:t>
            </a:r>
            <a:r>
              <a:rPr lang="en-US" altLang="ja-JP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state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を「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Off MODE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」に遷移させていない。</a:t>
            </a:r>
          </a:p>
          <a:p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その結果、再度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 On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時、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の</a:t>
            </a:r>
            <a:r>
              <a:rPr lang="en-US" altLang="ja-JP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state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が</a:t>
            </a:r>
            <a:r>
              <a:rPr lang="en-US" altLang="zh-CN" sz="12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Off→On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に切り替わらない。結果、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boot up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の</a:t>
            </a:r>
            <a:r>
              <a:rPr lang="en-US" altLang="zh-CN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LED</a:t>
            </a:r>
            <a:r>
              <a:rPr lang="ja-JP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点滅が実行されていない</a:t>
            </a:r>
            <a:r>
              <a:rPr lang="zh-CN" altLang="en-US" sz="12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320" name="矩形 319"/>
          <p:cNvSpPr/>
          <p:nvPr/>
        </p:nvSpPr>
        <p:spPr>
          <a:xfrm>
            <a:off x="854393" y="1695450"/>
            <a:ext cx="1224915" cy="2279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 Ig Vbus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状態読み取る</a:t>
            </a:r>
            <a:endParaRPr kumimoji="1" lang="zh-CN" altLang="en-US" sz="1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1" name="流程图: 决策 320"/>
          <p:cNvSpPr/>
          <p:nvPr/>
        </p:nvSpPr>
        <p:spPr>
          <a:xfrm>
            <a:off x="781368" y="2112645"/>
            <a:ext cx="1370965" cy="35750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Acc≠mAcc</a:t>
            </a:r>
          </a:p>
        </p:txBody>
      </p:sp>
      <p:cxnSp>
        <p:nvCxnSpPr>
          <p:cNvPr id="322" name="直接箭头连接符 321"/>
          <p:cNvCxnSpPr>
            <a:stCxn id="327" idx="2"/>
            <a:endCxn id="328" idx="0"/>
          </p:cNvCxnSpPr>
          <p:nvPr/>
        </p:nvCxnSpPr>
        <p:spPr>
          <a:xfrm flipH="1">
            <a:off x="1466850" y="3576320"/>
            <a:ext cx="635" cy="3575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3" name="文本框 322"/>
          <p:cNvSpPr txBox="1"/>
          <p:nvPr/>
        </p:nvSpPr>
        <p:spPr>
          <a:xfrm>
            <a:off x="1490980" y="2493010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24" name="文本框 323"/>
          <p:cNvSpPr txBox="1"/>
          <p:nvPr/>
        </p:nvSpPr>
        <p:spPr>
          <a:xfrm>
            <a:off x="626745" y="3933825"/>
            <a:ext cx="37338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graphicFrame>
        <p:nvGraphicFramePr>
          <p:cNvPr id="325" name="Table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696450" y="1341120"/>
          <a:ext cx="2273935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mAcc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mIg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mVbus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eCallState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6" name="矩形 325"/>
          <p:cNvSpPr/>
          <p:nvPr/>
        </p:nvSpPr>
        <p:spPr>
          <a:xfrm>
            <a:off x="698500" y="4684395"/>
            <a:ext cx="1536700" cy="34798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square" lIns="0" tIns="0" rIns="0" bIns="0" rtlCol="0" anchor="ctr"/>
          <a:lstStyle/>
          <a:p>
            <a:pPr algn="l"/>
            <a:r>
              <a:rPr kumimoji="1" lang="en-US" altLang="zh-CN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eC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allstate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Off→IDLE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切替：</a:t>
            </a:r>
            <a:r>
              <a:rPr kumimoji="1" lang="en-US" altLang="ja-JP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⇒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boot up LED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点滅</a:t>
            </a:r>
          </a:p>
        </p:txBody>
      </p:sp>
      <p:sp>
        <p:nvSpPr>
          <p:cNvPr id="327" name="流程图: 决策 326"/>
          <p:cNvSpPr/>
          <p:nvPr/>
        </p:nvSpPr>
        <p:spPr>
          <a:xfrm>
            <a:off x="780733" y="3186430"/>
            <a:ext cx="1372235" cy="38989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Acc=on&amp;Ig=off</a:t>
            </a:r>
          </a:p>
        </p:txBody>
      </p:sp>
      <p:sp>
        <p:nvSpPr>
          <p:cNvPr id="328" name="流程图: 决策 327"/>
          <p:cNvSpPr/>
          <p:nvPr/>
        </p:nvSpPr>
        <p:spPr>
          <a:xfrm>
            <a:off x="781050" y="3933825"/>
            <a:ext cx="1371600" cy="35623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29" name="直接箭头连接符 328"/>
          <p:cNvCxnSpPr>
            <a:stCxn id="320" idx="2"/>
            <a:endCxn id="321" idx="0"/>
          </p:cNvCxnSpPr>
          <p:nvPr/>
        </p:nvCxnSpPr>
        <p:spPr>
          <a:xfrm>
            <a:off x="1467485" y="1923415"/>
            <a:ext cx="0" cy="1892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0" name="直接箭头连接符 329"/>
          <p:cNvCxnSpPr>
            <a:stCxn id="321" idx="2"/>
            <a:endCxn id="333" idx="0"/>
          </p:cNvCxnSpPr>
          <p:nvPr/>
        </p:nvCxnSpPr>
        <p:spPr>
          <a:xfrm>
            <a:off x="1467485" y="2470150"/>
            <a:ext cx="0" cy="260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1" name="直接箭头连接符 330"/>
          <p:cNvCxnSpPr>
            <a:stCxn id="328" idx="2"/>
            <a:endCxn id="326" idx="0"/>
          </p:cNvCxnSpPr>
          <p:nvPr/>
        </p:nvCxnSpPr>
        <p:spPr>
          <a:xfrm>
            <a:off x="1466850" y="4290060"/>
            <a:ext cx="0" cy="394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2" name="流程图: 决策 331"/>
          <p:cNvSpPr/>
          <p:nvPr/>
        </p:nvSpPr>
        <p:spPr>
          <a:xfrm>
            <a:off x="4409758" y="2112645"/>
            <a:ext cx="1370965" cy="35750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Ig≠mIg</a:t>
            </a:r>
          </a:p>
        </p:txBody>
      </p:sp>
      <p:sp>
        <p:nvSpPr>
          <p:cNvPr id="333" name="矩形 332"/>
          <p:cNvSpPr/>
          <p:nvPr/>
        </p:nvSpPr>
        <p:spPr>
          <a:xfrm>
            <a:off x="854393" y="2730500"/>
            <a:ext cx="1224915" cy="2279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mAcc = Acc</a:t>
            </a:r>
          </a:p>
        </p:txBody>
      </p:sp>
      <p:cxnSp>
        <p:nvCxnSpPr>
          <p:cNvPr id="334" name="直接箭头连接符 333"/>
          <p:cNvCxnSpPr>
            <a:stCxn id="333" idx="2"/>
            <a:endCxn id="327" idx="0"/>
          </p:cNvCxnSpPr>
          <p:nvPr/>
        </p:nvCxnSpPr>
        <p:spPr>
          <a:xfrm>
            <a:off x="1467485" y="2958465"/>
            <a:ext cx="0" cy="2279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5" name="肘形连接符 334"/>
          <p:cNvCxnSpPr>
            <a:stCxn id="326" idx="2"/>
            <a:endCxn id="320" idx="1"/>
          </p:cNvCxnSpPr>
          <p:nvPr/>
        </p:nvCxnSpPr>
        <p:spPr>
          <a:xfrm rot="5400000" flipH="1">
            <a:off x="-450215" y="3114675"/>
            <a:ext cx="3222625" cy="612140"/>
          </a:xfrm>
          <a:prstGeom prst="bentConnector4">
            <a:avLst>
              <a:gd name="adj1" fmla="val -7379"/>
              <a:gd name="adj2" fmla="val 164471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6" name="流程图: 决策 335"/>
          <p:cNvSpPr/>
          <p:nvPr/>
        </p:nvSpPr>
        <p:spPr>
          <a:xfrm>
            <a:off x="2560003" y="3095625"/>
            <a:ext cx="1372235" cy="56197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&amp;Vbus=off</a:t>
            </a:r>
          </a:p>
        </p:txBody>
      </p:sp>
      <p:cxnSp>
        <p:nvCxnSpPr>
          <p:cNvPr id="337" name="直接箭头连接符 336"/>
          <p:cNvCxnSpPr>
            <a:stCxn id="327" idx="3"/>
            <a:endCxn id="336" idx="1"/>
          </p:cNvCxnSpPr>
          <p:nvPr/>
        </p:nvCxnSpPr>
        <p:spPr>
          <a:xfrm flipV="1">
            <a:off x="2153285" y="3376930"/>
            <a:ext cx="40703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8" name="流程图: 决策 337"/>
          <p:cNvSpPr/>
          <p:nvPr/>
        </p:nvSpPr>
        <p:spPr>
          <a:xfrm>
            <a:off x="2560320" y="3933825"/>
            <a:ext cx="1371600" cy="35623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eCallstate=IDLE</a:t>
            </a:r>
          </a:p>
        </p:txBody>
      </p:sp>
      <p:cxnSp>
        <p:nvCxnSpPr>
          <p:cNvPr id="339" name="直接箭头连接符 338"/>
          <p:cNvCxnSpPr>
            <a:stCxn id="336" idx="2"/>
            <a:endCxn id="338" idx="0"/>
          </p:cNvCxnSpPr>
          <p:nvPr/>
        </p:nvCxnSpPr>
        <p:spPr>
          <a:xfrm flipH="1">
            <a:off x="3246120" y="3657600"/>
            <a:ext cx="635" cy="276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0" name="矩形 339"/>
          <p:cNvSpPr/>
          <p:nvPr/>
        </p:nvSpPr>
        <p:spPr>
          <a:xfrm>
            <a:off x="2404745" y="4691380"/>
            <a:ext cx="1682750" cy="34798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eC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allstate 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IDLE→Off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切替：</a:t>
            </a:r>
          </a:p>
          <a:p>
            <a:pPr algn="l"/>
            <a:r>
              <a:rPr kumimoji="1" lang="en-US" altLang="ja-JP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⇒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close LED and MIC</a:t>
            </a:r>
          </a:p>
        </p:txBody>
      </p:sp>
      <p:cxnSp>
        <p:nvCxnSpPr>
          <p:cNvPr id="341" name="肘形连接符 340"/>
          <p:cNvCxnSpPr>
            <a:stCxn id="328" idx="1"/>
            <a:endCxn id="320" idx="1"/>
          </p:cNvCxnSpPr>
          <p:nvPr/>
        </p:nvCxnSpPr>
        <p:spPr>
          <a:xfrm rot="10800000" flipH="1">
            <a:off x="781050" y="1809750"/>
            <a:ext cx="73660" cy="2302510"/>
          </a:xfrm>
          <a:prstGeom prst="bentConnector3">
            <a:avLst>
              <a:gd name="adj1" fmla="val -43965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2" name="文本框 341"/>
          <p:cNvSpPr txBox="1"/>
          <p:nvPr/>
        </p:nvSpPr>
        <p:spPr>
          <a:xfrm flipH="1">
            <a:off x="1490980" y="3658870"/>
            <a:ext cx="808355" cy="147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43" name="文本框 342"/>
          <p:cNvSpPr txBox="1"/>
          <p:nvPr/>
        </p:nvSpPr>
        <p:spPr>
          <a:xfrm flipH="1">
            <a:off x="1490980" y="4394835"/>
            <a:ext cx="808355" cy="147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44" name="文本框 343"/>
          <p:cNvSpPr txBox="1"/>
          <p:nvPr/>
        </p:nvSpPr>
        <p:spPr>
          <a:xfrm>
            <a:off x="2235200" y="2132965"/>
            <a:ext cx="37338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45" name="文本框 344"/>
          <p:cNvSpPr txBox="1"/>
          <p:nvPr/>
        </p:nvSpPr>
        <p:spPr>
          <a:xfrm>
            <a:off x="2241550" y="3230245"/>
            <a:ext cx="37338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46" name="直接箭头连接符 345"/>
          <p:cNvCxnSpPr>
            <a:stCxn id="338" idx="2"/>
            <a:endCxn id="340" idx="0"/>
          </p:cNvCxnSpPr>
          <p:nvPr/>
        </p:nvCxnSpPr>
        <p:spPr>
          <a:xfrm>
            <a:off x="3246120" y="4290060"/>
            <a:ext cx="0" cy="4013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7" name="肘形连接符 346"/>
          <p:cNvCxnSpPr>
            <a:stCxn id="336" idx="3"/>
            <a:endCxn id="332" idx="1"/>
          </p:cNvCxnSpPr>
          <p:nvPr/>
        </p:nvCxnSpPr>
        <p:spPr>
          <a:xfrm flipV="1">
            <a:off x="3932555" y="2291715"/>
            <a:ext cx="477520" cy="10852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8" name="文本框 347"/>
          <p:cNvSpPr txBox="1"/>
          <p:nvPr/>
        </p:nvSpPr>
        <p:spPr>
          <a:xfrm flipH="1">
            <a:off x="3435350" y="3717290"/>
            <a:ext cx="808355" cy="147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49" name="文本框 348"/>
          <p:cNvSpPr txBox="1"/>
          <p:nvPr/>
        </p:nvSpPr>
        <p:spPr>
          <a:xfrm flipH="1">
            <a:off x="3287395" y="4394835"/>
            <a:ext cx="808355" cy="147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50" name="肘形连接符 349"/>
          <p:cNvCxnSpPr>
            <a:stCxn id="340" idx="2"/>
            <a:endCxn id="320" idx="1"/>
          </p:cNvCxnSpPr>
          <p:nvPr/>
        </p:nvCxnSpPr>
        <p:spPr>
          <a:xfrm rot="5400000" flipH="1">
            <a:off x="435610" y="2228850"/>
            <a:ext cx="3229610" cy="2391410"/>
          </a:xfrm>
          <a:prstGeom prst="bentConnector4">
            <a:avLst>
              <a:gd name="adj1" fmla="val -7373"/>
              <a:gd name="adj2" fmla="val 11606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1" name="直接箭头连接符 350"/>
          <p:cNvCxnSpPr>
            <a:stCxn id="321" idx="3"/>
            <a:endCxn id="332" idx="1"/>
          </p:cNvCxnSpPr>
          <p:nvPr/>
        </p:nvCxnSpPr>
        <p:spPr>
          <a:xfrm>
            <a:off x="2152650" y="2291715"/>
            <a:ext cx="22574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2" name="流程图: 决策 351"/>
          <p:cNvSpPr/>
          <p:nvPr/>
        </p:nvSpPr>
        <p:spPr>
          <a:xfrm>
            <a:off x="4409123" y="3186430"/>
            <a:ext cx="1372235" cy="38989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Acc=off&amp;Ig=on</a:t>
            </a:r>
          </a:p>
        </p:txBody>
      </p:sp>
      <p:sp>
        <p:nvSpPr>
          <p:cNvPr id="353" name="矩形 352"/>
          <p:cNvSpPr/>
          <p:nvPr/>
        </p:nvSpPr>
        <p:spPr>
          <a:xfrm>
            <a:off x="4482783" y="2730500"/>
            <a:ext cx="1224915" cy="2279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mIg = Ig</a:t>
            </a:r>
          </a:p>
        </p:txBody>
      </p:sp>
      <p:sp>
        <p:nvSpPr>
          <p:cNvPr id="354" name="流程图: 决策 353"/>
          <p:cNvSpPr/>
          <p:nvPr/>
        </p:nvSpPr>
        <p:spPr>
          <a:xfrm>
            <a:off x="4409440" y="3933190"/>
            <a:ext cx="1371600" cy="35623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55" name="直接箭头连接符 354"/>
          <p:cNvCxnSpPr>
            <a:stCxn id="352" idx="2"/>
            <a:endCxn id="354" idx="0"/>
          </p:cNvCxnSpPr>
          <p:nvPr/>
        </p:nvCxnSpPr>
        <p:spPr>
          <a:xfrm flipH="1">
            <a:off x="5095240" y="3576320"/>
            <a:ext cx="635" cy="3568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直接箭头连接符 355"/>
          <p:cNvCxnSpPr>
            <a:stCxn id="332" idx="2"/>
            <a:endCxn id="353" idx="0"/>
          </p:cNvCxnSpPr>
          <p:nvPr/>
        </p:nvCxnSpPr>
        <p:spPr>
          <a:xfrm>
            <a:off x="5095875" y="2470150"/>
            <a:ext cx="0" cy="260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7" name="直接箭头连接符 356"/>
          <p:cNvCxnSpPr>
            <a:stCxn id="353" idx="2"/>
            <a:endCxn id="352" idx="0"/>
          </p:cNvCxnSpPr>
          <p:nvPr/>
        </p:nvCxnSpPr>
        <p:spPr>
          <a:xfrm>
            <a:off x="5095875" y="2958465"/>
            <a:ext cx="0" cy="2279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8" name="矩形 357"/>
          <p:cNvSpPr/>
          <p:nvPr/>
        </p:nvSpPr>
        <p:spPr>
          <a:xfrm>
            <a:off x="4326890" y="4653280"/>
            <a:ext cx="1536700" cy="34798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eC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allstate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Off→IDLE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切替：</a:t>
            </a:r>
            <a:endParaRPr kumimoji="1" lang="en-US" sz="1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⇒boot up LED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点滅</a:t>
            </a:r>
          </a:p>
        </p:txBody>
      </p:sp>
      <p:cxnSp>
        <p:nvCxnSpPr>
          <p:cNvPr id="359" name="直接箭头连接符 358"/>
          <p:cNvCxnSpPr>
            <a:stCxn id="354" idx="2"/>
            <a:endCxn id="358" idx="0"/>
          </p:cNvCxnSpPr>
          <p:nvPr/>
        </p:nvCxnSpPr>
        <p:spPr>
          <a:xfrm>
            <a:off x="5095240" y="4289425"/>
            <a:ext cx="0" cy="363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0" name="肘形连接符 359"/>
          <p:cNvCxnSpPr>
            <a:stCxn id="358" idx="2"/>
            <a:endCxn id="320" idx="1"/>
          </p:cNvCxnSpPr>
          <p:nvPr/>
        </p:nvCxnSpPr>
        <p:spPr>
          <a:xfrm rot="5400000" flipH="1">
            <a:off x="1379220" y="1285240"/>
            <a:ext cx="3191510" cy="4240530"/>
          </a:xfrm>
          <a:prstGeom prst="bentConnector4">
            <a:avLst>
              <a:gd name="adj1" fmla="val -8495"/>
              <a:gd name="adj2" fmla="val 10937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1" name="肘形连接符 360"/>
          <p:cNvCxnSpPr>
            <a:stCxn id="338" idx="3"/>
            <a:endCxn id="332" idx="1"/>
          </p:cNvCxnSpPr>
          <p:nvPr/>
        </p:nvCxnSpPr>
        <p:spPr>
          <a:xfrm flipV="1">
            <a:off x="3931920" y="2291715"/>
            <a:ext cx="478155" cy="1820545"/>
          </a:xfrm>
          <a:prstGeom prst="bentConnector3">
            <a:avLst>
              <a:gd name="adj1" fmla="val 50066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2" name="文本框 361"/>
          <p:cNvSpPr txBox="1"/>
          <p:nvPr/>
        </p:nvSpPr>
        <p:spPr>
          <a:xfrm>
            <a:off x="4083685" y="3965575"/>
            <a:ext cx="37338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63" name="文本框 362"/>
          <p:cNvSpPr txBox="1"/>
          <p:nvPr/>
        </p:nvSpPr>
        <p:spPr>
          <a:xfrm>
            <a:off x="4011930" y="3230245"/>
            <a:ext cx="37338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64" name="文本框 363"/>
          <p:cNvSpPr txBox="1"/>
          <p:nvPr/>
        </p:nvSpPr>
        <p:spPr>
          <a:xfrm>
            <a:off x="1490980" y="2997200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65" name="文本框 364"/>
          <p:cNvSpPr txBox="1"/>
          <p:nvPr/>
        </p:nvSpPr>
        <p:spPr>
          <a:xfrm>
            <a:off x="5160010" y="3659505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66" name="文本框 365"/>
          <p:cNvSpPr txBox="1"/>
          <p:nvPr/>
        </p:nvSpPr>
        <p:spPr>
          <a:xfrm>
            <a:off x="5158740" y="4376420"/>
            <a:ext cx="54927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67" name="流程图: 决策 366"/>
          <p:cNvSpPr/>
          <p:nvPr/>
        </p:nvSpPr>
        <p:spPr>
          <a:xfrm>
            <a:off x="6096953" y="3186430"/>
            <a:ext cx="1372235" cy="38989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Acc=on&amp;Ig=on</a:t>
            </a:r>
          </a:p>
        </p:txBody>
      </p:sp>
      <p:cxnSp>
        <p:nvCxnSpPr>
          <p:cNvPr id="368" name="直接箭头连接符 367"/>
          <p:cNvCxnSpPr>
            <a:stCxn id="352" idx="3"/>
            <a:endCxn id="367" idx="1"/>
          </p:cNvCxnSpPr>
          <p:nvPr/>
        </p:nvCxnSpPr>
        <p:spPr>
          <a:xfrm>
            <a:off x="5781675" y="3381375"/>
            <a:ext cx="31559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9" name="文本框 368"/>
          <p:cNvSpPr txBox="1"/>
          <p:nvPr/>
        </p:nvSpPr>
        <p:spPr>
          <a:xfrm>
            <a:off x="5781040" y="3933190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70" name="肘形连接符 369"/>
          <p:cNvCxnSpPr>
            <a:stCxn id="367" idx="2"/>
            <a:endCxn id="373" idx="0"/>
          </p:cNvCxnSpPr>
          <p:nvPr/>
        </p:nvCxnSpPr>
        <p:spPr>
          <a:xfrm rot="5400000" flipV="1">
            <a:off x="6606858" y="3753168"/>
            <a:ext cx="356870" cy="3175"/>
          </a:xfrm>
          <a:prstGeom prst="bentConnector3">
            <a:avLst>
              <a:gd name="adj1" fmla="val 49911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1" name="肘形连接符 370"/>
          <p:cNvCxnSpPr>
            <a:stCxn id="354" idx="3"/>
            <a:endCxn id="367" idx="1"/>
          </p:cNvCxnSpPr>
          <p:nvPr/>
        </p:nvCxnSpPr>
        <p:spPr>
          <a:xfrm flipV="1">
            <a:off x="5781040" y="3381375"/>
            <a:ext cx="316230" cy="7302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2" name="文本框 371"/>
          <p:cNvSpPr txBox="1"/>
          <p:nvPr/>
        </p:nvSpPr>
        <p:spPr>
          <a:xfrm>
            <a:off x="5781040" y="3234690"/>
            <a:ext cx="16510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73" name="流程图: 决策 372"/>
          <p:cNvSpPr/>
          <p:nvPr/>
        </p:nvSpPr>
        <p:spPr>
          <a:xfrm>
            <a:off x="6101080" y="3933190"/>
            <a:ext cx="1371600" cy="35623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74" name="肘形连接符 373"/>
          <p:cNvCxnSpPr>
            <a:stCxn id="373" idx="2"/>
            <a:endCxn id="358" idx="3"/>
          </p:cNvCxnSpPr>
          <p:nvPr/>
        </p:nvCxnSpPr>
        <p:spPr>
          <a:xfrm rot="5400000">
            <a:off x="6056313" y="4096703"/>
            <a:ext cx="537845" cy="92329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5" name="文本框 374"/>
          <p:cNvSpPr txBox="1"/>
          <p:nvPr/>
        </p:nvSpPr>
        <p:spPr>
          <a:xfrm>
            <a:off x="6816725" y="3649980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76" name="流程图: 决策 375"/>
          <p:cNvSpPr/>
          <p:nvPr/>
        </p:nvSpPr>
        <p:spPr>
          <a:xfrm>
            <a:off x="7973060" y="3095625"/>
            <a:ext cx="1372235" cy="563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&amp;vBus=off</a:t>
            </a:r>
          </a:p>
        </p:txBody>
      </p:sp>
      <p:cxnSp>
        <p:nvCxnSpPr>
          <p:cNvPr id="377" name="直接箭头连接符 376"/>
          <p:cNvCxnSpPr>
            <a:stCxn id="367" idx="3"/>
            <a:endCxn id="376" idx="1"/>
          </p:cNvCxnSpPr>
          <p:nvPr/>
        </p:nvCxnSpPr>
        <p:spPr>
          <a:xfrm flipV="1">
            <a:off x="7469505" y="3377565"/>
            <a:ext cx="503555" cy="3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8" name="文本框 377"/>
          <p:cNvSpPr txBox="1"/>
          <p:nvPr/>
        </p:nvSpPr>
        <p:spPr>
          <a:xfrm>
            <a:off x="7657465" y="3230245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79" name="流程图: 决策 378"/>
          <p:cNvSpPr/>
          <p:nvPr/>
        </p:nvSpPr>
        <p:spPr>
          <a:xfrm>
            <a:off x="7973695" y="3933190"/>
            <a:ext cx="1371600" cy="35623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eCallstate=IDLE</a:t>
            </a:r>
          </a:p>
        </p:txBody>
      </p:sp>
      <p:sp>
        <p:nvSpPr>
          <p:cNvPr id="380" name="矩形 379"/>
          <p:cNvSpPr/>
          <p:nvPr/>
        </p:nvSpPr>
        <p:spPr>
          <a:xfrm>
            <a:off x="7817485" y="4653280"/>
            <a:ext cx="1682750" cy="34798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eC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allstate 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IDLE→Off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切替：</a:t>
            </a:r>
            <a:endParaRPr kumimoji="1" lang="en-US" sz="1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⇒close LED and MIC</a:t>
            </a:r>
          </a:p>
        </p:txBody>
      </p:sp>
      <p:cxnSp>
        <p:nvCxnSpPr>
          <p:cNvPr id="381" name="直接箭头连接符 380"/>
          <p:cNvCxnSpPr>
            <a:stCxn id="376" idx="2"/>
            <a:endCxn id="379" idx="0"/>
          </p:cNvCxnSpPr>
          <p:nvPr/>
        </p:nvCxnSpPr>
        <p:spPr>
          <a:xfrm>
            <a:off x="8659495" y="3659505"/>
            <a:ext cx="0" cy="2736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2" name="直接箭头连接符 381"/>
          <p:cNvCxnSpPr>
            <a:stCxn id="379" idx="2"/>
            <a:endCxn id="380" idx="0"/>
          </p:cNvCxnSpPr>
          <p:nvPr/>
        </p:nvCxnSpPr>
        <p:spPr>
          <a:xfrm flipH="1">
            <a:off x="8658860" y="4289425"/>
            <a:ext cx="635" cy="363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3" name="肘形连接符 382"/>
          <p:cNvCxnSpPr>
            <a:stCxn id="380" idx="2"/>
            <a:endCxn id="320" idx="1"/>
          </p:cNvCxnSpPr>
          <p:nvPr/>
        </p:nvCxnSpPr>
        <p:spPr>
          <a:xfrm rot="5400000" flipH="1">
            <a:off x="3161030" y="-496570"/>
            <a:ext cx="3191510" cy="7804150"/>
          </a:xfrm>
          <a:prstGeom prst="bentConnector4">
            <a:avLst>
              <a:gd name="adj1" fmla="val -8495"/>
              <a:gd name="adj2" fmla="val 10509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4" name="流程图: 决策 383"/>
          <p:cNvSpPr/>
          <p:nvPr/>
        </p:nvSpPr>
        <p:spPr>
          <a:xfrm>
            <a:off x="9847263" y="2112645"/>
            <a:ext cx="1370965" cy="35750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Vbus≠mVbus</a:t>
            </a:r>
          </a:p>
        </p:txBody>
      </p:sp>
      <p:sp>
        <p:nvSpPr>
          <p:cNvPr id="385" name="文本框 384"/>
          <p:cNvSpPr txBox="1"/>
          <p:nvPr/>
        </p:nvSpPr>
        <p:spPr>
          <a:xfrm>
            <a:off x="5594985" y="2493010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86" name="文本框 385"/>
          <p:cNvSpPr txBox="1"/>
          <p:nvPr/>
        </p:nvSpPr>
        <p:spPr>
          <a:xfrm>
            <a:off x="10560050" y="2493645"/>
            <a:ext cx="711835" cy="155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87" name="肘形连接符 386"/>
          <p:cNvCxnSpPr/>
          <p:nvPr/>
        </p:nvCxnSpPr>
        <p:spPr>
          <a:xfrm flipH="1" flipV="1">
            <a:off x="854710" y="1809750"/>
            <a:ext cx="6617970" cy="2301875"/>
          </a:xfrm>
          <a:prstGeom prst="bentConnector5">
            <a:avLst>
              <a:gd name="adj1" fmla="val -1794"/>
              <a:gd name="adj2" fmla="val -50317"/>
              <a:gd name="adj3" fmla="val 105996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8" name="文本框 387"/>
          <p:cNvSpPr txBox="1"/>
          <p:nvPr/>
        </p:nvSpPr>
        <p:spPr>
          <a:xfrm>
            <a:off x="6816725" y="4653280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89" name="文本框 388"/>
          <p:cNvSpPr txBox="1"/>
          <p:nvPr/>
        </p:nvSpPr>
        <p:spPr>
          <a:xfrm>
            <a:off x="7472680" y="4149090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90" name="直接箭头连接符 389"/>
          <p:cNvCxnSpPr>
            <a:stCxn id="332" idx="3"/>
            <a:endCxn id="384" idx="1"/>
          </p:cNvCxnSpPr>
          <p:nvPr/>
        </p:nvCxnSpPr>
        <p:spPr>
          <a:xfrm>
            <a:off x="5781040" y="2291715"/>
            <a:ext cx="406654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1" name="流程图: 决策 390"/>
          <p:cNvSpPr/>
          <p:nvPr/>
        </p:nvSpPr>
        <p:spPr>
          <a:xfrm>
            <a:off x="9846628" y="3095625"/>
            <a:ext cx="1372235" cy="563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&amp;vBus=on</a:t>
            </a:r>
          </a:p>
        </p:txBody>
      </p:sp>
      <p:sp>
        <p:nvSpPr>
          <p:cNvPr id="392" name="流程图: 决策 391"/>
          <p:cNvSpPr/>
          <p:nvPr/>
        </p:nvSpPr>
        <p:spPr>
          <a:xfrm>
            <a:off x="9846945" y="3933190"/>
            <a:ext cx="1371600" cy="35623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93" name="直接箭头连接符 392"/>
          <p:cNvCxnSpPr>
            <a:stCxn id="391" idx="2"/>
            <a:endCxn id="392" idx="0"/>
          </p:cNvCxnSpPr>
          <p:nvPr/>
        </p:nvCxnSpPr>
        <p:spPr>
          <a:xfrm flipH="1">
            <a:off x="10532745" y="3659505"/>
            <a:ext cx="635" cy="2736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9698355" y="4653280"/>
            <a:ext cx="1682750" cy="34798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eC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allstate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en-US" sz="1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Off→IDLE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切替：</a:t>
            </a:r>
            <a:endParaRPr kumimoji="1" lang="en-US" sz="1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⇒</a:t>
            </a:r>
            <a:r>
              <a:rPr kumimoji="1" 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boot up LED</a:t>
            </a:r>
            <a:r>
              <a:rPr kumimoji="1" lang="ja-JP" altLang="en-US" sz="1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点滅</a:t>
            </a:r>
          </a:p>
        </p:txBody>
      </p:sp>
      <p:cxnSp>
        <p:nvCxnSpPr>
          <p:cNvPr id="395" name="直接箭头连接符 394"/>
          <p:cNvCxnSpPr>
            <a:stCxn id="392" idx="2"/>
            <a:endCxn id="394" idx="0"/>
          </p:cNvCxnSpPr>
          <p:nvPr/>
        </p:nvCxnSpPr>
        <p:spPr>
          <a:xfrm>
            <a:off x="10532745" y="4289425"/>
            <a:ext cx="6985" cy="363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6" name="肘形连接符 395"/>
          <p:cNvCxnSpPr/>
          <p:nvPr/>
        </p:nvCxnSpPr>
        <p:spPr>
          <a:xfrm flipH="1" flipV="1">
            <a:off x="854710" y="1809750"/>
            <a:ext cx="10363835" cy="481965"/>
          </a:xfrm>
          <a:prstGeom prst="bentConnector5">
            <a:avLst>
              <a:gd name="adj1" fmla="val -2298"/>
              <a:gd name="adj2" fmla="val -617654"/>
              <a:gd name="adj3" fmla="val 10383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7" name="文本框 396"/>
          <p:cNvSpPr txBox="1"/>
          <p:nvPr/>
        </p:nvSpPr>
        <p:spPr>
          <a:xfrm>
            <a:off x="10560050" y="3707765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8" name="文本框 397"/>
          <p:cNvSpPr txBox="1"/>
          <p:nvPr/>
        </p:nvSpPr>
        <p:spPr>
          <a:xfrm>
            <a:off x="10560050" y="4385945"/>
            <a:ext cx="292100" cy="156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9" name="文本框 398"/>
          <p:cNvSpPr txBox="1"/>
          <p:nvPr/>
        </p:nvSpPr>
        <p:spPr>
          <a:xfrm>
            <a:off x="6816725" y="2112645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00" name="矩形 399"/>
          <p:cNvSpPr/>
          <p:nvPr/>
        </p:nvSpPr>
        <p:spPr>
          <a:xfrm>
            <a:off x="9920288" y="2730500"/>
            <a:ext cx="1224915" cy="2279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mVbus = Vbus</a:t>
            </a:r>
          </a:p>
        </p:txBody>
      </p:sp>
      <p:cxnSp>
        <p:nvCxnSpPr>
          <p:cNvPr id="401" name="直接箭头连接符 400"/>
          <p:cNvCxnSpPr>
            <a:stCxn id="384" idx="2"/>
            <a:endCxn id="400" idx="0"/>
          </p:cNvCxnSpPr>
          <p:nvPr/>
        </p:nvCxnSpPr>
        <p:spPr>
          <a:xfrm>
            <a:off x="10533380" y="2470150"/>
            <a:ext cx="0" cy="260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2" name="直接箭头连接符 401"/>
          <p:cNvCxnSpPr>
            <a:stCxn id="400" idx="2"/>
            <a:endCxn id="391" idx="0"/>
          </p:cNvCxnSpPr>
          <p:nvPr/>
        </p:nvCxnSpPr>
        <p:spPr>
          <a:xfrm>
            <a:off x="10533380" y="2958465"/>
            <a:ext cx="0" cy="137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3" name="文本框 402"/>
          <p:cNvSpPr txBox="1"/>
          <p:nvPr/>
        </p:nvSpPr>
        <p:spPr>
          <a:xfrm>
            <a:off x="8759825" y="3708400"/>
            <a:ext cx="711835" cy="155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404" name="肘形连接符 403"/>
          <p:cNvCxnSpPr>
            <a:stCxn id="391" idx="3"/>
            <a:endCxn id="320" idx="1"/>
          </p:cNvCxnSpPr>
          <p:nvPr/>
        </p:nvCxnSpPr>
        <p:spPr>
          <a:xfrm flipH="1" flipV="1">
            <a:off x="854710" y="1809750"/>
            <a:ext cx="10364470" cy="1567815"/>
          </a:xfrm>
          <a:prstGeom prst="bentConnector5">
            <a:avLst>
              <a:gd name="adj1" fmla="val -2298"/>
              <a:gd name="adj2" fmla="val -123531"/>
              <a:gd name="adj3" fmla="val 104821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5" name="肘形连接符 404"/>
          <p:cNvCxnSpPr>
            <a:stCxn id="392" idx="3"/>
            <a:endCxn id="320" idx="1"/>
          </p:cNvCxnSpPr>
          <p:nvPr/>
        </p:nvCxnSpPr>
        <p:spPr>
          <a:xfrm flipH="1" flipV="1">
            <a:off x="854710" y="1809750"/>
            <a:ext cx="10363835" cy="2301875"/>
          </a:xfrm>
          <a:prstGeom prst="bentConnector5">
            <a:avLst>
              <a:gd name="adj1" fmla="val -2298"/>
              <a:gd name="adj2" fmla="val -50344"/>
              <a:gd name="adj3" fmla="val 10383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6" name="文本框 405"/>
          <p:cNvSpPr txBox="1"/>
          <p:nvPr/>
        </p:nvSpPr>
        <p:spPr>
          <a:xfrm>
            <a:off x="11208385" y="3186430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07" name="文本框 406"/>
          <p:cNvSpPr txBox="1"/>
          <p:nvPr/>
        </p:nvSpPr>
        <p:spPr>
          <a:xfrm>
            <a:off x="11208385" y="3933190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08" name="文本框 407"/>
          <p:cNvSpPr txBox="1"/>
          <p:nvPr/>
        </p:nvSpPr>
        <p:spPr>
          <a:xfrm>
            <a:off x="8688070" y="4356735"/>
            <a:ext cx="711835" cy="1555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409" name="肘形连接符 408"/>
          <p:cNvCxnSpPr/>
          <p:nvPr/>
        </p:nvCxnSpPr>
        <p:spPr>
          <a:xfrm flipV="1">
            <a:off x="9345295" y="2291715"/>
            <a:ext cx="502285" cy="1085850"/>
          </a:xfrm>
          <a:prstGeom prst="bentConnector3">
            <a:avLst>
              <a:gd name="adj1" fmla="val 5006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0" name="文本框 409"/>
          <p:cNvSpPr txBox="1"/>
          <p:nvPr/>
        </p:nvSpPr>
        <p:spPr>
          <a:xfrm>
            <a:off x="9399905" y="3213100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411" name="肘形连接符 410"/>
          <p:cNvCxnSpPr>
            <a:stCxn id="379" idx="3"/>
            <a:endCxn id="384" idx="1"/>
          </p:cNvCxnSpPr>
          <p:nvPr/>
        </p:nvCxnSpPr>
        <p:spPr>
          <a:xfrm flipV="1">
            <a:off x="9345295" y="2291715"/>
            <a:ext cx="502285" cy="1819910"/>
          </a:xfrm>
          <a:prstGeom prst="bentConnector3">
            <a:avLst>
              <a:gd name="adj1" fmla="val 5006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2" name="文本框 411"/>
          <p:cNvSpPr txBox="1"/>
          <p:nvPr/>
        </p:nvSpPr>
        <p:spPr>
          <a:xfrm>
            <a:off x="9408160" y="3964940"/>
            <a:ext cx="454660" cy="146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6" name="矩形 5"/>
          <p:cNvSpPr/>
          <p:nvPr/>
        </p:nvSpPr>
        <p:spPr>
          <a:xfrm>
            <a:off x="9840595" y="3068955"/>
            <a:ext cx="2320290" cy="243967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wrap="none" rtlCol="0" anchor="ctr"/>
          <a:lstStyle/>
          <a:p>
            <a:pPr algn="r"/>
            <a:r>
              <a:rPr kumimoji="1" lang="ja-JP" altLang="zh-CN" sz="1400" dirty="0">
                <a:solidFill>
                  <a:srgbClr val="FF0000"/>
                </a:solidFill>
                <a:latin typeface="Arial" panose="020B0604020202020204" pitchFamily="34" charset="0"/>
                <a:ea typeface="Meiryo UI" panose="020B0604030504040204" pitchFamily="50" charset="-128"/>
              </a:rPr>
              <a:t>問題箇所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3525" y="145415"/>
            <a:ext cx="12448540" cy="344805"/>
          </a:xfrm>
        </p:spPr>
        <p:txBody>
          <a:bodyPr/>
          <a:lstStyle/>
          <a:p>
            <a:r>
              <a:rPr lang="ja-JP" altLang="zh-CN" dirty="0">
                <a:latin typeface="Arial" panose="020B0604020202020204" pitchFamily="34" charset="0"/>
                <a:ea typeface="Meiryo UI" panose="020B0604030504040204" pitchFamily="50" charset="-128"/>
                <a:cs typeface="STHeiti Light" charset="-122"/>
                <a:sym typeface="+mn-ea"/>
              </a:rPr>
              <a:t>対策内容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0385" y="783590"/>
            <a:ext cx="11195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IG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と</a:t>
            </a:r>
            <a:r>
              <a:rPr lang="en-US" altLang="ja-JP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ACC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の状態が両方とも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状態であるとき、更に</a:t>
            </a:r>
            <a:r>
              <a:rPr lang="en-US" altLang="ja-JP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”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Ecallstate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”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が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IDLE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か否かチェックする。</a:t>
            </a:r>
          </a:p>
          <a:p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Ecall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の</a:t>
            </a:r>
            <a:r>
              <a:rPr lang="en-US" altLang="ja-JP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state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が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IDLE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であれば、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</a:t>
            </a:r>
            <a:r>
              <a:rPr lang="ja-JP" altLang="en-US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状態に切替えるように修正</a:t>
            </a:r>
          </a:p>
        </p:txBody>
      </p:sp>
      <p:graphicFrame>
        <p:nvGraphicFramePr>
          <p:cNvPr id="325" name="Table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366250" y="1372870"/>
          <a:ext cx="2273935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mAcc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mIg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mVbus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eCallState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0" name="矩形 319"/>
          <p:cNvSpPr/>
          <p:nvPr/>
        </p:nvSpPr>
        <p:spPr>
          <a:xfrm>
            <a:off x="400685" y="1695450"/>
            <a:ext cx="1099820" cy="1981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 Ig Vbus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状態読み取る</a:t>
            </a:r>
          </a:p>
        </p:txBody>
      </p:sp>
      <p:sp>
        <p:nvSpPr>
          <p:cNvPr id="321" name="流程图: 决策 320"/>
          <p:cNvSpPr/>
          <p:nvPr/>
        </p:nvSpPr>
        <p:spPr>
          <a:xfrm>
            <a:off x="335280" y="2058670"/>
            <a:ext cx="1231265" cy="31115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Acc≠mAcc</a:t>
            </a:r>
          </a:p>
        </p:txBody>
      </p:sp>
      <p:cxnSp>
        <p:nvCxnSpPr>
          <p:cNvPr id="322" name="直接箭头连接符 321"/>
          <p:cNvCxnSpPr>
            <a:stCxn id="327" idx="2"/>
            <a:endCxn id="328" idx="0"/>
          </p:cNvCxnSpPr>
          <p:nvPr/>
        </p:nvCxnSpPr>
        <p:spPr>
          <a:xfrm flipH="1">
            <a:off x="950595" y="3331845"/>
            <a:ext cx="635" cy="3111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3" name="文本框 322"/>
          <p:cNvSpPr txBox="1"/>
          <p:nvPr/>
        </p:nvSpPr>
        <p:spPr>
          <a:xfrm>
            <a:off x="972185" y="2389505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24" name="文本框 323"/>
          <p:cNvSpPr txBox="1"/>
          <p:nvPr/>
        </p:nvSpPr>
        <p:spPr>
          <a:xfrm>
            <a:off x="196215" y="3642995"/>
            <a:ext cx="335280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26" name="矩形 325"/>
          <p:cNvSpPr/>
          <p:nvPr/>
        </p:nvSpPr>
        <p:spPr>
          <a:xfrm>
            <a:off x="260350" y="4296410"/>
            <a:ext cx="1379855" cy="3028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allstate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Off→IDLE</a:t>
            </a:r>
            <a:endParaRPr kumimoji="1" lang="en-US" sz="10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⇒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boot up LED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点滅</a:t>
            </a:r>
          </a:p>
        </p:txBody>
      </p:sp>
      <p:sp>
        <p:nvSpPr>
          <p:cNvPr id="327" name="流程图: 决策 326"/>
          <p:cNvSpPr/>
          <p:nvPr/>
        </p:nvSpPr>
        <p:spPr>
          <a:xfrm>
            <a:off x="334645" y="2992755"/>
            <a:ext cx="1232535" cy="33909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Acc=on&amp;Ig=off</a:t>
            </a:r>
          </a:p>
        </p:txBody>
      </p:sp>
      <p:sp>
        <p:nvSpPr>
          <p:cNvPr id="328" name="流程图: 决策 327"/>
          <p:cNvSpPr/>
          <p:nvPr/>
        </p:nvSpPr>
        <p:spPr>
          <a:xfrm>
            <a:off x="334645" y="3642995"/>
            <a:ext cx="1231900" cy="309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29" name="直接箭头连接符 328"/>
          <p:cNvCxnSpPr>
            <a:stCxn id="320" idx="2"/>
            <a:endCxn id="321" idx="0"/>
          </p:cNvCxnSpPr>
          <p:nvPr/>
        </p:nvCxnSpPr>
        <p:spPr>
          <a:xfrm>
            <a:off x="951230" y="1893570"/>
            <a:ext cx="0" cy="164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0" name="直接箭头连接符 329"/>
          <p:cNvCxnSpPr>
            <a:stCxn id="321" idx="2"/>
            <a:endCxn id="333" idx="0"/>
          </p:cNvCxnSpPr>
          <p:nvPr/>
        </p:nvCxnSpPr>
        <p:spPr>
          <a:xfrm>
            <a:off x="951230" y="2369820"/>
            <a:ext cx="0" cy="2266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1" name="直接箭头连接符 330"/>
          <p:cNvCxnSpPr>
            <a:stCxn id="328" idx="2"/>
            <a:endCxn id="326" idx="0"/>
          </p:cNvCxnSpPr>
          <p:nvPr/>
        </p:nvCxnSpPr>
        <p:spPr>
          <a:xfrm>
            <a:off x="950595" y="3952875"/>
            <a:ext cx="0" cy="3429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2" name="流程图: 决策 331"/>
          <p:cNvSpPr/>
          <p:nvPr/>
        </p:nvSpPr>
        <p:spPr>
          <a:xfrm>
            <a:off x="3593465" y="2058670"/>
            <a:ext cx="1231265" cy="31115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Ig≠mIg</a:t>
            </a:r>
          </a:p>
        </p:txBody>
      </p:sp>
      <p:sp>
        <p:nvSpPr>
          <p:cNvPr id="333" name="矩形 332"/>
          <p:cNvSpPr/>
          <p:nvPr/>
        </p:nvSpPr>
        <p:spPr>
          <a:xfrm>
            <a:off x="400685" y="2595880"/>
            <a:ext cx="1099820" cy="1981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mAcc = Acc</a:t>
            </a:r>
          </a:p>
        </p:txBody>
      </p:sp>
      <p:cxnSp>
        <p:nvCxnSpPr>
          <p:cNvPr id="334" name="直接箭头连接符 333"/>
          <p:cNvCxnSpPr>
            <a:stCxn id="333" idx="2"/>
            <a:endCxn id="327" idx="0"/>
          </p:cNvCxnSpPr>
          <p:nvPr/>
        </p:nvCxnSpPr>
        <p:spPr>
          <a:xfrm>
            <a:off x="951230" y="2794635"/>
            <a:ext cx="0" cy="198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5" name="肘形连接符 334"/>
          <p:cNvCxnSpPr>
            <a:stCxn id="326" idx="2"/>
            <a:endCxn id="320" idx="1"/>
          </p:cNvCxnSpPr>
          <p:nvPr/>
        </p:nvCxnSpPr>
        <p:spPr>
          <a:xfrm rot="5400000" flipH="1">
            <a:off x="-725805" y="2921635"/>
            <a:ext cx="2804160" cy="549910"/>
          </a:xfrm>
          <a:prstGeom prst="bentConnector4">
            <a:avLst>
              <a:gd name="adj1" fmla="val -7379"/>
              <a:gd name="adj2" fmla="val 164471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6" name="流程图: 决策 335"/>
          <p:cNvSpPr/>
          <p:nvPr/>
        </p:nvSpPr>
        <p:spPr>
          <a:xfrm>
            <a:off x="1932305" y="2914015"/>
            <a:ext cx="1232535" cy="48895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&amp;Vbus=off</a:t>
            </a:r>
          </a:p>
        </p:txBody>
      </p:sp>
      <p:cxnSp>
        <p:nvCxnSpPr>
          <p:cNvPr id="337" name="直接箭头连接符 336"/>
          <p:cNvCxnSpPr>
            <a:stCxn id="327" idx="3"/>
            <a:endCxn id="336" idx="1"/>
          </p:cNvCxnSpPr>
          <p:nvPr/>
        </p:nvCxnSpPr>
        <p:spPr>
          <a:xfrm flipV="1">
            <a:off x="1567180" y="3158490"/>
            <a:ext cx="365760" cy="3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8" name="流程图: 决策 337"/>
          <p:cNvSpPr/>
          <p:nvPr/>
        </p:nvSpPr>
        <p:spPr>
          <a:xfrm>
            <a:off x="1932940" y="3642995"/>
            <a:ext cx="1231900" cy="309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eCallstate=IDLE</a:t>
            </a:r>
          </a:p>
        </p:txBody>
      </p:sp>
      <p:cxnSp>
        <p:nvCxnSpPr>
          <p:cNvPr id="339" name="直接箭头连接符 338"/>
          <p:cNvCxnSpPr>
            <a:stCxn id="336" idx="2"/>
            <a:endCxn id="338" idx="0"/>
          </p:cNvCxnSpPr>
          <p:nvPr/>
        </p:nvCxnSpPr>
        <p:spPr>
          <a:xfrm flipH="1">
            <a:off x="2548255" y="3402965"/>
            <a:ext cx="635" cy="2400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0" name="矩形 339"/>
          <p:cNvSpPr/>
          <p:nvPr/>
        </p:nvSpPr>
        <p:spPr>
          <a:xfrm>
            <a:off x="1793240" y="4302125"/>
            <a:ext cx="1511300" cy="3028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allstate 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IDLE→Off</a:t>
            </a:r>
            <a:endParaRPr kumimoji="1" lang="en-US" sz="10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algn="l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⇒close LED and MIC</a:t>
            </a:r>
          </a:p>
        </p:txBody>
      </p:sp>
      <p:cxnSp>
        <p:nvCxnSpPr>
          <p:cNvPr id="341" name="肘形连接符 340"/>
          <p:cNvCxnSpPr>
            <a:stCxn id="328" idx="1"/>
            <a:endCxn id="320" idx="1"/>
          </p:cNvCxnSpPr>
          <p:nvPr/>
        </p:nvCxnSpPr>
        <p:spPr>
          <a:xfrm rot="10800000" flipH="1">
            <a:off x="334645" y="1795145"/>
            <a:ext cx="66040" cy="2003425"/>
          </a:xfrm>
          <a:prstGeom prst="bentConnector3">
            <a:avLst>
              <a:gd name="adj1" fmla="val -43965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2" name="文本框 341"/>
          <p:cNvSpPr txBox="1"/>
          <p:nvPr/>
        </p:nvSpPr>
        <p:spPr>
          <a:xfrm flipH="1">
            <a:off x="972185" y="3403600"/>
            <a:ext cx="725805" cy="128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43" name="文本框 342"/>
          <p:cNvSpPr txBox="1"/>
          <p:nvPr/>
        </p:nvSpPr>
        <p:spPr>
          <a:xfrm flipH="1">
            <a:off x="972185" y="4044315"/>
            <a:ext cx="725805" cy="128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44" name="文本框 343"/>
          <p:cNvSpPr txBox="1"/>
          <p:nvPr/>
        </p:nvSpPr>
        <p:spPr>
          <a:xfrm>
            <a:off x="1640840" y="2076450"/>
            <a:ext cx="335280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45" name="文本框 344"/>
          <p:cNvSpPr txBox="1"/>
          <p:nvPr/>
        </p:nvSpPr>
        <p:spPr>
          <a:xfrm>
            <a:off x="1646555" y="3030855"/>
            <a:ext cx="335280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46" name="直接箭头连接符 345"/>
          <p:cNvCxnSpPr>
            <a:stCxn id="338" idx="2"/>
            <a:endCxn id="340" idx="0"/>
          </p:cNvCxnSpPr>
          <p:nvPr/>
        </p:nvCxnSpPr>
        <p:spPr>
          <a:xfrm>
            <a:off x="2548255" y="3952875"/>
            <a:ext cx="0" cy="349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7" name="肘形连接符 346"/>
          <p:cNvCxnSpPr>
            <a:stCxn id="336" idx="3"/>
            <a:endCxn id="332" idx="1"/>
          </p:cNvCxnSpPr>
          <p:nvPr/>
        </p:nvCxnSpPr>
        <p:spPr>
          <a:xfrm flipV="1">
            <a:off x="3164840" y="2214245"/>
            <a:ext cx="428625" cy="94424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8" name="文本框 347"/>
          <p:cNvSpPr txBox="1"/>
          <p:nvPr/>
        </p:nvSpPr>
        <p:spPr>
          <a:xfrm flipH="1">
            <a:off x="2718435" y="3454400"/>
            <a:ext cx="725805" cy="128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49" name="文本框 348"/>
          <p:cNvSpPr txBox="1"/>
          <p:nvPr/>
        </p:nvSpPr>
        <p:spPr>
          <a:xfrm flipH="1">
            <a:off x="2585720" y="4044315"/>
            <a:ext cx="725805" cy="128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50" name="肘形连接符 349"/>
          <p:cNvCxnSpPr>
            <a:stCxn id="340" idx="2"/>
            <a:endCxn id="320" idx="1"/>
          </p:cNvCxnSpPr>
          <p:nvPr/>
        </p:nvCxnSpPr>
        <p:spPr>
          <a:xfrm rot="5400000" flipH="1">
            <a:off x="69850" y="2125980"/>
            <a:ext cx="2809875" cy="2147570"/>
          </a:xfrm>
          <a:prstGeom prst="bentConnector4">
            <a:avLst>
              <a:gd name="adj1" fmla="val -7373"/>
              <a:gd name="adj2" fmla="val 11606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1" name="直接箭头连接符 350"/>
          <p:cNvCxnSpPr>
            <a:stCxn id="321" idx="3"/>
            <a:endCxn id="332" idx="1"/>
          </p:cNvCxnSpPr>
          <p:nvPr/>
        </p:nvCxnSpPr>
        <p:spPr>
          <a:xfrm>
            <a:off x="1566545" y="2214245"/>
            <a:ext cx="20275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2" name="流程图: 决策 351"/>
          <p:cNvSpPr/>
          <p:nvPr/>
        </p:nvSpPr>
        <p:spPr>
          <a:xfrm>
            <a:off x="3592830" y="2992755"/>
            <a:ext cx="1232535" cy="33909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Acc=off&amp;Ig=on</a:t>
            </a:r>
          </a:p>
        </p:txBody>
      </p:sp>
      <p:sp>
        <p:nvSpPr>
          <p:cNvPr id="353" name="矩形 352"/>
          <p:cNvSpPr/>
          <p:nvPr/>
        </p:nvSpPr>
        <p:spPr>
          <a:xfrm>
            <a:off x="3658870" y="2595880"/>
            <a:ext cx="1099820" cy="1981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mIg = Ig</a:t>
            </a:r>
          </a:p>
        </p:txBody>
      </p:sp>
      <p:sp>
        <p:nvSpPr>
          <p:cNvPr id="354" name="流程图: 决策 353"/>
          <p:cNvSpPr/>
          <p:nvPr/>
        </p:nvSpPr>
        <p:spPr>
          <a:xfrm>
            <a:off x="3593465" y="3642360"/>
            <a:ext cx="1231900" cy="309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55" name="直接箭头连接符 354"/>
          <p:cNvCxnSpPr>
            <a:stCxn id="352" idx="2"/>
            <a:endCxn id="354" idx="0"/>
          </p:cNvCxnSpPr>
          <p:nvPr/>
        </p:nvCxnSpPr>
        <p:spPr>
          <a:xfrm flipH="1">
            <a:off x="4209415" y="3331845"/>
            <a:ext cx="635" cy="3105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6" name="直接箭头连接符 355"/>
          <p:cNvCxnSpPr>
            <a:stCxn id="332" idx="2"/>
            <a:endCxn id="353" idx="0"/>
          </p:cNvCxnSpPr>
          <p:nvPr/>
        </p:nvCxnSpPr>
        <p:spPr>
          <a:xfrm>
            <a:off x="4209415" y="2369820"/>
            <a:ext cx="0" cy="2266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7" name="直接箭头连接符 356"/>
          <p:cNvCxnSpPr>
            <a:stCxn id="353" idx="2"/>
            <a:endCxn id="352" idx="0"/>
          </p:cNvCxnSpPr>
          <p:nvPr/>
        </p:nvCxnSpPr>
        <p:spPr>
          <a:xfrm>
            <a:off x="4209415" y="2794635"/>
            <a:ext cx="0" cy="198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8" name="矩形 357"/>
          <p:cNvSpPr/>
          <p:nvPr/>
        </p:nvSpPr>
        <p:spPr>
          <a:xfrm>
            <a:off x="3519170" y="4269105"/>
            <a:ext cx="1379855" cy="3028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allstate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Off→IDLE</a:t>
            </a:r>
            <a:endParaRPr kumimoji="1" lang="en-US" sz="10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⇒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boot up LED</a:t>
            </a:r>
          </a:p>
        </p:txBody>
      </p:sp>
      <p:cxnSp>
        <p:nvCxnSpPr>
          <p:cNvPr id="359" name="直接箭头连接符 358"/>
          <p:cNvCxnSpPr>
            <a:stCxn id="354" idx="2"/>
            <a:endCxn id="358" idx="0"/>
          </p:cNvCxnSpPr>
          <p:nvPr/>
        </p:nvCxnSpPr>
        <p:spPr>
          <a:xfrm>
            <a:off x="4209415" y="3952240"/>
            <a:ext cx="0" cy="3168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0" name="肘形连接符 359"/>
          <p:cNvCxnSpPr>
            <a:stCxn id="358" idx="2"/>
            <a:endCxn id="320" idx="1"/>
          </p:cNvCxnSpPr>
          <p:nvPr/>
        </p:nvCxnSpPr>
        <p:spPr>
          <a:xfrm rot="5400000" flipH="1">
            <a:off x="916305" y="1279525"/>
            <a:ext cx="2776855" cy="3808095"/>
          </a:xfrm>
          <a:prstGeom prst="bentConnector4">
            <a:avLst>
              <a:gd name="adj1" fmla="val -8495"/>
              <a:gd name="adj2" fmla="val 10937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1" name="肘形连接符 360"/>
          <p:cNvCxnSpPr>
            <a:stCxn id="338" idx="3"/>
            <a:endCxn id="332" idx="1"/>
          </p:cNvCxnSpPr>
          <p:nvPr/>
        </p:nvCxnSpPr>
        <p:spPr>
          <a:xfrm flipV="1">
            <a:off x="3164205" y="2214245"/>
            <a:ext cx="429260" cy="1584325"/>
          </a:xfrm>
          <a:prstGeom prst="bentConnector3">
            <a:avLst>
              <a:gd name="adj1" fmla="val 50066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2" name="文本框 361"/>
          <p:cNvSpPr txBox="1"/>
          <p:nvPr/>
        </p:nvSpPr>
        <p:spPr>
          <a:xfrm>
            <a:off x="3300730" y="3670935"/>
            <a:ext cx="335280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63" name="文本框 362"/>
          <p:cNvSpPr txBox="1"/>
          <p:nvPr/>
        </p:nvSpPr>
        <p:spPr>
          <a:xfrm>
            <a:off x="3235960" y="3030855"/>
            <a:ext cx="335280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64" name="文本框 363"/>
          <p:cNvSpPr txBox="1"/>
          <p:nvPr/>
        </p:nvSpPr>
        <p:spPr>
          <a:xfrm>
            <a:off x="972185" y="2828290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65" name="文本框 364"/>
          <p:cNvSpPr txBox="1"/>
          <p:nvPr/>
        </p:nvSpPr>
        <p:spPr>
          <a:xfrm>
            <a:off x="4267200" y="3404235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66" name="文本框 365"/>
          <p:cNvSpPr txBox="1"/>
          <p:nvPr/>
        </p:nvSpPr>
        <p:spPr>
          <a:xfrm>
            <a:off x="4265930" y="4028440"/>
            <a:ext cx="493395" cy="1181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67" name="流程图: 决策 366"/>
          <p:cNvSpPr/>
          <p:nvPr/>
        </p:nvSpPr>
        <p:spPr>
          <a:xfrm>
            <a:off x="5108575" y="2992755"/>
            <a:ext cx="1232535" cy="33909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Acc=on&amp;Ig=on</a:t>
            </a:r>
          </a:p>
        </p:txBody>
      </p:sp>
      <p:cxnSp>
        <p:nvCxnSpPr>
          <p:cNvPr id="368" name="直接箭头连接符 367"/>
          <p:cNvCxnSpPr>
            <a:stCxn id="352" idx="3"/>
            <a:endCxn id="367" idx="1"/>
          </p:cNvCxnSpPr>
          <p:nvPr/>
        </p:nvCxnSpPr>
        <p:spPr>
          <a:xfrm>
            <a:off x="4825365" y="3162300"/>
            <a:ext cx="2832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9" name="文本框 368"/>
          <p:cNvSpPr txBox="1"/>
          <p:nvPr/>
        </p:nvSpPr>
        <p:spPr>
          <a:xfrm>
            <a:off x="4824730" y="364236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70" name="肘形连接符 369"/>
          <p:cNvCxnSpPr>
            <a:stCxn id="367" idx="2"/>
            <a:endCxn id="373" idx="0"/>
          </p:cNvCxnSpPr>
          <p:nvPr/>
        </p:nvCxnSpPr>
        <p:spPr>
          <a:xfrm rot="5400000" flipV="1">
            <a:off x="5571490" y="3486150"/>
            <a:ext cx="310515" cy="2540"/>
          </a:xfrm>
          <a:prstGeom prst="bentConnector3">
            <a:avLst>
              <a:gd name="adj1" fmla="val 49911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1" name="肘形连接符 370"/>
          <p:cNvCxnSpPr>
            <a:stCxn id="354" idx="3"/>
            <a:endCxn id="367" idx="1"/>
          </p:cNvCxnSpPr>
          <p:nvPr/>
        </p:nvCxnSpPr>
        <p:spPr>
          <a:xfrm flipV="1">
            <a:off x="4824730" y="3162300"/>
            <a:ext cx="283845" cy="6356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2" name="文本框 371"/>
          <p:cNvSpPr txBox="1"/>
          <p:nvPr/>
        </p:nvSpPr>
        <p:spPr>
          <a:xfrm>
            <a:off x="4824730" y="3034665"/>
            <a:ext cx="14795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73" name="流程图: 决策 372"/>
          <p:cNvSpPr/>
          <p:nvPr/>
        </p:nvSpPr>
        <p:spPr>
          <a:xfrm>
            <a:off x="5112385" y="3642360"/>
            <a:ext cx="1231900" cy="309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74" name="肘形连接符 373"/>
          <p:cNvCxnSpPr>
            <a:stCxn id="373" idx="2"/>
            <a:endCxn id="358" idx="3"/>
          </p:cNvCxnSpPr>
          <p:nvPr/>
        </p:nvCxnSpPr>
        <p:spPr>
          <a:xfrm rot="5400000">
            <a:off x="5080000" y="3771900"/>
            <a:ext cx="467995" cy="8293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5" name="文本框 374"/>
          <p:cNvSpPr txBox="1"/>
          <p:nvPr/>
        </p:nvSpPr>
        <p:spPr>
          <a:xfrm>
            <a:off x="5755005" y="3395980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76" name="流程图: 决策 375"/>
          <p:cNvSpPr/>
          <p:nvPr/>
        </p:nvSpPr>
        <p:spPr>
          <a:xfrm>
            <a:off x="6793230" y="2914015"/>
            <a:ext cx="1232535" cy="49085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&amp;vBus=off</a:t>
            </a:r>
          </a:p>
        </p:txBody>
      </p:sp>
      <p:cxnSp>
        <p:nvCxnSpPr>
          <p:cNvPr id="377" name="直接箭头连接符 376"/>
          <p:cNvCxnSpPr>
            <a:stCxn id="367" idx="3"/>
            <a:endCxn id="376" idx="1"/>
          </p:cNvCxnSpPr>
          <p:nvPr/>
        </p:nvCxnSpPr>
        <p:spPr>
          <a:xfrm flipV="1">
            <a:off x="6341110" y="3159125"/>
            <a:ext cx="45212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8" name="文本框 377"/>
          <p:cNvSpPr txBox="1"/>
          <p:nvPr/>
        </p:nvSpPr>
        <p:spPr>
          <a:xfrm>
            <a:off x="6510020" y="3030855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79" name="流程图: 决策 378"/>
          <p:cNvSpPr/>
          <p:nvPr/>
        </p:nvSpPr>
        <p:spPr>
          <a:xfrm>
            <a:off x="6793865" y="3642360"/>
            <a:ext cx="1231900" cy="309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eCallstate=IDLE</a:t>
            </a:r>
          </a:p>
        </p:txBody>
      </p:sp>
      <p:sp>
        <p:nvSpPr>
          <p:cNvPr id="380" name="矩形 379"/>
          <p:cNvSpPr/>
          <p:nvPr/>
        </p:nvSpPr>
        <p:spPr>
          <a:xfrm>
            <a:off x="6653530" y="4269105"/>
            <a:ext cx="1511300" cy="3028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allstate 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IDLE→Off</a:t>
            </a:r>
            <a:endParaRPr kumimoji="1" lang="en-US" sz="10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algn="l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⇒close LED and MIC</a:t>
            </a:r>
          </a:p>
        </p:txBody>
      </p:sp>
      <p:cxnSp>
        <p:nvCxnSpPr>
          <p:cNvPr id="381" name="直接箭头连接符 380"/>
          <p:cNvCxnSpPr>
            <a:stCxn id="376" idx="2"/>
            <a:endCxn id="379" idx="0"/>
          </p:cNvCxnSpPr>
          <p:nvPr/>
        </p:nvCxnSpPr>
        <p:spPr>
          <a:xfrm>
            <a:off x="7409815" y="3404235"/>
            <a:ext cx="0" cy="2381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2" name="直接箭头连接符 381"/>
          <p:cNvCxnSpPr/>
          <p:nvPr/>
        </p:nvCxnSpPr>
        <p:spPr>
          <a:xfrm flipH="1">
            <a:off x="7409180" y="3952240"/>
            <a:ext cx="635" cy="3168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3" name="肘形连接符 382"/>
          <p:cNvCxnSpPr>
            <a:stCxn id="380" idx="2"/>
            <a:endCxn id="320" idx="1"/>
          </p:cNvCxnSpPr>
          <p:nvPr/>
        </p:nvCxnSpPr>
        <p:spPr>
          <a:xfrm rot="5400000" flipH="1">
            <a:off x="2516505" y="-320675"/>
            <a:ext cx="2776855" cy="7008495"/>
          </a:xfrm>
          <a:prstGeom prst="bentConnector4">
            <a:avLst>
              <a:gd name="adj1" fmla="val -8495"/>
              <a:gd name="adj2" fmla="val 10509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4" name="流程图: 决策 383"/>
          <p:cNvSpPr/>
          <p:nvPr/>
        </p:nvSpPr>
        <p:spPr>
          <a:xfrm>
            <a:off x="8476615" y="2058670"/>
            <a:ext cx="1231265" cy="31115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Vbus≠mVbus</a:t>
            </a:r>
          </a:p>
        </p:txBody>
      </p:sp>
      <p:sp>
        <p:nvSpPr>
          <p:cNvPr id="385" name="文本框 384"/>
          <p:cNvSpPr txBox="1"/>
          <p:nvPr/>
        </p:nvSpPr>
        <p:spPr>
          <a:xfrm>
            <a:off x="4657725" y="2389505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86" name="文本框 385"/>
          <p:cNvSpPr txBox="1"/>
          <p:nvPr/>
        </p:nvSpPr>
        <p:spPr>
          <a:xfrm>
            <a:off x="9116695" y="2390140"/>
            <a:ext cx="639445" cy="1352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87" name="肘形连接符 386"/>
          <p:cNvCxnSpPr/>
          <p:nvPr/>
        </p:nvCxnSpPr>
        <p:spPr>
          <a:xfrm flipH="1" flipV="1">
            <a:off x="400685" y="1795145"/>
            <a:ext cx="5942965" cy="2002790"/>
          </a:xfrm>
          <a:prstGeom prst="bentConnector5">
            <a:avLst>
              <a:gd name="adj1" fmla="val -1794"/>
              <a:gd name="adj2" fmla="val -50317"/>
              <a:gd name="adj3" fmla="val 105996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8" name="文本框 387"/>
          <p:cNvSpPr txBox="1"/>
          <p:nvPr/>
        </p:nvSpPr>
        <p:spPr>
          <a:xfrm>
            <a:off x="5755005" y="4269105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89" name="文本框 388"/>
          <p:cNvSpPr txBox="1"/>
          <p:nvPr/>
        </p:nvSpPr>
        <p:spPr>
          <a:xfrm>
            <a:off x="6344285" y="383032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90" name="直接箭头连接符 389"/>
          <p:cNvCxnSpPr>
            <a:stCxn id="332" idx="3"/>
            <a:endCxn id="384" idx="1"/>
          </p:cNvCxnSpPr>
          <p:nvPr/>
        </p:nvCxnSpPr>
        <p:spPr>
          <a:xfrm>
            <a:off x="4824730" y="2214245"/>
            <a:ext cx="3651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1" name="流程图: 决策 390"/>
          <p:cNvSpPr/>
          <p:nvPr/>
        </p:nvSpPr>
        <p:spPr>
          <a:xfrm>
            <a:off x="8475980" y="2914015"/>
            <a:ext cx="1232535" cy="490855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&amp;vBus=on</a:t>
            </a:r>
          </a:p>
        </p:txBody>
      </p:sp>
      <p:sp>
        <p:nvSpPr>
          <p:cNvPr id="392" name="流程图: 决策 391"/>
          <p:cNvSpPr/>
          <p:nvPr/>
        </p:nvSpPr>
        <p:spPr>
          <a:xfrm>
            <a:off x="8476615" y="3642360"/>
            <a:ext cx="1231900" cy="309880"/>
          </a:xfrm>
          <a:prstGeom prst="flowChartDecision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eCallstate=off</a:t>
            </a:r>
          </a:p>
        </p:txBody>
      </p:sp>
      <p:cxnSp>
        <p:nvCxnSpPr>
          <p:cNvPr id="393" name="直接箭头连接符 392"/>
          <p:cNvCxnSpPr>
            <a:stCxn id="391" idx="2"/>
            <a:endCxn id="392" idx="0"/>
          </p:cNvCxnSpPr>
          <p:nvPr/>
        </p:nvCxnSpPr>
        <p:spPr>
          <a:xfrm flipH="1">
            <a:off x="9091930" y="3404235"/>
            <a:ext cx="635" cy="2381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8342630" y="4269105"/>
            <a:ext cx="1511300" cy="3028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eC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allstate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 </a:t>
            </a:r>
            <a:r>
              <a:rPr kumimoji="1" lang="en-US" sz="1000" dirty="0" err="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Off→IDLE</a:t>
            </a:r>
            <a:endParaRPr kumimoji="1" lang="en-US" sz="1000" dirty="0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⇒</a:t>
            </a:r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boot up LED</a:t>
            </a:r>
            <a:r>
              <a:rPr kumimoji="1" lang="ja-JP" alt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  <a:sym typeface="+mn-ea"/>
              </a:rPr>
              <a:t>点滅</a:t>
            </a:r>
          </a:p>
        </p:txBody>
      </p:sp>
      <p:cxnSp>
        <p:nvCxnSpPr>
          <p:cNvPr id="395" name="直接箭头连接符 394"/>
          <p:cNvCxnSpPr>
            <a:stCxn id="392" idx="2"/>
            <a:endCxn id="394" idx="0"/>
          </p:cNvCxnSpPr>
          <p:nvPr/>
        </p:nvCxnSpPr>
        <p:spPr>
          <a:xfrm>
            <a:off x="9091930" y="3952240"/>
            <a:ext cx="6350" cy="3168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6" name="肘形连接符 395"/>
          <p:cNvCxnSpPr/>
          <p:nvPr/>
        </p:nvCxnSpPr>
        <p:spPr>
          <a:xfrm flipH="1" flipV="1">
            <a:off x="400685" y="1795145"/>
            <a:ext cx="9307195" cy="419100"/>
          </a:xfrm>
          <a:prstGeom prst="bentConnector5">
            <a:avLst>
              <a:gd name="adj1" fmla="val -21607"/>
              <a:gd name="adj2" fmla="val -617654"/>
              <a:gd name="adj3" fmla="val 10383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7" name="文本框 396"/>
          <p:cNvSpPr txBox="1"/>
          <p:nvPr/>
        </p:nvSpPr>
        <p:spPr>
          <a:xfrm>
            <a:off x="9116695" y="3446145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8" name="文本框 397"/>
          <p:cNvSpPr txBox="1"/>
          <p:nvPr/>
        </p:nvSpPr>
        <p:spPr>
          <a:xfrm>
            <a:off x="9116695" y="4036695"/>
            <a:ext cx="262255" cy="135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9" name="文本框 398"/>
          <p:cNvSpPr txBox="1"/>
          <p:nvPr/>
        </p:nvSpPr>
        <p:spPr>
          <a:xfrm>
            <a:off x="5755005" y="205867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00" name="矩形 399"/>
          <p:cNvSpPr/>
          <p:nvPr/>
        </p:nvSpPr>
        <p:spPr>
          <a:xfrm>
            <a:off x="8542020" y="2595880"/>
            <a:ext cx="1099820" cy="1981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wrap="none" rtlCol="0" anchor="ctr"/>
          <a:lstStyle/>
          <a:p>
            <a:pPr algn="ctr"/>
            <a:r>
              <a:rPr kumimoji="1" lang="en-US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mVbus = Vbus</a:t>
            </a:r>
          </a:p>
        </p:txBody>
      </p:sp>
      <p:cxnSp>
        <p:nvCxnSpPr>
          <p:cNvPr id="401" name="直接箭头连接符 400"/>
          <p:cNvCxnSpPr>
            <a:stCxn id="384" idx="2"/>
            <a:endCxn id="400" idx="0"/>
          </p:cNvCxnSpPr>
          <p:nvPr/>
        </p:nvCxnSpPr>
        <p:spPr>
          <a:xfrm>
            <a:off x="9092565" y="2369820"/>
            <a:ext cx="0" cy="2266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2" name="直接箭头连接符 401"/>
          <p:cNvCxnSpPr>
            <a:stCxn id="400" idx="2"/>
            <a:endCxn id="391" idx="0"/>
          </p:cNvCxnSpPr>
          <p:nvPr/>
        </p:nvCxnSpPr>
        <p:spPr>
          <a:xfrm>
            <a:off x="9092565" y="2794635"/>
            <a:ext cx="0" cy="119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3" name="文本框 402"/>
          <p:cNvSpPr txBox="1"/>
          <p:nvPr/>
        </p:nvSpPr>
        <p:spPr>
          <a:xfrm>
            <a:off x="7499985" y="3446780"/>
            <a:ext cx="639445" cy="1352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405" name="肘形连接符 404"/>
          <p:cNvCxnSpPr>
            <a:stCxn id="392" idx="3"/>
            <a:endCxn id="320" idx="1"/>
          </p:cNvCxnSpPr>
          <p:nvPr/>
        </p:nvCxnSpPr>
        <p:spPr>
          <a:xfrm flipH="1" flipV="1">
            <a:off x="400685" y="1795145"/>
            <a:ext cx="9307195" cy="2002790"/>
          </a:xfrm>
          <a:prstGeom prst="bentConnector5">
            <a:avLst>
              <a:gd name="adj1" fmla="val -2298"/>
              <a:gd name="adj2" fmla="val -50344"/>
              <a:gd name="adj3" fmla="val 10383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6" name="文本框 405"/>
          <p:cNvSpPr txBox="1"/>
          <p:nvPr/>
        </p:nvSpPr>
        <p:spPr>
          <a:xfrm>
            <a:off x="9838690" y="2992755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07" name="文本框 406"/>
          <p:cNvSpPr txBox="1"/>
          <p:nvPr/>
        </p:nvSpPr>
        <p:spPr>
          <a:xfrm>
            <a:off x="9698990" y="364236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08" name="文本框 407"/>
          <p:cNvSpPr txBox="1"/>
          <p:nvPr/>
        </p:nvSpPr>
        <p:spPr>
          <a:xfrm>
            <a:off x="7435850" y="4011295"/>
            <a:ext cx="639445" cy="1352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409" name="肘形连接符 408"/>
          <p:cNvCxnSpPr/>
          <p:nvPr/>
        </p:nvCxnSpPr>
        <p:spPr>
          <a:xfrm flipV="1">
            <a:off x="8025765" y="2214245"/>
            <a:ext cx="450850" cy="944880"/>
          </a:xfrm>
          <a:prstGeom prst="bentConnector3">
            <a:avLst>
              <a:gd name="adj1" fmla="val 5006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0" name="文本框 409"/>
          <p:cNvSpPr txBox="1"/>
          <p:nvPr/>
        </p:nvSpPr>
        <p:spPr>
          <a:xfrm>
            <a:off x="8074660" y="301625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411" name="肘形连接符 410"/>
          <p:cNvCxnSpPr>
            <a:stCxn id="379" idx="3"/>
            <a:endCxn id="384" idx="1"/>
          </p:cNvCxnSpPr>
          <p:nvPr/>
        </p:nvCxnSpPr>
        <p:spPr>
          <a:xfrm flipV="1">
            <a:off x="8025765" y="2214245"/>
            <a:ext cx="450850" cy="1583690"/>
          </a:xfrm>
          <a:prstGeom prst="bentConnector3">
            <a:avLst>
              <a:gd name="adj1" fmla="val 5006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2" name="文本框 411"/>
          <p:cNvSpPr txBox="1"/>
          <p:nvPr/>
        </p:nvSpPr>
        <p:spPr>
          <a:xfrm>
            <a:off x="8082280" y="367030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21" name="流程图: 决策 20"/>
          <p:cNvSpPr/>
          <p:nvPr/>
        </p:nvSpPr>
        <p:spPr>
          <a:xfrm>
            <a:off x="10246678" y="2914015"/>
            <a:ext cx="1232535" cy="490855"/>
          </a:xfrm>
          <a:prstGeom prst="flowChartDecision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ctr"/>
            <a:r>
              <a:rPr kumimoji="1" lang="en-US" altLang="zh-CN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Acc=off&amp;Ig=off</a:t>
            </a:r>
          </a:p>
          <a:p>
            <a:pPr algn="ctr"/>
            <a:r>
              <a:rPr kumimoji="1" lang="en-US" altLang="zh-CN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&amp;vBus=off</a:t>
            </a:r>
          </a:p>
        </p:txBody>
      </p:sp>
      <p:sp>
        <p:nvSpPr>
          <p:cNvPr id="25" name="流程图: 决策 24"/>
          <p:cNvSpPr/>
          <p:nvPr/>
        </p:nvSpPr>
        <p:spPr>
          <a:xfrm>
            <a:off x="10246995" y="3582670"/>
            <a:ext cx="1231900" cy="309880"/>
          </a:xfrm>
          <a:prstGeom prst="flowChartDecision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ctr"/>
            <a:r>
              <a:rPr kumimoji="1" lang="en-US" altLang="zh-CN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eCallstate=IDLE</a:t>
            </a:r>
          </a:p>
        </p:txBody>
      </p:sp>
      <p:cxnSp>
        <p:nvCxnSpPr>
          <p:cNvPr id="29" name="直接箭头连接符 28"/>
          <p:cNvCxnSpPr>
            <a:endCxn id="21" idx="1"/>
          </p:cNvCxnSpPr>
          <p:nvPr/>
        </p:nvCxnSpPr>
        <p:spPr>
          <a:xfrm>
            <a:off x="9708515" y="3159760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1" idx="2"/>
            <a:endCxn id="25" idx="0"/>
          </p:cNvCxnSpPr>
          <p:nvPr/>
        </p:nvCxnSpPr>
        <p:spPr>
          <a:xfrm flipH="1">
            <a:off x="10862945" y="3404870"/>
            <a:ext cx="635" cy="177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0107295" y="4269105"/>
            <a:ext cx="1511300" cy="3028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wrap="none" lIns="0" tIns="0" rIns="0" bIns="0" rtlCol="0" anchor="ctr"/>
          <a:lstStyle/>
          <a:p>
            <a:pPr algn="l"/>
            <a:r>
              <a:rPr kumimoji="1" lang="en-US" altLang="zh-CN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eC</a:t>
            </a:r>
            <a:r>
              <a:rPr kumimoji="1" lang="en-US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allstate </a:t>
            </a:r>
            <a:r>
              <a:rPr kumimoji="1" lang="en-US" sz="1000" dirty="0" err="1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IDLE→Off</a:t>
            </a:r>
            <a:endParaRPr kumimoji="1" lang="en-US" sz="1000" dirty="0">
              <a:solidFill>
                <a:srgbClr val="0000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  <a:p>
            <a:pPr algn="l"/>
            <a:r>
              <a:rPr kumimoji="1" lang="en-US" sz="10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⇒close LED and MIC</a:t>
            </a:r>
          </a:p>
        </p:txBody>
      </p:sp>
      <p:cxnSp>
        <p:nvCxnSpPr>
          <p:cNvPr id="32" name="直接箭头连接符 31"/>
          <p:cNvCxnSpPr>
            <a:stCxn id="25" idx="2"/>
            <a:endCxn id="31" idx="0"/>
          </p:cNvCxnSpPr>
          <p:nvPr/>
        </p:nvCxnSpPr>
        <p:spPr>
          <a:xfrm>
            <a:off x="10862945" y="3892550"/>
            <a:ext cx="0" cy="3765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5" idx="3"/>
            <a:endCxn id="320" idx="1"/>
          </p:cNvCxnSpPr>
          <p:nvPr/>
        </p:nvCxnSpPr>
        <p:spPr>
          <a:xfrm flipH="1" flipV="1">
            <a:off x="400685" y="1794510"/>
            <a:ext cx="11078210" cy="1943100"/>
          </a:xfrm>
          <a:prstGeom prst="bentConnector5">
            <a:avLst>
              <a:gd name="adj1" fmla="val -2149"/>
              <a:gd name="adj2" fmla="val -54117"/>
              <a:gd name="adj3" fmla="val 10329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394" idx="2"/>
            <a:endCxn id="320" idx="1"/>
          </p:cNvCxnSpPr>
          <p:nvPr/>
        </p:nvCxnSpPr>
        <p:spPr>
          <a:xfrm rot="5400000" flipH="1">
            <a:off x="3360420" y="-1165860"/>
            <a:ext cx="2777490" cy="8697595"/>
          </a:xfrm>
          <a:prstGeom prst="bentConnector4">
            <a:avLst>
              <a:gd name="adj1" fmla="val -8562"/>
              <a:gd name="adj2" fmla="val 104048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31" idx="2"/>
            <a:endCxn id="320" idx="1"/>
          </p:cNvCxnSpPr>
          <p:nvPr/>
        </p:nvCxnSpPr>
        <p:spPr>
          <a:xfrm rot="5400000" flipH="1">
            <a:off x="4243070" y="-2047875"/>
            <a:ext cx="2777490" cy="10462260"/>
          </a:xfrm>
          <a:prstGeom prst="bentConnector4">
            <a:avLst>
              <a:gd name="adj1" fmla="val -8573"/>
              <a:gd name="adj2" fmla="val 103368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肘形连接符 51"/>
          <p:cNvCxnSpPr/>
          <p:nvPr/>
        </p:nvCxnSpPr>
        <p:spPr>
          <a:xfrm flipH="1" flipV="1">
            <a:off x="400685" y="1794510"/>
            <a:ext cx="11078845" cy="1365250"/>
          </a:xfrm>
          <a:prstGeom prst="bentConnector5">
            <a:avLst>
              <a:gd name="adj1" fmla="val -2206"/>
              <a:gd name="adj2" fmla="val -120000"/>
              <a:gd name="adj3" fmla="val 103238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1562080" y="299720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1562080" y="3573145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9853930" y="2076450"/>
            <a:ext cx="408305" cy="127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kumimoji="1" lang="en-US" altLang="zh-CN" sz="1000" dirty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N</a:t>
            </a:r>
          </a:p>
        </p:txBody>
      </p:sp>
      <p:sp>
        <p:nvSpPr>
          <p:cNvPr id="56" name="矩形 55"/>
          <p:cNvSpPr/>
          <p:nvPr/>
        </p:nvSpPr>
        <p:spPr>
          <a:xfrm>
            <a:off x="9840595" y="2419350"/>
            <a:ext cx="2320290" cy="270446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</a:ln>
        </p:spPr>
        <p:txBody>
          <a:bodyPr wrap="none" rtlCol="0" anchor="t" anchorCtr="0"/>
          <a:lstStyle/>
          <a:p>
            <a:pPr algn="r"/>
            <a:r>
              <a:rPr kumimoji="1" lang="ja-JP" altLang="zh-CN" sz="1400" dirty="0">
                <a:solidFill>
                  <a:srgbClr val="0000FF"/>
                </a:solidFill>
                <a:latin typeface="Arial" panose="020B0604020202020204" pitchFamily="34" charset="0"/>
                <a:ea typeface="Meiryo UI" panose="020B0604030504040204" pitchFamily="50" charset="-128"/>
              </a:rPr>
              <a:t>修正箇所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ce8670a-cbe5-4d4d-9d03-4c01ca12f3f1"/>
  <p:tag name="COMMONDATA" val="eyJoZGlkIjoiZDZkMjBkMjc5MTY0NjU0NzBmNTExNmUzMTcxZjFjO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759682b-35a4-48a5-922d-90a66caa9a1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169"/>
  <p:tag name="TABLE_ENDDRAG_RECT" val="32*168*873*16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79*43"/>
  <p:tag name="TABLE_ENDDRAG_RECT" val="695*99*179*4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79*43"/>
  <p:tag name="TABLE_ENDDRAG_RECT" val="695*99*179*4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noFill/>
        <a:ln w="19050">
          <a:solidFill>
            <a:schemeClr val="tx1"/>
          </a:solidFill>
          <a:miter lim="800000"/>
        </a:ln>
      </a:spPr>
      <a:bodyPr wrap="none" rtlCol="0" anchor="ctr"/>
      <a:lstStyle>
        <a:defPPr algn="ctr"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txDef>
      <a:spPr>
        <a:noFill/>
      </a:spPr>
      <a:bodyPr wrap="none" lIns="0" tIns="0" rIns="0" bIns="0" rtlCol="0">
        <a:spAutoFit/>
      </a:bodyPr>
      <a:lstStyle>
        <a:defPPr algn="l">
          <a:defRPr kumimoji="1" dirty="0" smtClean="0">
            <a:latin typeface="Meiryo UI" panose="020B0604030504040204" pitchFamily="50" charset="-128"/>
            <a:ea typeface="Meiryo UI" panose="020B0604030504040204" pitchFamily="50" charset="-128"/>
            <a:cs typeface="STHeiti Light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200115.上海暢星テンプレート</Template>
  <TotalTime>732</TotalTime>
  <Words>4388</Words>
  <Application>Microsoft Office PowerPoint</Application>
  <PresentationFormat>宽屏</PresentationFormat>
  <Paragraphs>764</Paragraphs>
  <Slides>19</Slides>
  <Notes>3</Notes>
  <HiddenSlides>7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Meiryo UI</vt:lpstr>
      <vt:lpstr>微软雅黑</vt:lpstr>
      <vt:lpstr>Arial</vt:lpstr>
      <vt:lpstr>Calibri</vt:lpstr>
      <vt:lpstr>Office 主题</vt:lpstr>
      <vt:lpstr>Paintbrush Picture</vt:lpstr>
      <vt:lpstr>GALETTE-1111 調査報告書</vt:lpstr>
      <vt:lpstr>TSU IG On直後の自己診断時のLED点灯仕様が正しくない</vt:lpstr>
      <vt:lpstr>ホンダ様 ご要求仕様</vt:lpstr>
      <vt:lpstr>不具合事象発生の原因 と 対策</vt:lpstr>
      <vt:lpstr>不具合事象発生の原因 と 対策</vt:lpstr>
      <vt:lpstr>発生原因 / 流出原因</vt:lpstr>
      <vt:lpstr>類似事象発生防止</vt:lpstr>
      <vt:lpstr>本不具合の他機能影響分析</vt:lpstr>
      <vt:lpstr>修正内容に対する効果確認</vt:lpstr>
      <vt:lpstr>品確対応日程</vt:lpstr>
      <vt:lpstr>納入済み 段確車両への対応</vt:lpstr>
      <vt:lpstr>PowerPoint 演示文稿</vt:lpstr>
      <vt:lpstr>問題事象再現手順：GALETTE-1111(JPCRVB-1148)</vt:lpstr>
      <vt:lpstr>設計仕様と問題箇所</vt:lpstr>
      <vt:lpstr>サマリー</vt:lpstr>
      <vt:lpstr>原因対策</vt:lpstr>
      <vt:lpstr>原因対策</vt:lpstr>
      <vt:lpstr>原因調査</vt:lpstr>
      <vt:lpstr>対策内容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Honda CONNECT3.5 HMI仕様課題整合結果</dc:title>
  <dc:creator>user</dc:creator>
  <cp:lastModifiedBy>李鹏飞</cp:lastModifiedBy>
  <cp:revision>900</cp:revision>
  <cp:lastPrinted>2022-08-29T07:04:00Z</cp:lastPrinted>
  <dcterms:created xsi:type="dcterms:W3CDTF">2022-08-29T07:04:00Z</dcterms:created>
  <dcterms:modified xsi:type="dcterms:W3CDTF">2026-04-15T05:26:11Z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BB2560E0419140F5930218DB9BA5B112_13</vt:lpwstr>
  </property>
</Properties>
</file>