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"/>
  </p:notesMasterIdLst>
  <p:sldIdLst>
    <p:sldId id="16774860" r:id="rId2"/>
    <p:sldId id="16774866" r:id="rId3"/>
    <p:sldId id="16774867" r:id="rId4"/>
    <p:sldId id="16774864" r:id="rId5"/>
    <p:sldId id="16774865" r:id="rId6"/>
  </p:sldIdLst>
  <p:sldSz cx="12192000" cy="6858000"/>
  <p:notesSz cx="6797675" cy="9926638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AA1CEEF-EF01-4D22-9B3D-D59B16667DB3}">
          <p14:sldIdLst>
            <p14:sldId id="16774860"/>
            <p14:sldId id="16774866"/>
            <p14:sldId id="16774867"/>
            <p14:sldId id="16774864"/>
            <p14:sldId id="167748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795" userDrawn="1">
          <p15:clr>
            <a:srgbClr val="A4A3A4"/>
          </p15:clr>
        </p15:guide>
        <p15:guide id="3" orient="horz" pos="5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白慧峰" initials="白慧峰" lastIdx="2" clrIdx="0"/>
  <p:cmAuthor id="2" name="建楠 杨·" initials="建楠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F6CD59"/>
    <a:srgbClr val="0000CC"/>
    <a:srgbClr val="00B0F0"/>
    <a:srgbClr val="FFFFFF"/>
    <a:srgbClr val="5B9BD5"/>
    <a:srgbClr val="000000"/>
    <a:srgbClr val="D2DEEF"/>
    <a:srgbClr val="0066FF"/>
    <a:srgbClr val="2CB5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1" autoAdjust="0"/>
    <p:restoredTop sz="96525" autoAdjust="0"/>
  </p:normalViewPr>
  <p:slideViewPr>
    <p:cSldViewPr showGuides="1">
      <p:cViewPr varScale="1">
        <p:scale>
          <a:sx n="65" d="100"/>
          <a:sy n="65" d="100"/>
        </p:scale>
        <p:origin x="716" y="60"/>
      </p:cViewPr>
      <p:guideLst>
        <p:guide orient="horz" pos="2161"/>
        <p:guide pos="3795"/>
        <p:guide orient="horz" pos="578"/>
      </p:guideLst>
    </p:cSldViewPr>
  </p:slideViewPr>
  <p:outlineViewPr>
    <p:cViewPr>
      <p:scale>
        <a:sx n="33" d="100"/>
        <a:sy n="33" d="100"/>
      </p:scale>
      <p:origin x="0" y="-75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4CC13-B7C3-403B-BC79-FB8833B44288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64C29-044B-4BAC-BC15-FE0AC97D6C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6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gray">
          <a:xfrm>
            <a:off x="0" y="0"/>
            <a:ext cx="12217400" cy="6858000"/>
          </a:xfrm>
          <a:prstGeom prst="rect">
            <a:avLst/>
          </a:prstGeom>
        </p:spPr>
      </p:pic>
      <p:pic>
        <p:nvPicPr>
          <p:cNvPr id="14" name="图片 7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 bwMode="gray">
          <a:xfrm>
            <a:off x="443706" y="179637"/>
            <a:ext cx="2673352" cy="453526"/>
          </a:xfrm>
          <a:prstGeom prst="rect">
            <a:avLst/>
          </a:prstGeom>
        </p:spPr>
      </p:pic>
      <p:grpSp>
        <p:nvGrpSpPr>
          <p:cNvPr id="15" name="グループ化 14"/>
          <p:cNvGrpSpPr/>
          <p:nvPr userDrawn="1"/>
        </p:nvGrpSpPr>
        <p:grpSpPr bwMode="gray">
          <a:xfrm>
            <a:off x="8688288" y="6403172"/>
            <a:ext cx="3421550" cy="315128"/>
            <a:chOff x="9840416" y="6403172"/>
            <a:chExt cx="2262309" cy="315128"/>
          </a:xfrm>
        </p:grpSpPr>
        <p:sp>
          <p:nvSpPr>
            <p:cNvPr id="16" name="AutoShape 5"/>
            <p:cNvSpPr>
              <a:spLocks noChangeArrowheads="1"/>
            </p:cNvSpPr>
            <p:nvPr userDrawn="1"/>
          </p:nvSpPr>
          <p:spPr bwMode="gray">
            <a:xfrm>
              <a:off x="9840416" y="6403172"/>
              <a:ext cx="2262309" cy="315128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/>
            <a:p>
              <a:endParaRPr lang="zh-CN" altLang="en-US" sz="1400" b="1" dirty="0">
                <a:ln w="3175">
                  <a:solidFill>
                    <a:schemeClr val="bg1"/>
                  </a:solidFill>
                </a:ln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AutoShape 5"/>
            <p:cNvSpPr>
              <a:spLocks noChangeArrowheads="1"/>
            </p:cNvSpPr>
            <p:nvPr userDrawn="1"/>
          </p:nvSpPr>
          <p:spPr bwMode="gray">
            <a:xfrm>
              <a:off x="9840416" y="6403172"/>
              <a:ext cx="2260469" cy="315128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/>
            <a:p>
              <a:r>
                <a:rPr lang="en-US" altLang="ja-JP" sz="1400" b="1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Shanghai</a:t>
              </a:r>
              <a:r>
                <a:rPr lang="ja-JP" altLang="en-US" sz="1400" b="1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 </a:t>
              </a:r>
              <a:r>
                <a:rPr lang="en-US" altLang="ja-JP" sz="1400" b="1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ChangXing</a:t>
              </a:r>
              <a:r>
                <a:rPr lang="ja-JP" altLang="en-US" sz="1400" b="1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 </a:t>
              </a:r>
              <a:r>
                <a:rPr lang="en-US" altLang="ja-JP" sz="1400" b="1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Confidential</a:t>
              </a:r>
              <a:endParaRPr lang="zh-CN" altLang="en-US" sz="1400" b="1" dirty="0">
                <a:ln w="3175">
                  <a:solidFill>
                    <a:schemeClr val="bg1"/>
                  </a:solidFill>
                </a:ln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 bwMode="gray">
          <a:xfrm>
            <a:off x="1390650" y="1122363"/>
            <a:ext cx="942975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 bwMode="gray">
          <a:xfrm>
            <a:off x="1390650" y="3999162"/>
            <a:ext cx="9429750" cy="1468188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 bwMode="gray">
          <a:xfrm>
            <a:off x="443706" y="179637"/>
            <a:ext cx="2673352" cy="4535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 bwMode="gray">
          <a:xfrm>
            <a:off x="0" y="627797"/>
            <a:ext cx="12192000" cy="6230203"/>
          </a:xfrm>
          <a:prstGeom prst="rect">
            <a:avLst/>
          </a:prstGeom>
          <a:solidFill>
            <a:srgbClr val="0376C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376C6"/>
              </a:solidFill>
            </a:endParaRPr>
          </a:p>
        </p:txBody>
      </p:sp>
      <p:sp>
        <p:nvSpPr>
          <p:cNvPr id="7" name="矩形 6"/>
          <p:cNvSpPr/>
          <p:nvPr userDrawn="1"/>
        </p:nvSpPr>
        <p:spPr bwMode="gray">
          <a:xfrm>
            <a:off x="0" y="0"/>
            <a:ext cx="12192000" cy="622300"/>
          </a:xfrm>
          <a:prstGeom prst="rect">
            <a:avLst/>
          </a:prstGeom>
          <a:solidFill>
            <a:srgbClr val="0376C6"/>
          </a:solidFill>
          <a:ln>
            <a:solidFill>
              <a:srgbClr val="0281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 bwMode="gray">
          <a:xfrm>
            <a:off x="0" y="6464300"/>
            <a:ext cx="12192000" cy="393700"/>
          </a:xfrm>
          <a:prstGeom prst="rect">
            <a:avLst/>
          </a:prstGeom>
          <a:solidFill>
            <a:srgbClr val="0376C6"/>
          </a:solidFill>
          <a:ln>
            <a:solidFill>
              <a:srgbClr val="0281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 bwMode="gray">
          <a:xfrm>
            <a:off x="0" y="6393597"/>
            <a:ext cx="12192000" cy="81887"/>
          </a:xfrm>
          <a:prstGeom prst="rect">
            <a:avLst/>
          </a:prstGeom>
          <a:solidFill>
            <a:srgbClr val="0376C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AutoShape 5"/>
          <p:cNvSpPr>
            <a:spLocks noChangeArrowheads="1"/>
          </p:cNvSpPr>
          <p:nvPr userDrawn="1"/>
        </p:nvSpPr>
        <p:spPr bwMode="gray">
          <a:xfrm>
            <a:off x="9264351" y="6597351"/>
            <a:ext cx="2808313" cy="210651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/>
          <a:lstStyle/>
          <a:p>
            <a:pPr algn="ctr"/>
            <a:r>
              <a:rPr lang="en-US" altLang="ja-JP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Shanghai</a:t>
            </a:r>
            <a:r>
              <a:rPr lang="ja-JP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ja-JP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ChangXing</a:t>
            </a:r>
            <a:r>
              <a:rPr lang="ja-JP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ja-JP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Confidential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 bwMode="gray">
          <a:xfrm>
            <a:off x="0" y="0"/>
            <a:ext cx="12192000" cy="622300"/>
          </a:xfrm>
          <a:prstGeom prst="rect">
            <a:avLst/>
          </a:prstGeom>
          <a:solidFill>
            <a:srgbClr val="0376C6"/>
          </a:solidFill>
          <a:ln>
            <a:solidFill>
              <a:srgbClr val="0281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矩形 5"/>
          <p:cNvSpPr/>
          <p:nvPr userDrawn="1"/>
        </p:nvSpPr>
        <p:spPr bwMode="gray">
          <a:xfrm>
            <a:off x="0" y="627797"/>
            <a:ext cx="12192000" cy="81887"/>
          </a:xfrm>
          <a:prstGeom prst="rect">
            <a:avLst/>
          </a:prstGeom>
          <a:solidFill>
            <a:srgbClr val="0376C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 bwMode="gray">
          <a:xfrm>
            <a:off x="5925279" y="6618165"/>
            <a:ext cx="341440" cy="215444"/>
          </a:xfrm>
        </p:spPr>
        <p:txBody>
          <a:bodyPr wrap="none" lIns="0" tIns="0" rIns="0" bIns="0">
            <a:spAutoFit/>
          </a:bodyPr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B569A6D-6D07-4FCA-AFC8-949B574529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gray">
          <a:xfrm>
            <a:off x="5925279" y="6618165"/>
            <a:ext cx="341440" cy="215444"/>
          </a:xfrm>
        </p:spPr>
        <p:txBody>
          <a:bodyPr wrap="none" lIns="0" tIns="0" rIns="0" bIns="0">
            <a:spAutoFit/>
          </a:bodyPr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B569A6D-6D07-4FCA-AFC8-949B574529C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 bwMode="gray">
          <a:xfrm>
            <a:off x="0" y="0"/>
            <a:ext cx="12192000" cy="6223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矩形 5"/>
          <p:cNvSpPr/>
          <p:nvPr userDrawn="1"/>
        </p:nvSpPr>
        <p:spPr bwMode="gray">
          <a:xfrm>
            <a:off x="0" y="627797"/>
            <a:ext cx="12192000" cy="81887"/>
          </a:xfrm>
          <a:prstGeom prst="rect">
            <a:avLst/>
          </a:prstGeom>
          <a:solidFill>
            <a:schemeClr val="tx1">
              <a:lumMod val="50000"/>
              <a:lumOff val="50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335360" y="145098"/>
            <a:ext cx="11521280" cy="344559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gray"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gray"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B569A6D-6D07-4FCA-AFC8-949B574529C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 bwMode="gray">
          <a:xfrm>
            <a:off x="0" y="0"/>
            <a:ext cx="12192000" cy="622300"/>
          </a:xfrm>
          <a:prstGeom prst="rect">
            <a:avLst/>
          </a:prstGeom>
          <a:solidFill>
            <a:srgbClr val="0376C6"/>
          </a:solidFill>
          <a:ln>
            <a:solidFill>
              <a:srgbClr val="0281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63D25BA7-6EF9-4956-BCBB-CB5725C8BAFA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 bwMode="gray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 bwMode="gray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 bwMode="gray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gray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gray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B569A6D-6D07-4FCA-AFC8-949B574529C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AutoShape 5"/>
          <p:cNvSpPr>
            <a:spLocks noChangeArrowheads="1"/>
          </p:cNvSpPr>
          <p:nvPr userDrawn="1"/>
        </p:nvSpPr>
        <p:spPr bwMode="gray">
          <a:xfrm>
            <a:off x="9264351" y="6596549"/>
            <a:ext cx="2808313" cy="210651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/>
          <a:lstStyle/>
          <a:p>
            <a:pPr algn="ctr"/>
            <a:r>
              <a:rPr lang="en-US" altLang="ja-JP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Shanghai</a:t>
            </a:r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ChangXing</a:t>
            </a:r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Confidential</a:t>
            </a:r>
            <a:endParaRPr lang="zh-CN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2"/>
          <p:cNvSpPr txBox="1"/>
          <p:nvPr/>
        </p:nvSpPr>
        <p:spPr>
          <a:xfrm>
            <a:off x="674264" y="146834"/>
            <a:ext cx="11521280" cy="3445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　　　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　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車両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IG OFF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のまま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充電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ガン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勘合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しても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GTC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へアップロードできない</a:t>
            </a:r>
          </a:p>
        </p:txBody>
      </p:sp>
      <p:sp>
        <p:nvSpPr>
          <p:cNvPr id="10" name="四角形: 角を丸くする 36"/>
          <p:cNvSpPr/>
          <p:nvPr/>
        </p:nvSpPr>
        <p:spPr bwMode="gray">
          <a:xfrm>
            <a:off x="316310" y="119058"/>
            <a:ext cx="1440160" cy="400110"/>
          </a:xfrm>
          <a:prstGeom prst="roundRect">
            <a:avLst/>
          </a:prstGeom>
          <a:solidFill>
            <a:schemeClr val="bg1"/>
          </a:solidFill>
          <a:ln w="19050">
            <a:noFill/>
            <a:miter lim="800000"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ja-JP" altLang="en-US" sz="2400" b="1" dirty="0">
                <a:solidFill>
                  <a:srgbClr val="0376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上海畅星</a:t>
            </a:r>
          </a:p>
        </p:txBody>
      </p:sp>
      <p:sp>
        <p:nvSpPr>
          <p:cNvPr id="57" name="正方形/長方形 68"/>
          <p:cNvSpPr/>
          <p:nvPr/>
        </p:nvSpPr>
        <p:spPr bwMode="gray">
          <a:xfrm>
            <a:off x="119337" y="801442"/>
            <a:ext cx="1000516" cy="576163"/>
          </a:xfrm>
          <a:prstGeom prst="rect">
            <a:avLst/>
          </a:prstGeom>
          <a:solidFill>
            <a:srgbClr val="0376C6"/>
          </a:solidFill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POINT</a:t>
            </a:r>
            <a:endParaRPr kumimoji="1" lang="ja-JP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8" name="正方形/長方形 69"/>
          <p:cNvSpPr/>
          <p:nvPr/>
        </p:nvSpPr>
        <p:spPr bwMode="gray">
          <a:xfrm>
            <a:off x="1119852" y="801442"/>
            <a:ext cx="10493589" cy="576163"/>
          </a:xfrm>
          <a:prstGeom prst="rect">
            <a:avLst/>
          </a:prstGeom>
          <a:noFill/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lvl="0" algn="l">
              <a:buClrTx/>
              <a:buSzTx/>
              <a:buFontTx/>
            </a:pPr>
            <a:r>
              <a: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EV </a:t>
            </a:r>
            <a:r>
              <a:rPr kumimoji="1" lang="en-US" altLang="ja-JP" sz="1600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Telema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イベントが</a:t>
            </a:r>
            <a:r>
              <a: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TSU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をウェイクアップしたが、</a:t>
            </a:r>
            <a:r>
              <a: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DAQ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は</a:t>
            </a:r>
            <a:r>
              <a:rPr kumimoji="1" lang="en-US" altLang="ja-JP" sz="1600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Telema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データアップロード処理に対するウェイクアップ識別子を設定して</a:t>
            </a:r>
            <a:endParaRPr kumimoji="1" lang="en-US" altLang="ja-JP" sz="160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いなかった。</a:t>
            </a:r>
            <a:r>
              <a:rPr kumimoji="1" lang="en-US" altLang="ja-JP" sz="1600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Telema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データのアップロードが完了していない状態で</a:t>
            </a:r>
            <a:r>
              <a: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TSU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が</a:t>
            </a:r>
            <a:r>
              <a: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STR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休眠状態に入りました。</a:t>
            </a:r>
            <a:endParaRPr kumimoji="1" lang="zh-CN" altLang="en-US" sz="160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Meiryo UI" panose="020B0604030504040204" pitchFamily="50" charset="-128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1316" y="1413290"/>
            <a:ext cx="53285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□事象</a:t>
            </a:r>
            <a:endParaRPr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01607" y="1730185"/>
            <a:ext cx="5218301" cy="1194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7/10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日本時間</a:t>
            </a:r>
            <a:r>
              <a:rPr lang="en-US" altLang="zh-CN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9:00 ~ 9:30</a:t>
            </a:r>
            <a:r>
              <a:rPr lang="zh-CN" altLang="en-US" sz="1400" dirty="0">
                <a:latin typeface="Meiryo UI" panose="020B0604030504040204" pitchFamily="50" charset="-128"/>
                <a:ea typeface="宋体" panose="02010600030101010101" pitchFamily="2" charset="-122"/>
              </a:rPr>
              <a:t>、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バッテリーキャンセル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後、車両</a:t>
            </a:r>
            <a:r>
              <a:rPr lang="en-US" altLang="zh-CN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IG OFF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のまま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充電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ガン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勘合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しても</a:t>
            </a:r>
            <a:r>
              <a:rPr lang="en-US" altLang="zh-CN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GTC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へアップロードできない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。</a:t>
            </a:r>
          </a:p>
          <a:p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zh-CN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 IG ON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すると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勘合時情報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と</a:t>
            </a:r>
            <a:r>
              <a:rPr lang="en-US" altLang="zh-CN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IG ON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時情報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lang="en-US" altLang="zh-CN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つがアップロードされた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。</a:t>
            </a:r>
          </a:p>
          <a:p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zh-CN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その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後、再現確認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のため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何度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か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実施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した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際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に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同事象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が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発生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したため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バッテリーキャンセルする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しない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関係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なく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発生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する</a:t>
            </a:r>
            <a:r>
              <a:rPr lang="zh-CN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19908" y="1434262"/>
            <a:ext cx="53285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□原因解析</a:t>
            </a:r>
            <a:endParaRPr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1" name="Rectangle: Rounded Corners 80"/>
          <p:cNvSpPr/>
          <p:nvPr/>
        </p:nvSpPr>
        <p:spPr bwMode="gray">
          <a:xfrm>
            <a:off x="10334377" y="44942"/>
            <a:ext cx="1819250" cy="473854"/>
          </a:xfrm>
          <a:prstGeom prst="round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7/15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追加</a:t>
            </a:r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TextBox 74"/>
          <p:cNvSpPr txBox="1"/>
          <p:nvPr/>
        </p:nvSpPr>
        <p:spPr>
          <a:xfrm>
            <a:off x="5530215" y="1723390"/>
            <a:ext cx="6370320" cy="27137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■現時点の解析結果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車両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IG OFF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状態で、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TSU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+B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端子を抜き差しすると、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TSU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OFF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モードになる。この状態で充電ガンを挿入すると、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ICM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FCAN NM 3.1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を介して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TSU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をウェイクアップし、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TSU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5G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モジュールを起動する。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SPI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通信確立後、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MCU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EV </a:t>
            </a:r>
            <a:r>
              <a:rPr lang="en-US" altLang="ja-JP" sz="1400" dirty="0" err="1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Telema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処理を開始し、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秒間車両</a:t>
            </a:r>
            <a:r>
              <a:rPr lang="en-US" altLang="ja-JP" sz="1400" dirty="0" err="1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Telema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データを収集して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DAQ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SPI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転送する。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DAQ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からの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ACK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受信後、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EV </a:t>
            </a:r>
            <a:r>
              <a:rPr lang="en-US" altLang="ja-JP" sz="1400" dirty="0" err="1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Telema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処理を終了し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5G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</a:t>
            </a:r>
            <a:r>
              <a:rPr lang="en-US" altLang="ja-JP" sz="1400" dirty="0" err="1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SleepPrepare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通知を送信する。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5G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から</a:t>
            </a:r>
            <a:r>
              <a:rPr lang="en-US" altLang="ja-JP" sz="1400" dirty="0" err="1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ServiceOff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通知を受信すると、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5G_DTR GPIO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信号で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5G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モードに移行させる。</a:t>
            </a:r>
          </a:p>
          <a:p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問題事象：  </a:t>
            </a:r>
          </a:p>
          <a:p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DAQ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MCU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からの</a:t>
            </a:r>
            <a:r>
              <a:rPr lang="en-US" altLang="ja-JP" sz="1400" dirty="0" err="1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Telema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データ受信後、ウェイクアップ識別子を設定しなかったため、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GTC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へのデータアップロード中に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MCU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lang="en-US" altLang="ja-JP" sz="1400" dirty="0" err="1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SleepPrepare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通知を受信すると即座に</a:t>
            </a:r>
            <a:r>
              <a:rPr lang="en-US" altLang="ja-JP" sz="1400" dirty="0" err="1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ServiceOff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を返信した。このため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5G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モジュールが早期に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モードに入り、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DAQ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データが未送信となる事象が発生する可能性がある。</a:t>
            </a:r>
            <a:endParaRPr lang="zh-CN" altLang="en-US" sz="1400" dirty="0">
              <a:solidFill>
                <a:srgbClr val="0000CC"/>
              </a:solidFill>
              <a:latin typeface="Meiryo UI" panose="020B0604030504040204" pitchFamily="50" charset="-128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TextBox 71"/>
          <p:cNvSpPr txBox="1"/>
          <p:nvPr/>
        </p:nvSpPr>
        <p:spPr>
          <a:xfrm>
            <a:off x="91316" y="3111915"/>
            <a:ext cx="532859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□</a:t>
            </a:r>
            <a:r>
              <a:rPr lang="zh-CN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对策</a:t>
            </a:r>
          </a:p>
        </p:txBody>
      </p:sp>
      <p:sp>
        <p:nvSpPr>
          <p:cNvPr id="11" name="TextBox 73"/>
          <p:cNvSpPr txBox="1"/>
          <p:nvPr/>
        </p:nvSpPr>
        <p:spPr>
          <a:xfrm>
            <a:off x="201295" y="3429000"/>
            <a:ext cx="5218430" cy="1800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DAQ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MCU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からの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EV </a:t>
            </a:r>
            <a:r>
              <a:rPr lang="en-US" altLang="ja-JP" sz="1400" dirty="0" err="1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Telema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データ受信後、ウェイクアップ識別子を追加設定し、</a:t>
            </a:r>
            <a:r>
              <a:rPr lang="en-US" altLang="ja-JP" sz="1400" dirty="0" err="1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Telema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データのアップロード完了前に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TSU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モードに入ることを防止する。</a:t>
            </a:r>
          </a:p>
          <a:p>
            <a:r>
              <a:rPr lang="en-US" altLang="ja-JP" sz="1400" dirty="0" err="1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Telema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データのアップロード成功、またはアップロードタイムアウト（現在の設定：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分）時に、ウェイクアップ識別子を解除する。</a:t>
            </a:r>
          </a:p>
          <a:p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これにより、ネットワーク通信不良等で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DAQ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がデータをアップロードできない状況が続き、</a:t>
            </a:r>
            <a:r>
              <a:rPr lang="en-US" altLang="ja-JP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TSU</a:t>
            </a:r>
            <a:r>
              <a:rPr lang="ja-JP" altLang="en-US" sz="1400" dirty="0">
                <a:solidFill>
                  <a:srgbClr val="0000C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が休眠状態に入れずバッテリー消耗（過放電）が発生する事態を回避する。</a:t>
            </a:r>
            <a:endParaRPr lang="zh-CN" altLang="en-US" sz="1400" dirty="0">
              <a:solidFill>
                <a:srgbClr val="0000C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151630" y="626110"/>
            <a:ext cx="3347085" cy="473710"/>
          </a:xfrm>
          <a:prstGeom prst="rect">
            <a:avLst/>
          </a:prstGeom>
          <a:solidFill>
            <a:srgbClr val="00B0F0">
              <a:alpha val="50000"/>
            </a:srgbClr>
          </a:solidFill>
          <a:ln w="19050">
            <a:noFill/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タイトル 2"/>
          <p:cNvSpPr txBox="1"/>
          <p:nvPr/>
        </p:nvSpPr>
        <p:spPr>
          <a:xfrm>
            <a:off x="674264" y="146834"/>
            <a:ext cx="11521280" cy="3445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　　　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　「原因説明」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車両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IG OFF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のまま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充電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ガン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勘合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しても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GTC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へアップロードできない</a:t>
            </a:r>
            <a:endParaRPr lang="ja-JP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50" charset="-128"/>
            </a:endParaRPr>
          </a:p>
        </p:txBody>
      </p:sp>
      <p:sp>
        <p:nvSpPr>
          <p:cNvPr id="10" name="四角形: 角を丸くする 36"/>
          <p:cNvSpPr/>
          <p:nvPr/>
        </p:nvSpPr>
        <p:spPr bwMode="gray">
          <a:xfrm>
            <a:off x="316310" y="119058"/>
            <a:ext cx="1440160" cy="400110"/>
          </a:xfrm>
          <a:prstGeom prst="roundRect">
            <a:avLst/>
          </a:prstGeom>
          <a:solidFill>
            <a:schemeClr val="bg1"/>
          </a:solidFill>
          <a:ln w="19050">
            <a:noFill/>
            <a:miter lim="800000"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ja-JP" altLang="en-US" sz="2400" b="1" dirty="0">
                <a:solidFill>
                  <a:srgbClr val="0376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上海畅星</a:t>
            </a:r>
          </a:p>
        </p:txBody>
      </p:sp>
      <p:sp>
        <p:nvSpPr>
          <p:cNvPr id="81" name="Rectangle: Rounded Corners 80"/>
          <p:cNvSpPr/>
          <p:nvPr/>
        </p:nvSpPr>
        <p:spPr bwMode="gray">
          <a:xfrm>
            <a:off x="10334377" y="44942"/>
            <a:ext cx="1819250" cy="473854"/>
          </a:xfrm>
          <a:prstGeom prst="round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7/15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追加</a:t>
            </a:r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15415" y="693420"/>
            <a:ext cx="935990" cy="22352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GTC</a:t>
            </a:r>
          </a:p>
        </p:txBody>
      </p:sp>
      <p:sp>
        <p:nvSpPr>
          <p:cNvPr id="4" name="矩形 3"/>
          <p:cNvSpPr/>
          <p:nvPr/>
        </p:nvSpPr>
        <p:spPr>
          <a:xfrm>
            <a:off x="4435475" y="693420"/>
            <a:ext cx="935990" cy="22352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5G</a:t>
            </a:r>
          </a:p>
        </p:txBody>
      </p:sp>
      <p:sp>
        <p:nvSpPr>
          <p:cNvPr id="6" name="矩形 5"/>
          <p:cNvSpPr/>
          <p:nvPr/>
        </p:nvSpPr>
        <p:spPr>
          <a:xfrm>
            <a:off x="6235700" y="693420"/>
            <a:ext cx="935990" cy="22352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MCU</a:t>
            </a:r>
          </a:p>
        </p:txBody>
      </p:sp>
      <p:sp>
        <p:nvSpPr>
          <p:cNvPr id="7" name="矩形 6"/>
          <p:cNvSpPr/>
          <p:nvPr/>
        </p:nvSpPr>
        <p:spPr>
          <a:xfrm>
            <a:off x="9552305" y="693420"/>
            <a:ext cx="935990" cy="22352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ICM</a:t>
            </a:r>
          </a:p>
        </p:txBody>
      </p:sp>
      <p:cxnSp>
        <p:nvCxnSpPr>
          <p:cNvPr id="13" name="直接连接符 12"/>
          <p:cNvCxnSpPr>
            <a:stCxn id="3" idx="2"/>
          </p:cNvCxnSpPr>
          <p:nvPr/>
        </p:nvCxnSpPr>
        <p:spPr>
          <a:xfrm>
            <a:off x="1883410" y="916940"/>
            <a:ext cx="0" cy="601200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4" idx="2"/>
          </p:cNvCxnSpPr>
          <p:nvPr/>
        </p:nvCxnSpPr>
        <p:spPr>
          <a:xfrm>
            <a:off x="4903470" y="916940"/>
            <a:ext cx="0" cy="601200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6" idx="2"/>
          </p:cNvCxnSpPr>
          <p:nvPr/>
        </p:nvCxnSpPr>
        <p:spPr>
          <a:xfrm>
            <a:off x="6703695" y="916940"/>
            <a:ext cx="0" cy="601200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7" idx="2"/>
          </p:cNvCxnSpPr>
          <p:nvPr/>
        </p:nvCxnSpPr>
        <p:spPr>
          <a:xfrm>
            <a:off x="10020300" y="916940"/>
            <a:ext cx="0" cy="601200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文本框 35"/>
          <p:cNvSpPr txBox="1"/>
          <p:nvPr/>
        </p:nvSpPr>
        <p:spPr>
          <a:xfrm>
            <a:off x="7556183" y="2811145"/>
            <a:ext cx="1568450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FCAN NM2.5=1</a:t>
            </a:r>
          </a:p>
        </p:txBody>
      </p:sp>
      <p:sp>
        <p:nvSpPr>
          <p:cNvPr id="42" name="波形 41"/>
          <p:cNvSpPr/>
          <p:nvPr/>
        </p:nvSpPr>
        <p:spPr>
          <a:xfrm>
            <a:off x="4655820" y="1111885"/>
            <a:ext cx="2319655" cy="322580"/>
          </a:xfrm>
          <a:prstGeom prst="wav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OFF Mode</a:t>
            </a: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6705600" y="2997200"/>
            <a:ext cx="32829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H="1">
            <a:off x="6710045" y="1629410"/>
            <a:ext cx="331533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线形标注 1 69"/>
          <p:cNvSpPr/>
          <p:nvPr/>
        </p:nvSpPr>
        <p:spPr>
          <a:xfrm>
            <a:off x="1199515" y="3986531"/>
            <a:ext cx="2929255" cy="1337310"/>
          </a:xfrm>
          <a:prstGeom prst="borderCallout1">
            <a:avLst>
              <a:gd name="adj1" fmla="val 62183"/>
              <a:gd name="adj2" fmla="val 103490"/>
              <a:gd name="adj3" fmla="val 105257"/>
              <a:gd name="adj4" fmla="val 115456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DAQ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が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MCU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から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SPI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経由で</a:t>
            </a:r>
            <a:r>
              <a:rPr kumimoji="1"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Telema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データ（①）を受信した際にウェイクアップ識別子を設定しなかったため、その後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MCU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の</a:t>
            </a:r>
            <a:r>
              <a:rPr kumimoji="1"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SleepPrepare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通知を受信した時点で</a:t>
            </a:r>
            <a:r>
              <a:rPr kumimoji="1"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Telema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データのアップロード完了前に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MCU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へ</a:t>
            </a:r>
            <a:r>
              <a:rPr kumimoji="1"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ServiceOff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通知（②）を送信し、早期に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STR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休眠状態に移行する事象が発生した。</a:t>
            </a: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H="1">
            <a:off x="10021570" y="1452245"/>
            <a:ext cx="556895" cy="0"/>
          </a:xfrm>
          <a:prstGeom prst="straightConnector1">
            <a:avLst/>
          </a:prstGeom>
          <a:ln>
            <a:solidFill>
              <a:schemeClr val="tx1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35"/>
          <p:cNvSpPr txBox="1"/>
          <p:nvPr/>
        </p:nvSpPr>
        <p:spPr>
          <a:xfrm>
            <a:off x="7682548" y="1420495"/>
            <a:ext cx="1315720" cy="1701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FCAN NM3.1=1</a:t>
            </a:r>
            <a:endParaRPr kumimoji="1"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688138" y="1773238"/>
            <a:ext cx="434975" cy="215900"/>
            <a:chOff x="4295800" y="2564904"/>
            <a:chExt cx="434934" cy="216024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5"/>
          <p:cNvSpPr txBox="1"/>
          <p:nvPr/>
        </p:nvSpPr>
        <p:spPr>
          <a:xfrm>
            <a:off x="7176135" y="1806575"/>
            <a:ext cx="654685" cy="1797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Wakeup</a:t>
            </a:r>
          </a:p>
        </p:txBody>
      </p:sp>
      <p:cxnSp>
        <p:nvCxnSpPr>
          <p:cNvPr id="37" name="直接箭头连接符 36"/>
          <p:cNvCxnSpPr/>
          <p:nvPr/>
        </p:nvCxnSpPr>
        <p:spPr>
          <a:xfrm flipH="1">
            <a:off x="4901565" y="2184400"/>
            <a:ext cx="17957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35"/>
          <p:cNvSpPr txBox="1"/>
          <p:nvPr/>
        </p:nvSpPr>
        <p:spPr>
          <a:xfrm>
            <a:off x="5311775" y="1917700"/>
            <a:ext cx="902970" cy="1955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Power ON</a:t>
            </a:r>
          </a:p>
        </p:txBody>
      </p:sp>
      <p:cxnSp>
        <p:nvCxnSpPr>
          <p:cNvPr id="50" name="直接箭头连接符 49"/>
          <p:cNvCxnSpPr/>
          <p:nvPr/>
        </p:nvCxnSpPr>
        <p:spPr>
          <a:xfrm flipH="1">
            <a:off x="4920615" y="2926715"/>
            <a:ext cx="1764665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35"/>
          <p:cNvSpPr txBox="1"/>
          <p:nvPr/>
        </p:nvSpPr>
        <p:spPr>
          <a:xfrm>
            <a:off x="5405755" y="2666365"/>
            <a:ext cx="902970" cy="1955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SPI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通信確立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>
            <a:off x="6710680" y="2120265"/>
            <a:ext cx="32829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35"/>
          <p:cNvSpPr txBox="1"/>
          <p:nvPr/>
        </p:nvSpPr>
        <p:spPr>
          <a:xfrm>
            <a:off x="7478078" y="1943735"/>
            <a:ext cx="1724660" cy="2012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BCAN Wakeup</a:t>
            </a:r>
          </a:p>
        </p:txBody>
      </p:sp>
      <p:cxnSp>
        <p:nvCxnSpPr>
          <p:cNvPr id="64" name="直接箭头连接符 63"/>
          <p:cNvCxnSpPr/>
          <p:nvPr/>
        </p:nvCxnSpPr>
        <p:spPr>
          <a:xfrm>
            <a:off x="6720205" y="2371090"/>
            <a:ext cx="3282950" cy="0"/>
          </a:xfrm>
          <a:prstGeom prst="straightConnector1">
            <a:avLst/>
          </a:prstGeom>
          <a:ln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35"/>
          <p:cNvSpPr txBox="1"/>
          <p:nvPr/>
        </p:nvSpPr>
        <p:spPr>
          <a:xfrm>
            <a:off x="7723823" y="2169795"/>
            <a:ext cx="12331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  <a:sym typeface="+mn-ea"/>
              </a:rPr>
              <a:t>情報送信要求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  <a:sym typeface="+mn-ea"/>
              </a:rPr>
              <a:t>=1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688138" y="2509838"/>
            <a:ext cx="434975" cy="215900"/>
            <a:chOff x="4295800" y="2564904"/>
            <a:chExt cx="434934" cy="216024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文本框 35"/>
          <p:cNvSpPr txBox="1"/>
          <p:nvPr/>
        </p:nvSpPr>
        <p:spPr>
          <a:xfrm>
            <a:off x="7176135" y="2510155"/>
            <a:ext cx="1723390" cy="216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接收并记录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Telema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事件</a:t>
            </a:r>
          </a:p>
        </p:txBody>
      </p:sp>
      <p:grpSp>
        <p:nvGrpSpPr>
          <p:cNvPr id="76" name="组合 75"/>
          <p:cNvGrpSpPr/>
          <p:nvPr/>
        </p:nvGrpSpPr>
        <p:grpSpPr>
          <a:xfrm>
            <a:off x="4911408" y="2340293"/>
            <a:ext cx="434975" cy="215900"/>
            <a:chOff x="4295800" y="2564904"/>
            <a:chExt cx="434934" cy="216024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文本框 35"/>
          <p:cNvSpPr txBox="1"/>
          <p:nvPr/>
        </p:nvSpPr>
        <p:spPr>
          <a:xfrm>
            <a:off x="5405755" y="2350136"/>
            <a:ext cx="855028" cy="153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システム起動</a:t>
            </a:r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4911408" y="3142933"/>
            <a:ext cx="434975" cy="215900"/>
            <a:chOff x="4295800" y="2564904"/>
            <a:chExt cx="434934" cy="216024"/>
          </a:xfrm>
        </p:grpSpPr>
        <p:cxnSp>
          <p:nvCxnSpPr>
            <p:cNvPr id="83" name="直接连接符 82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文本框 35"/>
          <p:cNvSpPr txBox="1"/>
          <p:nvPr/>
        </p:nvSpPr>
        <p:spPr>
          <a:xfrm>
            <a:off x="5405755" y="3143250"/>
            <a:ext cx="654685" cy="1797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DAQ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起動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6707823" y="3430588"/>
            <a:ext cx="434975" cy="215900"/>
            <a:chOff x="4295800" y="2564904"/>
            <a:chExt cx="434934" cy="216024"/>
          </a:xfrm>
        </p:grpSpPr>
        <p:cxnSp>
          <p:nvCxnSpPr>
            <p:cNvPr id="88" name="直接连接符 87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文本框 35"/>
          <p:cNvSpPr txBox="1"/>
          <p:nvPr/>
        </p:nvSpPr>
        <p:spPr>
          <a:xfrm>
            <a:off x="7195819" y="3430905"/>
            <a:ext cx="1928809" cy="216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5s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車両</a:t>
            </a:r>
            <a:r>
              <a:rPr kumimoji="1"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Telema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データ収集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>
            <a:off x="6703695" y="3251200"/>
            <a:ext cx="32829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35"/>
          <p:cNvSpPr txBox="1"/>
          <p:nvPr/>
        </p:nvSpPr>
        <p:spPr>
          <a:xfrm>
            <a:off x="7723823" y="3041015"/>
            <a:ext cx="1233170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  <a:sym typeface="+mn-ea"/>
              </a:rPr>
              <a:t>情報送信要求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  <a:sym typeface="+mn-ea"/>
              </a:rPr>
              <a:t>=1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94" name="直接箭头连接符 93"/>
          <p:cNvCxnSpPr/>
          <p:nvPr/>
        </p:nvCxnSpPr>
        <p:spPr>
          <a:xfrm flipH="1">
            <a:off x="4901565" y="3791585"/>
            <a:ext cx="17957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35"/>
          <p:cNvSpPr txBox="1"/>
          <p:nvPr/>
        </p:nvSpPr>
        <p:spPr>
          <a:xfrm>
            <a:off x="5311774" y="3503295"/>
            <a:ext cx="1074421" cy="1612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Telema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データ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96" name="直接箭头连接符 95"/>
          <p:cNvCxnSpPr/>
          <p:nvPr/>
        </p:nvCxnSpPr>
        <p:spPr>
          <a:xfrm>
            <a:off x="4904740" y="4035425"/>
            <a:ext cx="1777365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35"/>
          <p:cNvSpPr txBox="1"/>
          <p:nvPr/>
        </p:nvSpPr>
        <p:spPr>
          <a:xfrm>
            <a:off x="5375910" y="3839845"/>
            <a:ext cx="902970" cy="1955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ACK</a:t>
            </a:r>
          </a:p>
        </p:txBody>
      </p:sp>
      <p:sp>
        <p:nvSpPr>
          <p:cNvPr id="103" name="矩形 102"/>
          <p:cNvSpPr/>
          <p:nvPr/>
        </p:nvSpPr>
        <p:spPr>
          <a:xfrm>
            <a:off x="300355" y="5371465"/>
            <a:ext cx="4920615" cy="629285"/>
          </a:xfrm>
          <a:prstGeom prst="rect">
            <a:avLst/>
          </a:prstGeom>
          <a:solidFill>
            <a:srgbClr val="92D050">
              <a:alpha val="50000"/>
            </a:srgbClr>
          </a:solidFill>
          <a:ln w="19050">
            <a:noFill/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4" name="文本框 35"/>
          <p:cNvSpPr txBox="1"/>
          <p:nvPr/>
        </p:nvSpPr>
        <p:spPr>
          <a:xfrm>
            <a:off x="391160" y="5371465"/>
            <a:ext cx="1247140" cy="381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alt: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ネットワーク通信準備完了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105" name="直接箭头连接符 104"/>
          <p:cNvCxnSpPr/>
          <p:nvPr/>
        </p:nvCxnSpPr>
        <p:spPr>
          <a:xfrm flipH="1">
            <a:off x="1883410" y="5688965"/>
            <a:ext cx="30124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35"/>
          <p:cNvSpPr txBox="1"/>
          <p:nvPr/>
        </p:nvSpPr>
        <p:spPr>
          <a:xfrm>
            <a:off x="2061845" y="5443220"/>
            <a:ext cx="2750820" cy="1689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Telema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データアップロード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(DAQID=0003)</a:t>
            </a:r>
          </a:p>
        </p:txBody>
      </p:sp>
      <p:grpSp>
        <p:nvGrpSpPr>
          <p:cNvPr id="107" name="组合 106"/>
          <p:cNvGrpSpPr/>
          <p:nvPr/>
        </p:nvGrpSpPr>
        <p:grpSpPr>
          <a:xfrm>
            <a:off x="6707823" y="4726623"/>
            <a:ext cx="434975" cy="215900"/>
            <a:chOff x="4295800" y="2564904"/>
            <a:chExt cx="434934" cy="216024"/>
          </a:xfrm>
        </p:grpSpPr>
        <p:cxnSp>
          <p:nvCxnSpPr>
            <p:cNvPr id="108" name="直接连接符 107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文本框 35"/>
          <p:cNvSpPr txBox="1"/>
          <p:nvPr/>
        </p:nvSpPr>
        <p:spPr>
          <a:xfrm>
            <a:off x="7195820" y="4726940"/>
            <a:ext cx="1634485" cy="3759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全てのウェイクアップ要求が解除済み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6685280" y="4151630"/>
            <a:ext cx="32829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35"/>
          <p:cNvSpPr txBox="1"/>
          <p:nvPr/>
        </p:nvSpPr>
        <p:spPr>
          <a:xfrm>
            <a:off x="7723823" y="3932555"/>
            <a:ext cx="1233170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  <a:sym typeface="+mn-ea"/>
              </a:rPr>
              <a:t>情報送信要求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  <a:sym typeface="+mn-ea"/>
              </a:rPr>
              <a:t>=2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sp>
        <p:nvSpPr>
          <p:cNvPr id="114" name="文本框 35"/>
          <p:cNvSpPr txBox="1"/>
          <p:nvPr/>
        </p:nvSpPr>
        <p:spPr>
          <a:xfrm>
            <a:off x="7556183" y="4207510"/>
            <a:ext cx="1568450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FCAN NM2.5=0</a:t>
            </a:r>
          </a:p>
        </p:txBody>
      </p:sp>
      <p:cxnSp>
        <p:nvCxnSpPr>
          <p:cNvPr id="115" name="直接箭头连接符 114"/>
          <p:cNvCxnSpPr/>
          <p:nvPr/>
        </p:nvCxnSpPr>
        <p:spPr>
          <a:xfrm>
            <a:off x="6685280" y="4419600"/>
            <a:ext cx="32829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 flipH="1">
            <a:off x="4933315" y="5064760"/>
            <a:ext cx="17849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35"/>
          <p:cNvSpPr txBox="1"/>
          <p:nvPr/>
        </p:nvSpPr>
        <p:spPr>
          <a:xfrm>
            <a:off x="5256530" y="4799330"/>
            <a:ext cx="1052195" cy="184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SleepPrepare</a:t>
            </a:r>
          </a:p>
        </p:txBody>
      </p:sp>
      <p:cxnSp>
        <p:nvCxnSpPr>
          <p:cNvPr id="118" name="直接箭头连接符 117"/>
          <p:cNvCxnSpPr/>
          <p:nvPr/>
        </p:nvCxnSpPr>
        <p:spPr>
          <a:xfrm>
            <a:off x="4916805" y="5323840"/>
            <a:ext cx="17678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35"/>
          <p:cNvSpPr txBox="1"/>
          <p:nvPr/>
        </p:nvSpPr>
        <p:spPr>
          <a:xfrm>
            <a:off x="5256530" y="5087620"/>
            <a:ext cx="1052195" cy="184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Service Off</a:t>
            </a:r>
          </a:p>
        </p:txBody>
      </p:sp>
      <p:cxnSp>
        <p:nvCxnSpPr>
          <p:cNvPr id="120" name="直接箭头连接符 119"/>
          <p:cNvCxnSpPr/>
          <p:nvPr/>
        </p:nvCxnSpPr>
        <p:spPr>
          <a:xfrm flipH="1">
            <a:off x="4935220" y="5591810"/>
            <a:ext cx="17849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35"/>
          <p:cNvSpPr txBox="1"/>
          <p:nvPr/>
        </p:nvSpPr>
        <p:spPr>
          <a:xfrm>
            <a:off x="5149850" y="5375910"/>
            <a:ext cx="1400175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5G_DTR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休眠通知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4900613" y="5754688"/>
            <a:ext cx="434975" cy="215900"/>
            <a:chOff x="4295800" y="2564904"/>
            <a:chExt cx="434934" cy="216024"/>
          </a:xfrm>
        </p:grpSpPr>
        <p:cxnSp>
          <p:nvCxnSpPr>
            <p:cNvPr id="123" name="直接连接符 122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文本框 35"/>
          <p:cNvSpPr txBox="1"/>
          <p:nvPr/>
        </p:nvSpPr>
        <p:spPr>
          <a:xfrm>
            <a:off x="5343525" y="5753100"/>
            <a:ext cx="1206500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STR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モードに入る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127" name="直接箭头连接符 126"/>
          <p:cNvCxnSpPr/>
          <p:nvPr/>
        </p:nvCxnSpPr>
        <p:spPr>
          <a:xfrm>
            <a:off x="4907280" y="6237605"/>
            <a:ext cx="17678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本框 35"/>
          <p:cNvSpPr txBox="1"/>
          <p:nvPr/>
        </p:nvSpPr>
        <p:spPr>
          <a:xfrm>
            <a:off x="4973320" y="6000750"/>
            <a:ext cx="1586865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5G_Sleep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休眠済み通知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4920615" y="6525895"/>
            <a:ext cx="17957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本框 35"/>
          <p:cNvSpPr txBox="1"/>
          <p:nvPr/>
        </p:nvSpPr>
        <p:spPr>
          <a:xfrm>
            <a:off x="5330825" y="6311900"/>
            <a:ext cx="902970" cy="1955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Power Off</a:t>
            </a:r>
          </a:p>
        </p:txBody>
      </p:sp>
      <p:grpSp>
        <p:nvGrpSpPr>
          <p:cNvPr id="131" name="组合 130"/>
          <p:cNvGrpSpPr/>
          <p:nvPr/>
        </p:nvGrpSpPr>
        <p:grpSpPr>
          <a:xfrm>
            <a:off x="6707823" y="6597968"/>
            <a:ext cx="434975" cy="215900"/>
            <a:chOff x="4295800" y="2564904"/>
            <a:chExt cx="434934" cy="216024"/>
          </a:xfrm>
        </p:grpSpPr>
        <p:cxnSp>
          <p:nvCxnSpPr>
            <p:cNvPr id="132" name="直接连接符 131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文本框 35"/>
          <p:cNvSpPr txBox="1"/>
          <p:nvPr/>
        </p:nvSpPr>
        <p:spPr>
          <a:xfrm>
            <a:off x="7195820" y="6598285"/>
            <a:ext cx="1808480" cy="216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Sleep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，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OFF Mode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に入る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136" name="直接箭头连接符 135"/>
          <p:cNvCxnSpPr/>
          <p:nvPr/>
        </p:nvCxnSpPr>
        <p:spPr>
          <a:xfrm>
            <a:off x="6671945" y="4653280"/>
            <a:ext cx="32829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本框 35"/>
          <p:cNvSpPr txBox="1"/>
          <p:nvPr/>
        </p:nvSpPr>
        <p:spPr>
          <a:xfrm>
            <a:off x="7478078" y="4450080"/>
            <a:ext cx="1724660" cy="2012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BCAN Sleep</a:t>
            </a:r>
          </a:p>
        </p:txBody>
      </p:sp>
      <p:sp>
        <p:nvSpPr>
          <p:cNvPr id="139" name="乘号 138"/>
          <p:cNvSpPr/>
          <p:nvPr/>
        </p:nvSpPr>
        <p:spPr>
          <a:xfrm>
            <a:off x="4452620" y="5323840"/>
            <a:ext cx="360045" cy="647700"/>
          </a:xfrm>
          <a:prstGeom prst="mathMultiply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sp>
        <p:nvSpPr>
          <p:cNvPr id="141" name="七边形 140"/>
          <p:cNvSpPr/>
          <p:nvPr/>
        </p:nvSpPr>
        <p:spPr>
          <a:xfrm>
            <a:off x="4685665" y="3698875"/>
            <a:ext cx="287655" cy="287655"/>
          </a:xfrm>
          <a:prstGeom prst="heptagon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00" b="1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1</a:t>
            </a:r>
          </a:p>
        </p:txBody>
      </p:sp>
      <p:sp>
        <p:nvSpPr>
          <p:cNvPr id="144" name="七边形 143"/>
          <p:cNvSpPr/>
          <p:nvPr/>
        </p:nvSpPr>
        <p:spPr>
          <a:xfrm>
            <a:off x="4727575" y="5102860"/>
            <a:ext cx="287655" cy="287655"/>
          </a:xfrm>
          <a:prstGeom prst="heptagon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00" b="1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2</a:t>
            </a:r>
          </a:p>
        </p:txBody>
      </p:sp>
      <p:sp>
        <p:nvSpPr>
          <p:cNvPr id="99" name="文本框 35">
            <a:extLst>
              <a:ext uri="{FF2B5EF4-FFF2-40B4-BE49-F238E27FC236}">
                <a16:creationId xmlns:a16="http://schemas.microsoft.com/office/drawing/2014/main" id="{75DA646E-EE3A-493B-A171-015F733453EF}"/>
              </a:ext>
            </a:extLst>
          </p:cNvPr>
          <p:cNvSpPr txBox="1"/>
          <p:nvPr/>
        </p:nvSpPr>
        <p:spPr>
          <a:xfrm>
            <a:off x="10225858" y="1236486"/>
            <a:ext cx="1089208" cy="1533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充電ガンを挿入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45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151630" y="626110"/>
            <a:ext cx="3347085" cy="473710"/>
          </a:xfrm>
          <a:prstGeom prst="rect">
            <a:avLst/>
          </a:prstGeom>
          <a:solidFill>
            <a:srgbClr val="00B0F0">
              <a:alpha val="50000"/>
            </a:srgbClr>
          </a:solidFill>
          <a:ln w="19050">
            <a:noFill/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タイトル 2"/>
          <p:cNvSpPr txBox="1"/>
          <p:nvPr/>
        </p:nvSpPr>
        <p:spPr>
          <a:xfrm>
            <a:off x="674264" y="146834"/>
            <a:ext cx="11521280" cy="3445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　　　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　「対策方案」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車両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IG OFF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のまま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充電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ガン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勘合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しても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GTC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  <a:sym typeface="+mn-ea"/>
              </a:rPr>
              <a:t>へアップロードできない</a:t>
            </a:r>
            <a:endParaRPr lang="ja-JP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50" charset="-128"/>
            </a:endParaRPr>
          </a:p>
        </p:txBody>
      </p:sp>
      <p:sp>
        <p:nvSpPr>
          <p:cNvPr id="10" name="四角形: 角を丸くする 36"/>
          <p:cNvSpPr/>
          <p:nvPr/>
        </p:nvSpPr>
        <p:spPr bwMode="gray">
          <a:xfrm>
            <a:off x="316310" y="119058"/>
            <a:ext cx="1440160" cy="400110"/>
          </a:xfrm>
          <a:prstGeom prst="roundRect">
            <a:avLst/>
          </a:prstGeom>
          <a:solidFill>
            <a:schemeClr val="bg1"/>
          </a:solidFill>
          <a:ln w="19050">
            <a:noFill/>
            <a:miter lim="800000"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ja-JP" altLang="en-US" sz="2400" b="1" dirty="0">
                <a:solidFill>
                  <a:srgbClr val="0376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上海畅星</a:t>
            </a:r>
          </a:p>
        </p:txBody>
      </p:sp>
      <p:sp>
        <p:nvSpPr>
          <p:cNvPr id="81" name="Rectangle: Rounded Corners 80"/>
          <p:cNvSpPr/>
          <p:nvPr/>
        </p:nvSpPr>
        <p:spPr bwMode="gray">
          <a:xfrm>
            <a:off x="10334377" y="44942"/>
            <a:ext cx="1819250" cy="473854"/>
          </a:xfrm>
          <a:prstGeom prst="round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7/15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追加</a:t>
            </a:r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15415" y="693420"/>
            <a:ext cx="935990" cy="22352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GTC</a:t>
            </a:r>
          </a:p>
        </p:txBody>
      </p:sp>
      <p:sp>
        <p:nvSpPr>
          <p:cNvPr id="4" name="矩形 3"/>
          <p:cNvSpPr/>
          <p:nvPr/>
        </p:nvSpPr>
        <p:spPr>
          <a:xfrm>
            <a:off x="4435475" y="693420"/>
            <a:ext cx="935990" cy="22352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5G</a:t>
            </a:r>
          </a:p>
        </p:txBody>
      </p:sp>
      <p:sp>
        <p:nvSpPr>
          <p:cNvPr id="6" name="矩形 5"/>
          <p:cNvSpPr/>
          <p:nvPr/>
        </p:nvSpPr>
        <p:spPr>
          <a:xfrm>
            <a:off x="6235700" y="693420"/>
            <a:ext cx="935990" cy="22352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MCU</a:t>
            </a:r>
          </a:p>
        </p:txBody>
      </p:sp>
      <p:sp>
        <p:nvSpPr>
          <p:cNvPr id="7" name="矩形 6"/>
          <p:cNvSpPr/>
          <p:nvPr/>
        </p:nvSpPr>
        <p:spPr>
          <a:xfrm>
            <a:off x="9552305" y="693420"/>
            <a:ext cx="935990" cy="22352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ICM</a:t>
            </a:r>
          </a:p>
        </p:txBody>
      </p:sp>
      <p:cxnSp>
        <p:nvCxnSpPr>
          <p:cNvPr id="13" name="直接连接符 12"/>
          <p:cNvCxnSpPr>
            <a:stCxn id="3" idx="2"/>
          </p:cNvCxnSpPr>
          <p:nvPr/>
        </p:nvCxnSpPr>
        <p:spPr>
          <a:xfrm>
            <a:off x="1883410" y="916940"/>
            <a:ext cx="0" cy="694800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4" idx="2"/>
          </p:cNvCxnSpPr>
          <p:nvPr/>
        </p:nvCxnSpPr>
        <p:spPr>
          <a:xfrm>
            <a:off x="4903470" y="916940"/>
            <a:ext cx="0" cy="694800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6" idx="2"/>
          </p:cNvCxnSpPr>
          <p:nvPr/>
        </p:nvCxnSpPr>
        <p:spPr>
          <a:xfrm>
            <a:off x="6703695" y="916940"/>
            <a:ext cx="0" cy="694800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7" idx="2"/>
          </p:cNvCxnSpPr>
          <p:nvPr/>
        </p:nvCxnSpPr>
        <p:spPr>
          <a:xfrm>
            <a:off x="10020300" y="916940"/>
            <a:ext cx="0" cy="694800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文本框 35"/>
          <p:cNvSpPr txBox="1"/>
          <p:nvPr/>
        </p:nvSpPr>
        <p:spPr>
          <a:xfrm>
            <a:off x="7556183" y="2811145"/>
            <a:ext cx="1568450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FCAN NM2.5=1</a:t>
            </a:r>
          </a:p>
        </p:txBody>
      </p:sp>
      <p:sp>
        <p:nvSpPr>
          <p:cNvPr id="42" name="波形 41"/>
          <p:cNvSpPr/>
          <p:nvPr/>
        </p:nvSpPr>
        <p:spPr>
          <a:xfrm>
            <a:off x="4655820" y="1111885"/>
            <a:ext cx="2319655" cy="322580"/>
          </a:xfrm>
          <a:prstGeom prst="wav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OFF Mode</a:t>
            </a: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6705600" y="2997200"/>
            <a:ext cx="32829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H="1">
            <a:off x="6710045" y="1629410"/>
            <a:ext cx="331533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H="1">
            <a:off x="10021570" y="1452245"/>
            <a:ext cx="556895" cy="0"/>
          </a:xfrm>
          <a:prstGeom prst="straightConnector1">
            <a:avLst/>
          </a:prstGeom>
          <a:ln>
            <a:solidFill>
              <a:schemeClr val="tx1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35"/>
          <p:cNvSpPr txBox="1"/>
          <p:nvPr/>
        </p:nvSpPr>
        <p:spPr>
          <a:xfrm>
            <a:off x="10119360" y="1187449"/>
            <a:ext cx="1068388" cy="2235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充電ガンを挿入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sp>
        <p:nvSpPr>
          <p:cNvPr id="9" name="文本框 35"/>
          <p:cNvSpPr txBox="1"/>
          <p:nvPr/>
        </p:nvSpPr>
        <p:spPr>
          <a:xfrm>
            <a:off x="7682548" y="1420495"/>
            <a:ext cx="1315720" cy="1701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FCAN NM3.1=1</a:t>
            </a:r>
            <a:endParaRPr kumimoji="1"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688138" y="1773238"/>
            <a:ext cx="434975" cy="215900"/>
            <a:chOff x="4295800" y="2564904"/>
            <a:chExt cx="434934" cy="216024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5"/>
          <p:cNvSpPr txBox="1"/>
          <p:nvPr/>
        </p:nvSpPr>
        <p:spPr>
          <a:xfrm>
            <a:off x="7176135" y="1806575"/>
            <a:ext cx="654685" cy="1797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Wakeup</a:t>
            </a:r>
          </a:p>
        </p:txBody>
      </p:sp>
      <p:cxnSp>
        <p:nvCxnSpPr>
          <p:cNvPr id="37" name="直接箭头连接符 36"/>
          <p:cNvCxnSpPr/>
          <p:nvPr/>
        </p:nvCxnSpPr>
        <p:spPr>
          <a:xfrm flipH="1">
            <a:off x="4901565" y="2184400"/>
            <a:ext cx="17957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35"/>
          <p:cNvSpPr txBox="1"/>
          <p:nvPr/>
        </p:nvSpPr>
        <p:spPr>
          <a:xfrm>
            <a:off x="5311775" y="1917700"/>
            <a:ext cx="902970" cy="1955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Power ON</a:t>
            </a:r>
          </a:p>
        </p:txBody>
      </p:sp>
      <p:cxnSp>
        <p:nvCxnSpPr>
          <p:cNvPr id="50" name="直接箭头连接符 49"/>
          <p:cNvCxnSpPr/>
          <p:nvPr/>
        </p:nvCxnSpPr>
        <p:spPr>
          <a:xfrm flipH="1">
            <a:off x="4920615" y="2926715"/>
            <a:ext cx="1764665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35"/>
          <p:cNvSpPr txBox="1"/>
          <p:nvPr/>
        </p:nvSpPr>
        <p:spPr>
          <a:xfrm>
            <a:off x="5405755" y="2666365"/>
            <a:ext cx="902970" cy="1955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SPI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通信確立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>
            <a:off x="6710680" y="2120265"/>
            <a:ext cx="32829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35"/>
          <p:cNvSpPr txBox="1"/>
          <p:nvPr/>
        </p:nvSpPr>
        <p:spPr>
          <a:xfrm>
            <a:off x="7478078" y="1943735"/>
            <a:ext cx="1724660" cy="2012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BCAN Wakeup</a:t>
            </a:r>
          </a:p>
        </p:txBody>
      </p:sp>
      <p:cxnSp>
        <p:nvCxnSpPr>
          <p:cNvPr id="64" name="直接箭头连接符 63"/>
          <p:cNvCxnSpPr/>
          <p:nvPr/>
        </p:nvCxnSpPr>
        <p:spPr>
          <a:xfrm>
            <a:off x="6720205" y="2371090"/>
            <a:ext cx="3282950" cy="0"/>
          </a:xfrm>
          <a:prstGeom prst="straightConnector1">
            <a:avLst/>
          </a:prstGeom>
          <a:ln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35"/>
          <p:cNvSpPr txBox="1"/>
          <p:nvPr/>
        </p:nvSpPr>
        <p:spPr>
          <a:xfrm>
            <a:off x="7723823" y="2169795"/>
            <a:ext cx="12331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  <a:sym typeface="+mn-ea"/>
              </a:rPr>
              <a:t>情報送信要求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  <a:sym typeface="+mn-ea"/>
              </a:rPr>
              <a:t>=1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688138" y="2509838"/>
            <a:ext cx="434975" cy="215900"/>
            <a:chOff x="4295800" y="2564904"/>
            <a:chExt cx="434934" cy="216024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文本框 35"/>
          <p:cNvSpPr txBox="1"/>
          <p:nvPr/>
        </p:nvSpPr>
        <p:spPr>
          <a:xfrm>
            <a:off x="7176135" y="2510155"/>
            <a:ext cx="2049146" cy="216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Telema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イベントを受信・記録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4911408" y="2340293"/>
            <a:ext cx="434975" cy="215900"/>
            <a:chOff x="4295800" y="2564904"/>
            <a:chExt cx="434934" cy="216024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文本框 35"/>
          <p:cNvSpPr txBox="1"/>
          <p:nvPr/>
        </p:nvSpPr>
        <p:spPr>
          <a:xfrm>
            <a:off x="5405755" y="2350136"/>
            <a:ext cx="833410" cy="996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システム起動</a:t>
            </a:r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4911408" y="3142933"/>
            <a:ext cx="434975" cy="215900"/>
            <a:chOff x="4295800" y="2564904"/>
            <a:chExt cx="434934" cy="216024"/>
          </a:xfrm>
        </p:grpSpPr>
        <p:cxnSp>
          <p:nvCxnSpPr>
            <p:cNvPr id="83" name="直接连接符 82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文本框 35"/>
          <p:cNvSpPr txBox="1"/>
          <p:nvPr/>
        </p:nvSpPr>
        <p:spPr>
          <a:xfrm>
            <a:off x="5405755" y="3143250"/>
            <a:ext cx="654685" cy="1797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DAQ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起動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6707823" y="3430588"/>
            <a:ext cx="434975" cy="215900"/>
            <a:chOff x="4295800" y="2564904"/>
            <a:chExt cx="434934" cy="216024"/>
          </a:xfrm>
        </p:grpSpPr>
        <p:cxnSp>
          <p:nvCxnSpPr>
            <p:cNvPr id="88" name="直接连接符 87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文本框 35"/>
          <p:cNvSpPr txBox="1"/>
          <p:nvPr/>
        </p:nvSpPr>
        <p:spPr>
          <a:xfrm>
            <a:off x="7195820" y="3430906"/>
            <a:ext cx="1802448" cy="1758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5s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車両</a:t>
            </a:r>
            <a:r>
              <a:rPr kumimoji="1"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Telema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データ収集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>
            <a:off x="6703695" y="3251200"/>
            <a:ext cx="32829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35"/>
          <p:cNvSpPr txBox="1"/>
          <p:nvPr/>
        </p:nvSpPr>
        <p:spPr>
          <a:xfrm>
            <a:off x="7723823" y="3041015"/>
            <a:ext cx="1233170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  <a:sym typeface="+mn-ea"/>
              </a:rPr>
              <a:t>情報送信要求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  <a:sym typeface="+mn-ea"/>
              </a:rPr>
              <a:t>=1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94" name="直接箭头连接符 93"/>
          <p:cNvCxnSpPr/>
          <p:nvPr/>
        </p:nvCxnSpPr>
        <p:spPr>
          <a:xfrm flipH="1">
            <a:off x="4901565" y="3791585"/>
            <a:ext cx="17957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35"/>
          <p:cNvSpPr txBox="1"/>
          <p:nvPr/>
        </p:nvSpPr>
        <p:spPr>
          <a:xfrm>
            <a:off x="5311774" y="3503294"/>
            <a:ext cx="1074421" cy="1984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Telema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データ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96" name="直接箭头连接符 95"/>
          <p:cNvCxnSpPr/>
          <p:nvPr/>
        </p:nvCxnSpPr>
        <p:spPr>
          <a:xfrm>
            <a:off x="4904740" y="4035425"/>
            <a:ext cx="1777365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35"/>
          <p:cNvSpPr txBox="1"/>
          <p:nvPr/>
        </p:nvSpPr>
        <p:spPr>
          <a:xfrm>
            <a:off x="5375910" y="3839845"/>
            <a:ext cx="902970" cy="1955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ACK</a:t>
            </a:r>
          </a:p>
        </p:txBody>
      </p:sp>
      <p:sp>
        <p:nvSpPr>
          <p:cNvPr id="103" name="矩形 102"/>
          <p:cNvSpPr/>
          <p:nvPr/>
        </p:nvSpPr>
        <p:spPr>
          <a:xfrm>
            <a:off x="300355" y="5371465"/>
            <a:ext cx="4920615" cy="629285"/>
          </a:xfrm>
          <a:prstGeom prst="rect">
            <a:avLst/>
          </a:prstGeom>
          <a:solidFill>
            <a:srgbClr val="92D050">
              <a:alpha val="50000"/>
            </a:srgbClr>
          </a:solidFill>
          <a:ln w="19050">
            <a:noFill/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sp>
        <p:nvSpPr>
          <p:cNvPr id="104" name="文本框 35"/>
          <p:cNvSpPr txBox="1"/>
          <p:nvPr/>
        </p:nvSpPr>
        <p:spPr>
          <a:xfrm>
            <a:off x="391160" y="5371465"/>
            <a:ext cx="1247140" cy="3977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alt: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ネットワーク通信準備完了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105" name="直接箭头连接符 104"/>
          <p:cNvCxnSpPr/>
          <p:nvPr/>
        </p:nvCxnSpPr>
        <p:spPr>
          <a:xfrm flipH="1">
            <a:off x="1883410" y="5688965"/>
            <a:ext cx="30124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35"/>
          <p:cNvSpPr txBox="1"/>
          <p:nvPr/>
        </p:nvSpPr>
        <p:spPr>
          <a:xfrm>
            <a:off x="2061845" y="5443220"/>
            <a:ext cx="2750820" cy="1689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Telema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データアップロード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(DAQID=0003)</a:t>
            </a:r>
          </a:p>
        </p:txBody>
      </p:sp>
      <p:grpSp>
        <p:nvGrpSpPr>
          <p:cNvPr id="107" name="组合 106"/>
          <p:cNvGrpSpPr/>
          <p:nvPr/>
        </p:nvGrpSpPr>
        <p:grpSpPr>
          <a:xfrm>
            <a:off x="6707823" y="4726623"/>
            <a:ext cx="434975" cy="215900"/>
            <a:chOff x="4295800" y="2564904"/>
            <a:chExt cx="434934" cy="216024"/>
          </a:xfrm>
        </p:grpSpPr>
        <p:cxnSp>
          <p:nvCxnSpPr>
            <p:cNvPr id="108" name="直接连接符 107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文本框 35"/>
          <p:cNvSpPr txBox="1"/>
          <p:nvPr/>
        </p:nvSpPr>
        <p:spPr>
          <a:xfrm>
            <a:off x="7195820" y="4726940"/>
            <a:ext cx="1529715" cy="216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全てのウェイクアップ要求が解除済み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6685280" y="4151630"/>
            <a:ext cx="32829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35"/>
          <p:cNvSpPr txBox="1"/>
          <p:nvPr/>
        </p:nvSpPr>
        <p:spPr>
          <a:xfrm>
            <a:off x="7723823" y="3932555"/>
            <a:ext cx="1233170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  <a:sym typeface="+mn-ea"/>
              </a:rPr>
              <a:t>情報送信要求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  <a:sym typeface="+mn-ea"/>
              </a:rPr>
              <a:t>=2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sp>
        <p:nvSpPr>
          <p:cNvPr id="114" name="文本框 35"/>
          <p:cNvSpPr txBox="1"/>
          <p:nvPr/>
        </p:nvSpPr>
        <p:spPr>
          <a:xfrm>
            <a:off x="7556183" y="4207510"/>
            <a:ext cx="1568450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FCAN NM2.5=0</a:t>
            </a:r>
          </a:p>
        </p:txBody>
      </p:sp>
      <p:cxnSp>
        <p:nvCxnSpPr>
          <p:cNvPr id="115" name="直接箭头连接符 114"/>
          <p:cNvCxnSpPr/>
          <p:nvPr/>
        </p:nvCxnSpPr>
        <p:spPr>
          <a:xfrm>
            <a:off x="6685280" y="4419600"/>
            <a:ext cx="32829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 flipH="1">
            <a:off x="4933315" y="5064760"/>
            <a:ext cx="17849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35"/>
          <p:cNvSpPr txBox="1"/>
          <p:nvPr/>
        </p:nvSpPr>
        <p:spPr>
          <a:xfrm>
            <a:off x="5256530" y="4799330"/>
            <a:ext cx="1052195" cy="184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SleepPrepare</a:t>
            </a:r>
          </a:p>
        </p:txBody>
      </p:sp>
      <p:cxnSp>
        <p:nvCxnSpPr>
          <p:cNvPr id="118" name="直接箭头连接符 117"/>
          <p:cNvCxnSpPr/>
          <p:nvPr/>
        </p:nvCxnSpPr>
        <p:spPr>
          <a:xfrm>
            <a:off x="4916805" y="6041390"/>
            <a:ext cx="17678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35"/>
          <p:cNvSpPr txBox="1"/>
          <p:nvPr/>
        </p:nvSpPr>
        <p:spPr>
          <a:xfrm>
            <a:off x="5256530" y="5805170"/>
            <a:ext cx="1052195" cy="184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Service Off</a:t>
            </a:r>
          </a:p>
        </p:txBody>
      </p:sp>
      <p:cxnSp>
        <p:nvCxnSpPr>
          <p:cNvPr id="120" name="直接箭头连接符 119"/>
          <p:cNvCxnSpPr/>
          <p:nvPr/>
        </p:nvCxnSpPr>
        <p:spPr>
          <a:xfrm flipH="1">
            <a:off x="4935220" y="6309360"/>
            <a:ext cx="17849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35"/>
          <p:cNvSpPr txBox="1"/>
          <p:nvPr/>
        </p:nvSpPr>
        <p:spPr>
          <a:xfrm>
            <a:off x="5149850" y="6093460"/>
            <a:ext cx="1400175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5G_DTR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休眠通知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4900613" y="6472238"/>
            <a:ext cx="434975" cy="215900"/>
            <a:chOff x="4295800" y="2564904"/>
            <a:chExt cx="434934" cy="216024"/>
          </a:xfrm>
        </p:grpSpPr>
        <p:cxnSp>
          <p:nvCxnSpPr>
            <p:cNvPr id="123" name="直接连接符 122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文本框 35"/>
          <p:cNvSpPr txBox="1"/>
          <p:nvPr/>
        </p:nvSpPr>
        <p:spPr>
          <a:xfrm>
            <a:off x="5343525" y="6470650"/>
            <a:ext cx="1206500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STR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モードに入る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127" name="直接箭头连接符 126"/>
          <p:cNvCxnSpPr/>
          <p:nvPr/>
        </p:nvCxnSpPr>
        <p:spPr>
          <a:xfrm>
            <a:off x="4907280" y="6955155"/>
            <a:ext cx="17678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本框 35"/>
          <p:cNvSpPr txBox="1"/>
          <p:nvPr/>
        </p:nvSpPr>
        <p:spPr>
          <a:xfrm>
            <a:off x="4973320" y="6718300"/>
            <a:ext cx="1586865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5G_Sleep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休眠済み通知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4920615" y="7243445"/>
            <a:ext cx="17957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本框 35"/>
          <p:cNvSpPr txBox="1"/>
          <p:nvPr/>
        </p:nvSpPr>
        <p:spPr>
          <a:xfrm>
            <a:off x="5330825" y="7029450"/>
            <a:ext cx="902970" cy="1955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Power Off</a:t>
            </a:r>
          </a:p>
        </p:txBody>
      </p:sp>
      <p:grpSp>
        <p:nvGrpSpPr>
          <p:cNvPr id="131" name="组合 130"/>
          <p:cNvGrpSpPr/>
          <p:nvPr/>
        </p:nvGrpSpPr>
        <p:grpSpPr>
          <a:xfrm>
            <a:off x="6707823" y="7315518"/>
            <a:ext cx="434975" cy="215900"/>
            <a:chOff x="4295800" y="2564904"/>
            <a:chExt cx="434934" cy="216024"/>
          </a:xfrm>
        </p:grpSpPr>
        <p:cxnSp>
          <p:nvCxnSpPr>
            <p:cNvPr id="132" name="直接连接符 131"/>
            <p:cNvCxnSpPr/>
            <p:nvPr/>
          </p:nvCxnSpPr>
          <p:spPr>
            <a:xfrm>
              <a:off x="4295800" y="2564904"/>
              <a:ext cx="43204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4298686" y="2780928"/>
              <a:ext cx="43204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>
              <a:off x="4727848" y="2564904"/>
              <a:ext cx="0" cy="21602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文本框 35"/>
          <p:cNvSpPr txBox="1"/>
          <p:nvPr/>
        </p:nvSpPr>
        <p:spPr>
          <a:xfrm>
            <a:off x="7195820" y="7315835"/>
            <a:ext cx="1808480" cy="216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Sleep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，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OFF Mode</a:t>
            </a:r>
            <a:r>
              <a:rPr kumimoji="1"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に入る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136" name="直接箭头连接符 135"/>
          <p:cNvCxnSpPr/>
          <p:nvPr/>
        </p:nvCxnSpPr>
        <p:spPr>
          <a:xfrm>
            <a:off x="6671945" y="4653280"/>
            <a:ext cx="32829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本框 35"/>
          <p:cNvSpPr txBox="1"/>
          <p:nvPr/>
        </p:nvSpPr>
        <p:spPr>
          <a:xfrm>
            <a:off x="7478078" y="4450080"/>
            <a:ext cx="1724660" cy="2012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STHeiti Light" charset="-122"/>
              </a:rPr>
              <a:t>BCAN Sleep</a:t>
            </a:r>
          </a:p>
        </p:txBody>
      </p:sp>
      <p:sp>
        <p:nvSpPr>
          <p:cNvPr id="141" name="七边形 140"/>
          <p:cNvSpPr/>
          <p:nvPr/>
        </p:nvSpPr>
        <p:spPr>
          <a:xfrm>
            <a:off x="4685665" y="3698875"/>
            <a:ext cx="287655" cy="287655"/>
          </a:xfrm>
          <a:prstGeom prst="heptagon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00" b="1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1</a:t>
            </a:r>
          </a:p>
        </p:txBody>
      </p:sp>
      <p:sp>
        <p:nvSpPr>
          <p:cNvPr id="144" name="七边形 143"/>
          <p:cNvSpPr/>
          <p:nvPr/>
        </p:nvSpPr>
        <p:spPr>
          <a:xfrm>
            <a:off x="4727575" y="5820410"/>
            <a:ext cx="287655" cy="287655"/>
          </a:xfrm>
          <a:prstGeom prst="heptagon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00" b="1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2</a:t>
            </a:r>
          </a:p>
        </p:txBody>
      </p:sp>
      <p:sp>
        <p:nvSpPr>
          <p:cNvPr id="12" name="线形标注 1 11"/>
          <p:cNvSpPr/>
          <p:nvPr/>
        </p:nvSpPr>
        <p:spPr>
          <a:xfrm>
            <a:off x="2711450" y="2984500"/>
            <a:ext cx="1815465" cy="737235"/>
          </a:xfrm>
          <a:prstGeom prst="borderCallout1">
            <a:avLst>
              <a:gd name="adj1" fmla="val 62183"/>
              <a:gd name="adj2" fmla="val 103490"/>
              <a:gd name="adj3" fmla="val 105257"/>
              <a:gd name="adj4" fmla="val 115456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【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対策処理</a:t>
            </a:r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1</a:t>
            </a:r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】</a:t>
            </a:r>
          </a:p>
          <a:p>
            <a:pPr lvl="0" algn="l">
              <a:buClrTx/>
              <a:buSzTx/>
              <a:buFontTx/>
            </a:pPr>
            <a:r>
              <a:rPr kumimoji="1" lang="en-US" altLang="zh-CN" sz="1200" dirty="0" err="1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Telema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データ</a:t>
            </a:r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受信時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に、</a:t>
            </a:r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DAQ </a:t>
            </a:r>
            <a:r>
              <a:rPr kumimoji="1" lang="en-US" altLang="zh-CN" sz="1200" dirty="0" err="1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ServiceOn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を</a:t>
            </a:r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設定</a:t>
            </a:r>
            <a:endParaRPr kumimoji="1" lang="en-US" altLang="zh-CN" sz="12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sp>
        <p:nvSpPr>
          <p:cNvPr id="18" name="线形标注 1 17"/>
          <p:cNvSpPr/>
          <p:nvPr/>
        </p:nvSpPr>
        <p:spPr>
          <a:xfrm>
            <a:off x="2711450" y="4207510"/>
            <a:ext cx="1816100" cy="913765"/>
          </a:xfrm>
          <a:prstGeom prst="borderCallout1">
            <a:avLst>
              <a:gd name="adj1" fmla="val 136423"/>
              <a:gd name="adj2" fmla="val -16293"/>
              <a:gd name="adj3" fmla="val 82937"/>
              <a:gd name="adj4" fmla="val -7165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【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対策処理</a:t>
            </a:r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2</a:t>
            </a:r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】</a:t>
            </a:r>
          </a:p>
          <a:p>
            <a:pPr lvl="0" algn="l">
              <a:buClrTx/>
              <a:buSzTx/>
              <a:buFontTx/>
            </a:pPr>
            <a:r>
              <a:rPr kumimoji="1"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Telema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データのアップロード完了後、または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1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分間のタイムアウト発生時に、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DAQ </a:t>
            </a:r>
            <a:r>
              <a:rPr kumimoji="1"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ServiceOff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を設定</a:t>
            </a:r>
            <a:endParaRPr kumimoji="1" lang="en-US" altLang="zh-CN" sz="12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sp>
        <p:nvSpPr>
          <p:cNvPr id="19" name="线形标注 1 18"/>
          <p:cNvSpPr/>
          <p:nvPr/>
        </p:nvSpPr>
        <p:spPr>
          <a:xfrm>
            <a:off x="2529205" y="6108065"/>
            <a:ext cx="1816100" cy="721360"/>
          </a:xfrm>
          <a:prstGeom prst="borderCallout1">
            <a:avLst>
              <a:gd name="adj1" fmla="val -5581"/>
              <a:gd name="adj2" fmla="val 117202"/>
              <a:gd name="adj3" fmla="val 37653"/>
              <a:gd name="adj4" fmla="val 110664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DAQ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が</a:t>
            </a:r>
            <a:r>
              <a:rPr kumimoji="1"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ServiceOff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状態になってから、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5G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モジュールは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MCU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へ</a:t>
            </a:r>
            <a:r>
              <a:rPr kumimoji="1"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ServiceOff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通知を送信</a:t>
            </a: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8534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2"/>
          <p:cNvSpPr txBox="1"/>
          <p:nvPr/>
        </p:nvSpPr>
        <p:spPr>
          <a:xfrm>
            <a:off x="674264" y="146834"/>
            <a:ext cx="11521280" cy="3445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　　　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　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車両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IG OFF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のまま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充電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ガン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勘合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しても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GTC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へアップロードできない</a:t>
            </a:r>
          </a:p>
        </p:txBody>
      </p:sp>
      <p:sp>
        <p:nvSpPr>
          <p:cNvPr id="10" name="四角形: 角を丸くする 36"/>
          <p:cNvSpPr/>
          <p:nvPr/>
        </p:nvSpPr>
        <p:spPr bwMode="gray">
          <a:xfrm>
            <a:off x="316310" y="119058"/>
            <a:ext cx="1440160" cy="400110"/>
          </a:xfrm>
          <a:prstGeom prst="roundRect">
            <a:avLst/>
          </a:prstGeom>
          <a:solidFill>
            <a:schemeClr val="bg1"/>
          </a:solidFill>
          <a:ln w="19050">
            <a:noFill/>
            <a:miter lim="800000"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ja-JP" altLang="en-US" sz="2400" b="1" dirty="0">
                <a:solidFill>
                  <a:srgbClr val="0376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上海畅星</a:t>
            </a:r>
          </a:p>
        </p:txBody>
      </p:sp>
      <p:sp>
        <p:nvSpPr>
          <p:cNvPr id="57" name="正方形/長方形 68"/>
          <p:cNvSpPr/>
          <p:nvPr/>
        </p:nvSpPr>
        <p:spPr bwMode="gray">
          <a:xfrm>
            <a:off x="119337" y="801442"/>
            <a:ext cx="1000516" cy="576163"/>
          </a:xfrm>
          <a:prstGeom prst="rect">
            <a:avLst/>
          </a:prstGeom>
          <a:solidFill>
            <a:srgbClr val="0376C6"/>
          </a:solidFill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POINT</a:t>
            </a:r>
            <a:endParaRPr kumimoji="1" lang="ja-JP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8" name="正方形/長方形 69"/>
          <p:cNvSpPr/>
          <p:nvPr/>
        </p:nvSpPr>
        <p:spPr bwMode="gray">
          <a:xfrm>
            <a:off x="1119851" y="801442"/>
            <a:ext cx="10952811" cy="576163"/>
          </a:xfrm>
          <a:prstGeom prst="rect">
            <a:avLst/>
          </a:prstGeom>
          <a:noFill/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lvl="0" algn="l">
              <a:buClrTx/>
              <a:buSzTx/>
              <a:buFontTx/>
            </a:pPr>
            <a:r>
              <a: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7/11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の正常アップロードログ分析によると、</a:t>
            </a:r>
            <a:r>
              <a:rPr kumimoji="1" lang="en-US" altLang="ja-JP" sz="1600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Telema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データのアップロード開始から</a:t>
            </a:r>
            <a:r>
              <a: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TSU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休眠開始までの間隔は</a:t>
            </a:r>
            <a:r>
              <a: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4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秒で、データは正常に送信</a:t>
            </a:r>
            <a:endParaRPr kumimoji="1" lang="en-US" altLang="ja-JP" sz="160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されていた。ネットワーク遅延が発生した場合、</a:t>
            </a:r>
            <a:r>
              <a:rPr kumimoji="1" lang="en-US" altLang="ja-JP" sz="1600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Telema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データのアップロードが完了する前に</a:t>
            </a:r>
            <a:r>
              <a: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TSU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が</a:t>
            </a:r>
            <a:r>
              <a: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STR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sym typeface="+mn-ea"/>
              </a:rPr>
              <a:t>休眠状態に入る可能性がある。</a:t>
            </a:r>
            <a:endParaRPr kumimoji="1" lang="zh-CN" altLang="en-US" sz="160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Meiryo UI" panose="020B0604030504040204" pitchFamily="50" charset="-128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81" name="Rectangle: Rounded Corners 80"/>
          <p:cNvSpPr/>
          <p:nvPr/>
        </p:nvSpPr>
        <p:spPr bwMode="gray">
          <a:xfrm>
            <a:off x="10334377" y="44942"/>
            <a:ext cx="1819250" cy="473854"/>
          </a:xfrm>
          <a:prstGeom prst="round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7/15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追加</a:t>
            </a:r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380365" y="3242310"/>
            <a:ext cx="11233150" cy="0"/>
          </a:xfrm>
          <a:prstGeom prst="line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1199515" y="3129280"/>
            <a:ext cx="226060" cy="226060"/>
          </a:xfrm>
          <a:prstGeom prst="ellipse">
            <a:avLst/>
          </a:prstGeom>
          <a:solidFill>
            <a:schemeClr val="bg1">
              <a:lumMod val="50000"/>
            </a:schemeClr>
          </a:solidFill>
          <a:ln w="19050">
            <a:noFill/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712085" y="3129280"/>
            <a:ext cx="226060" cy="226060"/>
          </a:xfrm>
          <a:prstGeom prst="ellipse">
            <a:avLst/>
          </a:prstGeom>
          <a:solidFill>
            <a:srgbClr val="FFC000"/>
          </a:solidFill>
          <a:ln w="19050">
            <a:noFill/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12545" y="3355340"/>
            <a:ext cx="0" cy="94615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39470" y="4303395"/>
            <a:ext cx="1110616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充電ガンを挿入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STHeiti Light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825115" y="3357245"/>
            <a:ext cx="0" cy="94615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07895" y="4303395"/>
            <a:ext cx="123698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5G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ログ記録開始</a:t>
            </a: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07895" y="2509520"/>
            <a:ext cx="1236980" cy="4152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kumimoji="1" 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7/11</a:t>
            </a:r>
          </a:p>
          <a:p>
            <a:pPr algn="ctr"/>
            <a:r>
              <a:rPr kumimoji="1" 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1:46:25</a:t>
            </a:r>
          </a:p>
        </p:txBody>
      </p:sp>
      <p:sp>
        <p:nvSpPr>
          <p:cNvPr id="16" name="椭圆 15"/>
          <p:cNvSpPr/>
          <p:nvPr/>
        </p:nvSpPr>
        <p:spPr>
          <a:xfrm>
            <a:off x="4512310" y="3129280"/>
            <a:ext cx="226060" cy="226060"/>
          </a:xfrm>
          <a:prstGeom prst="ellipse">
            <a:avLst/>
          </a:prstGeom>
          <a:solidFill>
            <a:srgbClr val="FFC000"/>
          </a:solidFill>
          <a:ln w="19050">
            <a:noFill/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006850" y="2509520"/>
            <a:ext cx="1236980" cy="4152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endParaRPr kumimoji="1" lang="en-US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ctr"/>
            <a:r>
              <a:rPr kumimoji="1" 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1:46:33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4625340" y="3355340"/>
            <a:ext cx="0" cy="94615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152265" y="4303395"/>
            <a:ext cx="873125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ダイヤルアップ</a:t>
            </a: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160010" y="3129280"/>
            <a:ext cx="226060" cy="226060"/>
          </a:xfrm>
          <a:prstGeom prst="ellipse">
            <a:avLst/>
          </a:prstGeom>
          <a:solidFill>
            <a:srgbClr val="FFC000"/>
          </a:solidFill>
          <a:ln w="19050">
            <a:noFill/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799330" y="2509520"/>
            <a:ext cx="1236980" cy="4152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endParaRPr kumimoji="1" lang="en-US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ctr"/>
            <a:r>
              <a:rPr kumimoji="1" 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1:46:34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5268595" y="3357245"/>
            <a:ext cx="0" cy="147600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799965" y="4869815"/>
            <a:ext cx="873125" cy="774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MCU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から</a:t>
            </a:r>
            <a:r>
              <a:rPr kumimoji="1"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Telema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データを受信</a:t>
            </a:r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（</a:t>
            </a:r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SPI</a:t>
            </a:r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）</a:t>
            </a:r>
          </a:p>
        </p:txBody>
      </p:sp>
      <p:sp>
        <p:nvSpPr>
          <p:cNvPr id="24" name="椭圆 23"/>
          <p:cNvSpPr/>
          <p:nvPr/>
        </p:nvSpPr>
        <p:spPr>
          <a:xfrm>
            <a:off x="5386070" y="3129280"/>
            <a:ext cx="226060" cy="226060"/>
          </a:xfrm>
          <a:prstGeom prst="ellipse">
            <a:avLst/>
          </a:prstGeom>
          <a:solidFill>
            <a:srgbClr val="FFC000"/>
          </a:solidFill>
          <a:ln w="19050">
            <a:noFill/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5500370" y="3345180"/>
            <a:ext cx="0" cy="94615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160010" y="4303395"/>
            <a:ext cx="101727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アップロード開始</a:t>
            </a: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5256530" y="3673475"/>
            <a:ext cx="24765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线形标注 1 27"/>
          <p:cNvSpPr/>
          <p:nvPr/>
        </p:nvSpPr>
        <p:spPr>
          <a:xfrm>
            <a:off x="4528820" y="3500755"/>
            <a:ext cx="508000" cy="226060"/>
          </a:xfrm>
          <a:prstGeom prst="borderCallout1">
            <a:avLst>
              <a:gd name="adj1" fmla="val 28035"/>
              <a:gd name="adj2" fmla="val 123620"/>
              <a:gd name="adj3" fmla="val 66445"/>
              <a:gd name="adj4" fmla="val 161147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100ms</a:t>
            </a:r>
          </a:p>
        </p:txBody>
      </p:sp>
      <p:sp>
        <p:nvSpPr>
          <p:cNvPr id="29" name="椭圆 28"/>
          <p:cNvSpPr/>
          <p:nvPr/>
        </p:nvSpPr>
        <p:spPr>
          <a:xfrm>
            <a:off x="6744335" y="3129280"/>
            <a:ext cx="226060" cy="226060"/>
          </a:xfrm>
          <a:prstGeom prst="ellipse">
            <a:avLst/>
          </a:prstGeom>
          <a:solidFill>
            <a:srgbClr val="FFC000"/>
          </a:solidFill>
          <a:ln w="19050">
            <a:noFill/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238875" y="2509520"/>
            <a:ext cx="1236980" cy="4152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endParaRPr kumimoji="1" lang="en-US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ctr"/>
            <a:r>
              <a:rPr kumimoji="1" 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1:46:38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6857365" y="3357245"/>
            <a:ext cx="0" cy="151200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238240" y="4877435"/>
            <a:ext cx="1238250" cy="8058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MCU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の全ウェイクアップソース信号が切断され、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5G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に休眠を通知</a:t>
            </a:r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（</a:t>
            </a:r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SleepPrepare)</a:t>
            </a:r>
          </a:p>
        </p:txBody>
      </p:sp>
      <p:sp>
        <p:nvSpPr>
          <p:cNvPr id="33" name="线形标注 1 32"/>
          <p:cNvSpPr/>
          <p:nvPr/>
        </p:nvSpPr>
        <p:spPr>
          <a:xfrm>
            <a:off x="6024245" y="5947410"/>
            <a:ext cx="1784350" cy="763755"/>
          </a:xfrm>
          <a:prstGeom prst="borderCallout1">
            <a:avLst>
              <a:gd name="adj1" fmla="val -10428"/>
              <a:gd name="adj2" fmla="val 10872"/>
              <a:gd name="adj3" fmla="val -45801"/>
              <a:gd name="adj4" fmla="val 24601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今回オフモードに入るため、</a:t>
            </a:r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5G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に通知し、</a:t>
            </a:r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MQTT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経由でプラットフォームに</a:t>
            </a:r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Deep Sleep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状態への移行を通知する</a:t>
            </a:r>
            <a:endParaRPr kumimoji="1" lang="zh-CN" altLang="en-US" sz="10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kumimoji="1" lang="en-US" altLang="zh-CN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SPI 0x2d data[0] = 0x01</a:t>
            </a:r>
            <a:endParaRPr kumimoji="1" lang="zh-CN" altLang="en-US" sz="1000" dirty="0">
              <a:latin typeface="Meiryo UI" panose="020B0604030504040204" pitchFamily="50" charset="-128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4" name="线形标注 1 33"/>
          <p:cNvSpPr/>
          <p:nvPr/>
        </p:nvSpPr>
        <p:spPr>
          <a:xfrm>
            <a:off x="7680325" y="5516880"/>
            <a:ext cx="1713865" cy="312420"/>
          </a:xfrm>
          <a:prstGeom prst="borderCallout1">
            <a:avLst>
              <a:gd name="adj1" fmla="val 31707"/>
              <a:gd name="adj2" fmla="val -5113"/>
              <a:gd name="adj3" fmla="val 6300"/>
              <a:gd name="adj4" fmla="val -11485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kumimoji="1" lang="en-US" altLang="zh-CN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SPI </a:t>
            </a:r>
            <a:r>
              <a:rPr kumimoji="1" lang="en-US" altLang="zh-CN" sz="1000" dirty="0">
                <a:latin typeface="Meiryo UI" panose="020B0604030504040204" pitchFamily="50" charset="-128"/>
                <a:ea typeface="宋体" panose="02010600030101010101" pitchFamily="2" charset="-122"/>
                <a:sym typeface="+mn-ea"/>
              </a:rPr>
              <a:t> 0x61 data[8]=0x00</a:t>
            </a:r>
          </a:p>
        </p:txBody>
      </p:sp>
      <p:sp>
        <p:nvSpPr>
          <p:cNvPr id="35" name="椭圆 34"/>
          <p:cNvSpPr/>
          <p:nvPr/>
        </p:nvSpPr>
        <p:spPr>
          <a:xfrm>
            <a:off x="8400415" y="3129280"/>
            <a:ext cx="226060" cy="226060"/>
          </a:xfrm>
          <a:prstGeom prst="ellipse">
            <a:avLst/>
          </a:prstGeom>
          <a:solidFill>
            <a:srgbClr val="FFC000"/>
          </a:solidFill>
          <a:ln w="19050">
            <a:noFill/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894955" y="2509520"/>
            <a:ext cx="1236980" cy="4152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endParaRPr kumimoji="1" lang="en-US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ctr"/>
            <a:r>
              <a:rPr kumimoji="1" 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1:46:41</a:t>
            </a:r>
          </a:p>
        </p:txBody>
      </p:sp>
      <p:cxnSp>
        <p:nvCxnSpPr>
          <p:cNvPr id="37" name="直接连接符 36"/>
          <p:cNvCxnSpPr/>
          <p:nvPr/>
        </p:nvCxnSpPr>
        <p:spPr>
          <a:xfrm>
            <a:off x="8513445" y="3335020"/>
            <a:ext cx="0" cy="94615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7899400" y="4303394"/>
            <a:ext cx="1165860" cy="3886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GTC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が</a:t>
            </a:r>
            <a:r>
              <a:rPr kumimoji="1" lang="en-US" altLang="zh-CN" sz="1200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Telema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データを受信</a:t>
            </a: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5494655" y="3933190"/>
            <a:ext cx="1355725" cy="0"/>
          </a:xfrm>
          <a:prstGeom prst="straightConnector1">
            <a:avLst/>
          </a:prstGeom>
          <a:ln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线形标注 1 39"/>
          <p:cNvSpPr/>
          <p:nvPr/>
        </p:nvSpPr>
        <p:spPr>
          <a:xfrm>
            <a:off x="5735955" y="1875790"/>
            <a:ext cx="2750820" cy="617220"/>
          </a:xfrm>
          <a:prstGeom prst="borderCallout1">
            <a:avLst>
              <a:gd name="adj1" fmla="val 122560"/>
              <a:gd name="adj2" fmla="val 26231"/>
              <a:gd name="adj3" fmla="val 338286"/>
              <a:gd name="adj4" fmla="val -1477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アップロードからシャットダウン開始まで</a:t>
            </a:r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4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秒間あり、正常にアップロードされる。ネットワークに異常があるとアップロードが遅れ、</a:t>
            </a:r>
            <a:r>
              <a:rPr kumimoji="1" lang="en-US" altLang="ja-JP" sz="1000" dirty="0" err="1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Telema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データがアップロードされないうちに</a:t>
            </a:r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TSU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が</a:t>
            </a:r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STR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モードに入る可能性がある。</a:t>
            </a:r>
            <a:endParaRPr kumimoji="1" lang="zh-CN" altLang="en-US" sz="10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6949440" y="3129280"/>
            <a:ext cx="226060" cy="226060"/>
          </a:xfrm>
          <a:prstGeom prst="ellipse">
            <a:avLst/>
          </a:prstGeom>
          <a:solidFill>
            <a:srgbClr val="FFC000"/>
          </a:solidFill>
          <a:ln w="19050">
            <a:noFill/>
            <a:miter lim="800000"/>
          </a:ln>
        </p:spPr>
        <p:txBody>
          <a:bodyPr wrap="non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7052310" y="3357245"/>
            <a:ext cx="0" cy="94615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6672579" y="4305300"/>
            <a:ext cx="1007745" cy="3886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DAQ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最終ログ</a:t>
            </a:r>
            <a:endParaRPr kumimoji="1"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2"/>
          <p:cNvSpPr txBox="1"/>
          <p:nvPr/>
        </p:nvSpPr>
        <p:spPr>
          <a:xfrm>
            <a:off x="674264" y="146834"/>
            <a:ext cx="11521280" cy="3445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　　　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　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車両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IG OFF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のまま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充電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ガン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勘合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しても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GTC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へアップロードできない</a:t>
            </a:r>
          </a:p>
        </p:txBody>
      </p:sp>
      <p:sp>
        <p:nvSpPr>
          <p:cNvPr id="10" name="四角形: 角を丸くする 36"/>
          <p:cNvSpPr/>
          <p:nvPr/>
        </p:nvSpPr>
        <p:spPr bwMode="gray">
          <a:xfrm>
            <a:off x="316310" y="119058"/>
            <a:ext cx="1440160" cy="400110"/>
          </a:xfrm>
          <a:prstGeom prst="roundRect">
            <a:avLst/>
          </a:prstGeom>
          <a:solidFill>
            <a:schemeClr val="bg1"/>
          </a:solidFill>
          <a:ln w="19050">
            <a:noFill/>
            <a:miter lim="800000"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ja-JP" altLang="en-US" sz="2400" b="1" dirty="0">
                <a:solidFill>
                  <a:srgbClr val="0376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上海畅星</a:t>
            </a:r>
          </a:p>
        </p:txBody>
      </p:sp>
      <p:sp>
        <p:nvSpPr>
          <p:cNvPr id="57" name="正方形/長方形 68"/>
          <p:cNvSpPr/>
          <p:nvPr/>
        </p:nvSpPr>
        <p:spPr bwMode="gray">
          <a:xfrm>
            <a:off x="119337" y="801442"/>
            <a:ext cx="1000516" cy="576163"/>
          </a:xfrm>
          <a:prstGeom prst="rect">
            <a:avLst/>
          </a:prstGeom>
          <a:solidFill>
            <a:srgbClr val="0376C6"/>
          </a:solidFill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POINT</a:t>
            </a:r>
            <a:endParaRPr kumimoji="1" lang="ja-JP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8" name="正方形/長方形 69"/>
          <p:cNvSpPr/>
          <p:nvPr/>
        </p:nvSpPr>
        <p:spPr bwMode="gray">
          <a:xfrm>
            <a:off x="1119852" y="801442"/>
            <a:ext cx="10493589" cy="576163"/>
          </a:xfrm>
          <a:prstGeom prst="rect">
            <a:avLst/>
          </a:prstGeom>
          <a:noFill/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lvl="0" algn="l">
              <a:buClrTx/>
              <a:buSzTx/>
              <a:buFontTx/>
            </a:pPr>
            <a:r>
              <a: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7/11 OFF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モード復帰後の</a:t>
            </a:r>
            <a:r>
              <a:rPr kumimoji="1" lang="en-US" altLang="ja-JP" sz="1600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Telema</a:t>
            </a:r>
            <a:r>
              <a:rPr kumimoji="1" lang="ja-JP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+mn-ea"/>
              </a:rPr>
              <a:t>データ正常アップロードに関するログ分析結果</a:t>
            </a:r>
            <a:endParaRPr kumimoji="1" lang="zh-CN" altLang="en-US" sz="160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  <a:sym typeface="+mn-ea"/>
            </a:endParaRPr>
          </a:p>
        </p:txBody>
      </p:sp>
      <p:sp>
        <p:nvSpPr>
          <p:cNvPr id="81" name="Rectangle: Rounded Corners 80"/>
          <p:cNvSpPr/>
          <p:nvPr/>
        </p:nvSpPr>
        <p:spPr bwMode="gray">
          <a:xfrm>
            <a:off x="10334377" y="44942"/>
            <a:ext cx="1819250" cy="473854"/>
          </a:xfrm>
          <a:prstGeom prst="round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7/15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追加</a:t>
            </a:r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1770" y="1628775"/>
            <a:ext cx="11206480" cy="4801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2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systemctl:</a:t>
            </a:r>
          </a:p>
          <a:p>
            <a:pPr algn="l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2025-07-11 01:46:25.683,pid:3238-tid:3238,D,msg:[ module:sal_shell/func:sal_shell_exec:059 ] ifconfig eth0 192.168.0.4</a:t>
            </a:r>
          </a:p>
          <a:p>
            <a:pPr algn="l"/>
            <a:endParaRPr kumimoji="1" lang="en-US" altLang="zh-CN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l"/>
            <a:r>
              <a:rPr kumimoji="1" lang="en-US" altLang="zh-CN" sz="1200" b="1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systemctl</a:t>
            </a:r>
            <a:r>
              <a:rPr kumimoji="1" lang="en-US" altLang="zh-CN" sz="12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</a:t>
            </a:r>
            <a:r>
              <a:rPr kumimoji="1" lang="en-US" altLang="zh-CN" sz="1200" b="1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daq</a:t>
            </a:r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を起動</a:t>
            </a:r>
            <a:endParaRPr kumimoji="1" lang="en-US" altLang="zh-CN" sz="1200" b="1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l"/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行</a:t>
            </a:r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 84: 2025-07-11 01:46:27.482,pid:3238-tid:3339,D,msg:[ module:process_entry/func:process_entry_execl:054 ] Create new process daq pid 3438 </a:t>
            </a:r>
          </a:p>
          <a:p>
            <a:pPr algn="l"/>
            <a:endParaRPr kumimoji="1" lang="en-US" altLang="zh-CN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l"/>
            <a:r>
              <a:rPr kumimoji="1" lang="en-US" altLang="zh-CN" sz="12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daq log</a:t>
            </a:r>
            <a:r>
              <a:rPr kumimoji="1" lang="zh-CN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：</a:t>
            </a:r>
          </a:p>
          <a:p>
            <a:pPr algn="l"/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行</a:t>
            </a:r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 394: 2025-07-11 01:46:30.422,pid:3531-tid:3550,I,msg:[ module:ig_event/func:ig_on_event:104 ] ig_on_event time: 1752198390</a:t>
            </a:r>
          </a:p>
          <a:p>
            <a:pPr algn="l"/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行</a:t>
            </a:r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 517: 2025-07-11 01:46:30.824,pid:3531-tid:3544,I,msg:[ module:ig_event/func:ig_off_event:178 ] ig_off_event time: 1752198390</a:t>
            </a:r>
          </a:p>
          <a:p>
            <a:pPr algn="l"/>
            <a:endParaRPr kumimoji="1" lang="en-US" altLang="zh-CN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l"/>
            <a:r>
              <a:rPr kumimoji="1" lang="en-US" altLang="zh-CN" sz="1200" b="1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Daq</a:t>
            </a:r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が</a:t>
            </a:r>
            <a:r>
              <a:rPr kumimoji="1" lang="en-US" altLang="zh-CN" sz="1200" b="1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telema</a:t>
            </a:r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イベントを検知</a:t>
            </a:r>
            <a:endParaRPr kumimoji="1"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l"/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行</a:t>
            </a:r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1707: 2025-07-11 01:46:34.179,pid:3531-tid:3767,I,msg:[ module:diag_ctrl_telema/func:save_telema_data:1468 ] mtEV_tma---------ENTRY_pre-----&gt;&gt;</a:t>
            </a:r>
          </a:p>
          <a:p>
            <a:pPr algn="l"/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行</a:t>
            </a:r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2064: 2025-07-11 01:46:34.283,pid:3531-tid:3774,I,msg:[ module:daq_file_zip/func:gzfilewrite:111 ] gzfilewrite filename /usrdata/sqlite/upload/000003_1691_257_20250711014634.json.gz data_size 3129</a:t>
            </a:r>
          </a:p>
          <a:p>
            <a:pPr algn="l"/>
            <a:endParaRPr kumimoji="1" lang="en-US" altLang="zh-CN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l"/>
            <a:r>
              <a:rPr kumimoji="1" lang="en-US" altLang="zh-CN" sz="1200" b="1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daq</a:t>
            </a:r>
            <a:r>
              <a:rPr kumimoji="1" lang="en-US" altLang="ja-JP" sz="1200" b="1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DAQ</a:t>
            </a:r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データパッケージング及びアップロード</a:t>
            </a:r>
            <a:endParaRPr kumimoji="1"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l"/>
            <a:r>
              <a:rPr kumimoji="1"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行</a:t>
            </a:r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2073: 2025-07-11 01:46:34.290,pid:3531-tid:3545,I,msg:[ module:daq_file_upload/func:upload_file:640 ] upload_file num 1, /usrdata/sqlite/upload/000003_1691_257_20250711014634.json.gz.</a:t>
            </a:r>
          </a:p>
          <a:p>
            <a:pPr algn="l"/>
            <a:endParaRPr kumimoji="1" lang="en-US" altLang="zh-CN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l"/>
            <a:r>
              <a:rPr kumimoji="1" lang="en-US" altLang="zh-CN" sz="1200" b="1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Daq</a:t>
            </a:r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が</a:t>
            </a:r>
            <a:r>
              <a:rPr kumimoji="1" lang="en-US" altLang="zh-CN" sz="1200" b="1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ig</a:t>
            </a:r>
            <a:r>
              <a:rPr kumimoji="1" lang="en-US" altLang="zh-CN" sz="12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off mode</a:t>
            </a:r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のメッセージを検知</a:t>
            </a:r>
            <a:endParaRPr kumimoji="1" lang="zh-CN" altLang="en-US" sz="1200" b="1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l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2025-07-11 01:46:38.682,pid:3531-tid:3767,I,msg:[ module:daq_mcu_comm/func:mcu_offmode_data_proc:098 ] mcu_offmode_data_proc, len 1</a:t>
            </a:r>
          </a:p>
          <a:p>
            <a:pPr algn="l"/>
            <a:endParaRPr kumimoji="1" lang="en-US" altLang="zh-CN" sz="12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l"/>
            <a:r>
              <a:rPr kumimoji="1" lang="en-US" altLang="zh-CN" sz="1200" b="1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Daq</a:t>
            </a:r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ログ最終行</a:t>
            </a:r>
            <a:endParaRPr kumimoji="1" lang="zh-CN" altLang="en-US" sz="1200" b="1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l"/>
            <a:r>
              <a:rPr kumimoji="1"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2025-07-11 01:46:38.682,pid:3531-tid:3764,I,msg:[ module:daq_event/func:reg_event:071 ] event register event_idx 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d8d92df-de69-453f-93c0-1eaccdc4d379"/>
  <p:tag name="COMMONDATA" val="eyJoZGlkIjoiZDZkMjBkMjc5MTY0NjU0NzBmNTExNmUzMTcxZjFjOT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miter lim="800000"/>
        </a:ln>
      </a:spPr>
      <a:bodyPr wrap="none" rtlCol="0" anchor="ctr">
        <a:noAutofit/>
      </a:bodyPr>
      <a:lstStyle>
        <a:defPPr lvl="0" algn="ctr">
          <a:buClrTx/>
          <a:buSzTx/>
          <a:buFontTx/>
          <a:defRPr kumimoji="1" lang="zh-CN" altLang="en-US" sz="1200" dirty="0" smtClean="0">
            <a:latin typeface="Meiryo UI" panose="020B0604030504040204" pitchFamily="50" charset="-128"/>
            <a:ea typeface="Meiryo UI" panose="020B0604030504040204" pitchFamily="50" charset="-128"/>
            <a:sym typeface="+mn-ea"/>
          </a:defRPr>
        </a:defPPr>
      </a:lstStyle>
    </a:spDef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kumimoji="1" dirty="0" smtClean="0">
            <a:latin typeface="Meiryo UI" panose="020B0604030504040204" pitchFamily="50" charset="-128"/>
            <a:ea typeface="Meiryo UI" panose="020B0604030504040204" pitchFamily="50" charset="-128"/>
            <a:cs typeface="STHeiti Light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200115.上海暢星テンプレート</Template>
  <TotalTime>27</TotalTime>
  <Words>1723</Words>
  <Application>Microsoft Office PowerPoint</Application>
  <PresentationFormat>宽屏</PresentationFormat>
  <Paragraphs>157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Meiryo UI</vt:lpstr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昭久</dc:creator>
  <cp:lastModifiedBy>广川 石</cp:lastModifiedBy>
  <cp:revision>1273</cp:revision>
  <cp:lastPrinted>2019-06-06T03:23:00Z</cp:lastPrinted>
  <dcterms:created xsi:type="dcterms:W3CDTF">2020-08-03T11:04:00Z</dcterms:created>
  <dcterms:modified xsi:type="dcterms:W3CDTF">2025-07-16T05:24:32Z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21F00F5FEB034EA680852DED84CCAC17_12</vt:lpwstr>
  </property>
</Properties>
</file>